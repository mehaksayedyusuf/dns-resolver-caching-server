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3" r:id="rId7"/>
    <p:sldId id="265" r:id="rId8"/>
    <p:sldId id="261" r:id="rId9"/>
    <p:sldId id="262" r:id="rId10"/>
    <p:sldId id="264" r:id="rId11"/>
    <p:sldId id="260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42470-6F69-47CD-152C-9CED0EFFA1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6CD0D7-3C44-AC10-02BE-CB274F89D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8A837-E105-0470-D3D4-7B06925E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FB8978-0DC7-9F3D-6025-3E1AF42C2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BEF88-A03D-A1EB-AC56-C4BE7B4A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447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ACE78-6EFE-AC5C-B82A-1B286C37E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63848-645C-865F-BE58-FA53E0689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4A828-FB57-68E1-8844-FCCB403EA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C5CB2-130D-1659-7A8B-8200D59DC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11222-8E8F-1903-1312-C2745BED5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273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E5EA-C028-77CA-3FCD-96995BCF2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273E4-1A74-B29F-B8BE-B2FFEC9B5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D62E0-9E6D-53CE-02BC-07B0B6638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F02C8-FC31-5CFC-8841-9F40CCA2A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25108-C9D4-9F39-DCF1-A9B06F6A9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450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FE6CD-5DD7-377D-BE7F-A878101C0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6AF46-3840-72F8-D3B6-301DE7127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57776-0294-D731-6100-D3F99A2EF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BB42E-93EE-4D76-6F3C-1CA962338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AF9B02-381F-3167-4568-96663475D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B7996-3952-F361-930F-6E0D6CF4D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59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5BAF2-04AE-42EC-9A75-F389EB992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63558A-59FC-54A7-3BD7-007CECB8D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69140-B5DF-3728-9736-DC2539992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C63CDE-D069-0A82-B568-865AF8EDE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BDE959-4F62-DB66-0CC8-589104C3C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FD5546-7030-2403-A4A4-DD717706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F3DD0E-D220-5D1A-3592-95AC18EBB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E7A302-58EA-5D35-705F-7CC51681F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214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CE4F-8BBC-1370-9F19-E731A3FA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3E6106-7E21-AFDC-80A6-3321869B3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87DAB3-1ACE-7493-B84D-E9AB4028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3676E-E045-A7AB-48E9-6C1130454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360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164190-C29E-BAE1-F6F0-98B2737F8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BB8E3-6FC7-1D44-7464-0DF1F0399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9EFE7-964B-3D4F-DA2E-04D9F85E9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535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6116A-8A25-8D13-9BC9-47216E013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F3CAA-463F-641E-79E9-AD006D9C4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E91CA-0048-C2D2-2F35-73174E748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EDBC2-7C54-5FE5-6F5B-EAB118BF5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ED667-7357-AC2A-F80C-BBAF3B862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DC4F2-90BB-95A1-F649-A289CE657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540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096C-6E69-81A3-84B4-2E623A637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DAAC60-86EA-658D-D32D-5BE527912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0B0FB-3B39-9317-01CF-1D48E0B61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36A11-2396-2AF5-2161-D9F0B7BF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9BA76-D44D-2CDB-F3D4-827B7F972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09F546-44B0-5305-C79F-4BEC7205D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034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79CAE-B548-717C-5386-C6D682D5F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8F9182-15AB-DA4E-6D3D-02CDF03D1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E0C6C-45C0-38F1-CC32-055B00AB6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18FBA-31C8-EBAE-27CB-B1365956B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E5BD0-0C30-1962-C11E-EABD045F4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215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EEA9D9-58AF-5F97-A6FB-E26C1826D1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52EDE-7AC1-2CAC-E2F3-C44AA4FD5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A877B4-98F9-FF44-BAFF-E83E6461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51546-1686-4C0B-B9BE-3163B404F5B4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63AFD3-CC99-B583-8AC1-9664594F3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D4B74-C40E-8036-5DD5-0648D69D8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157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D23724-DA81-B1CD-6C3A-3511EF91B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6990B-7AA8-316C-CAB1-9A5EAA3EE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1B12-069C-9C93-6828-F3B2835ED9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651546-1686-4C0B-B9BE-3163B404F5B4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08572-882D-FB2A-CDCF-DCC280EA4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AD2AA-64CD-E80A-E379-A1B5E652C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5D4D5A-7FD4-4B03-AA63-45CB7CF6F8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56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9847B-EC4A-A55B-9CEE-F9E7B662927C}"/>
              </a:ext>
            </a:extLst>
          </p:cNvPr>
          <p:cNvSpPr txBox="1">
            <a:spLocks/>
          </p:cNvSpPr>
          <p:nvPr/>
        </p:nvSpPr>
        <p:spPr>
          <a:xfrm>
            <a:off x="4046986" y="1407382"/>
            <a:ext cx="4768506" cy="7408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I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Network System and Tools </a:t>
            </a:r>
          </a:p>
          <a:p>
            <a:pPr algn="ctr"/>
            <a:br>
              <a:rPr lang="en-IN" sz="2000" dirty="0"/>
            </a:br>
            <a:r>
              <a:rPr lang="en-IN" sz="2000" dirty="0"/>
              <a:t>        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74FFEC-6BC9-DCD6-689B-696B333D8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675" y="89824"/>
            <a:ext cx="3422650" cy="58204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60A525-67A8-03E1-1506-20217D16EB8C}"/>
              </a:ext>
            </a:extLst>
          </p:cNvPr>
          <p:cNvSpPr txBox="1"/>
          <p:nvPr/>
        </p:nvSpPr>
        <p:spPr>
          <a:xfrm>
            <a:off x="5969000" y="4267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B90044-F276-601F-D812-DC8D9CBAB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978047"/>
              </p:ext>
            </p:extLst>
          </p:nvPr>
        </p:nvGraphicFramePr>
        <p:xfrm>
          <a:off x="2089731" y="3599006"/>
          <a:ext cx="8128000" cy="1883833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635768">
                  <a:extLst>
                    <a:ext uri="{9D8B030D-6E8A-4147-A177-3AD203B41FA5}">
                      <a16:colId xmlns:a16="http://schemas.microsoft.com/office/drawing/2014/main" val="1711948813"/>
                    </a:ext>
                  </a:extLst>
                </a:gridCol>
                <a:gridCol w="3428232">
                  <a:extLst>
                    <a:ext uri="{9D8B030D-6E8A-4147-A177-3AD203B41FA5}">
                      <a16:colId xmlns:a16="http://schemas.microsoft.com/office/drawing/2014/main" val="35489395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876195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86246962"/>
                    </a:ext>
                  </a:extLst>
                </a:gridCol>
              </a:tblGrid>
              <a:tr h="400473">
                <a:tc>
                  <a:txBody>
                    <a:bodyPr/>
                    <a:lstStyle/>
                    <a:p>
                      <a:r>
                        <a:rPr lang="en-IN" sz="1100" dirty="0"/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ROLL 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000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Vageesh </a:t>
                      </a:r>
                      <a:r>
                        <a:rPr lang="en-IN" dirty="0" err="1"/>
                        <a:t>Mathad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01fe24bci008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925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Mehak Sayed Yusuf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01fe24bci012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754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Joel Biju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01fe24bci021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055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Ishani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01fe22bci009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273771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1BE5BA0-74F1-4EB0-C98B-B2D21BB73ADC}"/>
              </a:ext>
            </a:extLst>
          </p:cNvPr>
          <p:cNvCxnSpPr/>
          <p:nvPr/>
        </p:nvCxnSpPr>
        <p:spPr>
          <a:xfrm>
            <a:off x="0" y="1236133"/>
            <a:ext cx="12192000" cy="0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DDB1B0B-7229-9178-124F-65371DAA3612}"/>
              </a:ext>
            </a:extLst>
          </p:cNvPr>
          <p:cNvSpPr txBox="1"/>
          <p:nvPr/>
        </p:nvSpPr>
        <p:spPr>
          <a:xfrm>
            <a:off x="2386832" y="802912"/>
            <a:ext cx="8251233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Department of Computer Science and Artificial Intelligence Engineering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EF524D-1FBD-60B8-63A5-D9EE8F858C23}"/>
              </a:ext>
            </a:extLst>
          </p:cNvPr>
          <p:cNvSpPr txBox="1"/>
          <p:nvPr/>
        </p:nvSpPr>
        <p:spPr>
          <a:xfrm>
            <a:off x="1534638" y="2174795"/>
            <a:ext cx="995562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Arial Black" panose="020B0A04020102020204" pitchFamily="34" charset="0"/>
              </a:rPr>
              <a:t>DNS Resolver and Caching Server</a:t>
            </a: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AA3545-71B9-8E2E-9273-F3590D1D3F08}"/>
              </a:ext>
            </a:extLst>
          </p:cNvPr>
          <p:cNvSpPr txBox="1"/>
          <p:nvPr/>
        </p:nvSpPr>
        <p:spPr>
          <a:xfrm>
            <a:off x="5253129" y="5844846"/>
            <a:ext cx="25186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dirty="0">
                <a:latin typeface="Aptos" panose="020B0004020202020204" pitchFamily="34" charset="0"/>
                <a:cs typeface="Arial" panose="020B0604020202020204" pitchFamily="34" charset="0"/>
              </a:rPr>
              <a:t>Under the guidance of:</a:t>
            </a:r>
            <a:br>
              <a:rPr lang="en-IN" dirty="0">
                <a:latin typeface="Aptos" panose="020B0004020202020204" pitchFamily="34" charset="0"/>
                <a:cs typeface="Arial" panose="020B0604020202020204" pitchFamily="34" charset="0"/>
              </a:rPr>
            </a:br>
            <a:r>
              <a:rPr lang="en-IN" dirty="0" err="1">
                <a:latin typeface="Aptos" panose="020B0004020202020204" pitchFamily="34" charset="0"/>
                <a:cs typeface="Arial" panose="020B0604020202020204" pitchFamily="34" charset="0"/>
              </a:rPr>
              <a:t>Mr.Pavankumar</a:t>
            </a:r>
            <a:r>
              <a:rPr lang="en-IN" dirty="0">
                <a:latin typeface="Aptos" panose="020B0004020202020204" pitchFamily="34" charset="0"/>
                <a:cs typeface="Arial" panose="020B0604020202020204" pitchFamily="34" charset="0"/>
              </a:rPr>
              <a:t> S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7DA8EE-E304-9D44-4A2C-9CE25B0790D3}"/>
              </a:ext>
            </a:extLst>
          </p:cNvPr>
          <p:cNvSpPr txBox="1"/>
          <p:nvPr/>
        </p:nvSpPr>
        <p:spPr>
          <a:xfrm>
            <a:off x="5701933" y="2869988"/>
            <a:ext cx="1052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>
                <a:latin typeface="Arial" panose="020B0604020202020204" pitchFamily="34" charset="0"/>
                <a:cs typeface="Arial" panose="020B0604020202020204" pitchFamily="34" charset="0"/>
              </a:rPr>
              <a:t>Team 11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379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AA098-6692-79F0-2416-72103F0948F9}"/>
              </a:ext>
            </a:extLst>
          </p:cNvPr>
          <p:cNvSpPr txBox="1">
            <a:spLocks/>
          </p:cNvSpPr>
          <p:nvPr/>
        </p:nvSpPr>
        <p:spPr>
          <a:xfrm>
            <a:off x="377825" y="90000"/>
            <a:ext cx="8200000" cy="650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000" b="1" dirty="0">
                <a:solidFill>
                  <a:srgbClr val="000000"/>
                </a:solidFill>
                <a:latin typeface="Calibri"/>
              </a:rPr>
              <a:t>Background &amp; Motivation</a:t>
            </a:r>
            <a:endParaRPr lang="en-IN" altLang="en-US" sz="3200" b="1" dirty="0">
              <a:latin typeface="Aptos" panose="020B00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A002-B999-C48F-6D62-FC0DAFDDF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E8238-AD79-D705-B3AC-37D89006C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2</a:t>
            </a:fld>
            <a:endParaRPr lang="en-IN" altLang="en-US" dirty="0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3C5DD3BF-FD60-5769-3D7A-62E168A5F306}"/>
              </a:ext>
            </a:extLst>
          </p:cNvPr>
          <p:cNvSpPr/>
          <p:nvPr/>
        </p:nvSpPr>
        <p:spPr bwMode="auto">
          <a:xfrm>
            <a:off x="85725" y="804292"/>
            <a:ext cx="11993563" cy="20637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D6D9E3-5B28-BE3E-9F28-7ED582C3E7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201" name="TextBox 201"/>
          <p:cNvSpPr txBox="1"/>
          <p:nvPr/>
        </p:nvSpPr>
        <p:spPr>
          <a:xfrm>
            <a:off x="548640" y="1150000"/>
            <a:ext cx="5392120" cy="3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Background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DNS translates domain names into IP addresses.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A DNS Resolver receives queries and performs domain-name resolution.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If a valid cached result is unavailable, the resolver performs external DNS resolution.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Repeated queries can lead to additional network requests and increased response time.</a:t>
            </a:r>
          </a:p>
        </p:txBody>
      </p:sp>
      <p:sp>
        <p:nvSpPr>
          <p:cNvPr id="202" name="TextBox 202"/>
          <p:cNvSpPr txBox="1"/>
          <p:nvPr/>
        </p:nvSpPr>
        <p:spPr>
          <a:xfrm>
            <a:off x="6220760" y="1150000"/>
            <a:ext cx="5392120" cy="33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Motivation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Cache valid DNS results for subsequent requests.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Reuse cached results while they remain valid.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Reduce repeated external DNS resolution.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Study the effect of caching on response time and query performance.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548640" y="4750000"/>
            <a:ext cx="11064240" cy="9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Goal</a:t>
            </a:r>
          </a:p>
          <a:p>
            <a:pPr algn="l">
              <a:spcAft>
                <a:spcPts val="0"/>
              </a:spcAft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DNS Query Handling → Caching → Reuse → 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4065158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4D73B-0463-5FB9-38A9-C1AF40163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F349B-C1B6-957E-E918-9F2909B64314}"/>
              </a:ext>
            </a:extLst>
          </p:cNvPr>
          <p:cNvSpPr txBox="1">
            <a:spLocks/>
          </p:cNvSpPr>
          <p:nvPr/>
        </p:nvSpPr>
        <p:spPr>
          <a:xfrm>
            <a:off x="377825" y="90000"/>
            <a:ext cx="8200000" cy="650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000" b="1" dirty="0">
                <a:solidFill>
                  <a:srgbClr val="000000"/>
                </a:solidFill>
                <a:latin typeface="Calibri" panose="020B0004020202020204" pitchFamily="34" charset="0"/>
              </a:rPr>
              <a:t>Problem Statement</a:t>
            </a:r>
            <a:endParaRPr lang="en-IN" altLang="en-US" sz="3200" dirty="0">
              <a:latin typeface="Aptos" panose="020B00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9E243-B30E-0673-B0AA-594F9CD1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96697-0572-1B31-F37F-88F9B93C3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3</a:t>
            </a:fld>
            <a:endParaRPr lang="en-IN" altLang="en-US" dirty="0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2C8D407D-78FE-7AA6-F7FB-ED4D6FC96944}"/>
              </a:ext>
            </a:extLst>
          </p:cNvPr>
          <p:cNvSpPr/>
          <p:nvPr/>
        </p:nvSpPr>
        <p:spPr bwMode="auto">
          <a:xfrm>
            <a:off x="85725" y="804292"/>
            <a:ext cx="11993563" cy="20637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72B58D-86F1-5FC9-AF8A-6EFCD6111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204" name="TextBox 204"/>
          <p:cNvSpPr txBox="1"/>
          <p:nvPr/>
        </p:nvSpPr>
        <p:spPr>
          <a:xfrm>
            <a:off x="685800" y="1250000"/>
            <a:ext cx="10789920" cy="38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marL="285750" indent="-285750" algn="l">
              <a:spcAft>
                <a:spcPts val="20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Calibri"/>
              </a:rPr>
              <a:t>When a DNS resolver does not have a valid cached result for a requested domain, the resolver must perform external DNS resolution.</a:t>
            </a:r>
          </a:p>
          <a:p>
            <a:pPr marL="285750" indent="-285750" algn="l">
              <a:spcAft>
                <a:spcPts val="20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Calibri"/>
              </a:rPr>
              <a:t>Repeated queries for the same domain can therefore result in additional network requests and increased response time.</a:t>
            </a:r>
          </a:p>
          <a:p>
            <a:pPr marL="285750" indent="-285750" algn="l">
              <a:spcAft>
                <a:spcPts val="2000"/>
              </a:spcAft>
              <a:buFont typeface="Arial"/>
              <a:buChar char="•"/>
            </a:pPr>
            <a:r>
              <a:rPr lang="en-IN" sz="2200" b="0" i="0" dirty="0">
                <a:solidFill>
                  <a:srgbClr val="000000"/>
                </a:solidFill>
                <a:latin typeface="Calibri"/>
              </a:rPr>
              <a:t>This project implements DNS resolution with caching, where valid DNS results are stored and reused while they remain valid. The effect of caching on response efficiency and repeated-query performance is then evaluated.</a:t>
            </a:r>
          </a:p>
        </p:txBody>
      </p:sp>
    </p:spTree>
    <p:extLst>
      <p:ext uri="{BB962C8B-B14F-4D97-AF65-F5344CB8AC3E}">
        <p14:creationId xmlns:p14="http://schemas.microsoft.com/office/powerpoint/2010/main" val="2752400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40764-4822-4DC5-0986-867E98F22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EB1B9-7FCB-4CE4-E074-C1C74EEDC12D}"/>
              </a:ext>
            </a:extLst>
          </p:cNvPr>
          <p:cNvSpPr txBox="1">
            <a:spLocks/>
          </p:cNvSpPr>
          <p:nvPr/>
        </p:nvSpPr>
        <p:spPr>
          <a:xfrm>
            <a:off x="377825" y="90000"/>
            <a:ext cx="8200000" cy="650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000" b="1">
                <a:solidFill>
                  <a:srgbClr val="000000"/>
                </a:solidFill>
                <a:latin typeface="Calibri"/>
              </a:rPr>
              <a:t>Objectives</a:t>
            </a:r>
            <a:endParaRPr lang="en-IN" altLang="en-US" sz="40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B7F94-BE0E-5B03-A655-915535E61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F1D7B-B53A-BDFB-B785-77E11948B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4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975FE345-7304-78DA-C616-A96503824378}"/>
              </a:ext>
            </a:extLst>
          </p:cNvPr>
          <p:cNvSpPr/>
          <p:nvPr/>
        </p:nvSpPr>
        <p:spPr bwMode="auto">
          <a:xfrm>
            <a:off x="85725" y="804292"/>
            <a:ext cx="11993563" cy="20637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63D6CA-B7F8-A793-9113-53F7D04A4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1143000"/>
            <a:ext cx="1078992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56032" indent="-256032" algn="l">
              <a:lnSpc>
                <a:spcPct val="110000"/>
              </a:lnSpc>
              <a:spcAft>
                <a:spcPts val="1600"/>
              </a:spcAft>
              <a:buAutoNum type="arabicPeriod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To develop a functional DNS resolver capable of processing client DNS queries and providing appropriate responses.</a:t>
            </a:r>
          </a:p>
          <a:p>
            <a:pPr marL="256032" indent="-256032" algn="l">
              <a:lnSpc>
                <a:spcPct val="110000"/>
              </a:lnSpc>
              <a:spcAft>
                <a:spcPts val="1600"/>
              </a:spcAft>
              <a:buAutoNum type="arabicPeriod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To develop DNS caching functionality for storing and reusing valid domain-resolution information for subsequent requests.</a:t>
            </a:r>
          </a:p>
          <a:p>
            <a:pPr marL="256032" indent="-256032" algn="l">
              <a:lnSpc>
                <a:spcPct val="110000"/>
              </a:lnSpc>
              <a:spcAft>
                <a:spcPts val="1600"/>
              </a:spcAft>
              <a:buAutoNum type="arabicPeriod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To study the impact of caching on DNS response time, resolution efficiency, and reduction of repeated resolution requests.</a:t>
            </a:r>
          </a:p>
          <a:p>
            <a:pPr marL="256032" indent="-256032" algn="l">
              <a:lnSpc>
                <a:spcPct val="110000"/>
              </a:lnSpc>
              <a:spcAft>
                <a:spcPts val="1600"/>
              </a:spcAft>
              <a:buAutoNum type="arabicPeriod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To handle different DNS query conditions, including repeated, invalid, and unsuccessful DNS requests.</a:t>
            </a:r>
          </a:p>
          <a:p>
            <a:pPr marL="256032" indent="-256032" algn="l">
              <a:lnSpc>
                <a:spcPct val="110000"/>
              </a:lnSpc>
              <a:spcAft>
                <a:spcPts val="1600"/>
              </a:spcAft>
              <a:buAutoNum type="arabicPeriod"/>
            </a:pPr>
            <a:r>
              <a:rPr sz="2200" b="0" i="0">
                <a:solidFill>
                  <a:srgbClr val="000000"/>
                </a:solidFill>
                <a:latin typeface="Calibri"/>
              </a:rPr>
              <a:t>To evaluate the overall performance of the proposed system based on DNS query handling, caching effectiveness, and response efficiency.</a:t>
            </a:r>
          </a:p>
        </p:txBody>
      </p:sp>
    </p:spTree>
    <p:extLst>
      <p:ext uri="{BB962C8B-B14F-4D97-AF65-F5344CB8AC3E}">
        <p14:creationId xmlns:p14="http://schemas.microsoft.com/office/powerpoint/2010/main" val="491029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EB42F-AF68-AAA5-0F45-E8357D76C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BF88F-ACCB-119A-EB17-026A1BD79224}"/>
              </a:ext>
            </a:extLst>
          </p:cNvPr>
          <p:cNvSpPr txBox="1">
            <a:spLocks/>
          </p:cNvSpPr>
          <p:nvPr/>
        </p:nvSpPr>
        <p:spPr>
          <a:xfrm>
            <a:off x="377825" y="90000"/>
            <a:ext cx="8200000" cy="650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000" b="1">
                <a:solidFill>
                  <a:srgbClr val="000000"/>
                </a:solidFill>
                <a:latin typeface="Calibri"/>
              </a:rPr>
              <a:t>Foundation Course Integration</a:t>
            </a:r>
            <a:endParaRPr lang="en-IN" altLang="en-US" sz="40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2B41B-D439-3A72-2820-4DBB60161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44B06-01EF-9B3F-7DD6-86D9CA4BC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5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F5EA631B-B209-4E31-03D6-65777B7552F3}"/>
              </a:ext>
            </a:extLst>
          </p:cNvPr>
          <p:cNvSpPr/>
          <p:nvPr/>
        </p:nvSpPr>
        <p:spPr bwMode="auto">
          <a:xfrm>
            <a:off x="85725" y="804292"/>
            <a:ext cx="11993563" cy="20637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B0EDD2B-6A3D-DCD2-14E9-8A2D8E965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36414"/>
              </p:ext>
            </p:extLst>
          </p:nvPr>
        </p:nvGraphicFramePr>
        <p:xfrm>
          <a:off x="548640" y="1097280"/>
          <a:ext cx="11064240" cy="4709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Course</a:t>
                      </a:r>
                    </a:p>
                  </a:txBody>
                  <a:tcPr marL="109728" marR="109728"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109728" marR="109728"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Concepts</a:t>
                      </a:r>
                    </a:p>
                  </a:txBody>
                  <a:tcPr marL="109728" marR="109728" anchor="ctr"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Calibri"/>
                        </a:rPr>
                        <a:t>1. Computer Networks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Dominant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700" b="0" i="0" dirty="0">
                          <a:solidFill>
                            <a:srgbClr val="000000"/>
                          </a:solidFill>
                          <a:latin typeface="Calibri"/>
                        </a:rPr>
                        <a:t>DNS  •  Client-server communication  •  Network communication  •  Request-response model  •  DNS query and response  •  UDP communication  •  DNS resolution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Calibri"/>
                        </a:rPr>
                        <a:t>2. Operating System Principles and Programming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Supporting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lang="en-IN" sz="1700" dirty="0"/>
                        <a:t>System-level programming • Request handling • Resource management • Handling multiple DNS requests</a:t>
                      </a:r>
                      <a:endParaRPr sz="1700" b="0" i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Calibri"/>
                        </a:rPr>
                        <a:t>3. Design and Analysis of Algorithms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Supporting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Efficient data organization  •  Searching  •  Time complexity  •  Space usage  •  Performance  •  Cache effectiveness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444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700" b="1" i="0">
                          <a:solidFill>
                            <a:srgbClr val="000000"/>
                          </a:solidFill>
                          <a:latin typeface="Calibri"/>
                        </a:rPr>
                        <a:t>4. Database Management Systems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700" b="0" i="0">
                          <a:solidFill>
                            <a:srgbClr val="000000"/>
                          </a:solidFill>
                          <a:latin typeface="Calibri"/>
                        </a:rPr>
                        <a:t>Supporting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700" b="0" i="0" dirty="0">
                          <a:solidFill>
                            <a:srgbClr val="000000"/>
                          </a:solidFill>
                          <a:latin typeface="Calibri"/>
                        </a:rPr>
                        <a:t>Data storage  •  Data retrieval  •  Data organization  •  Consistency of cached information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6580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F4251-7AAE-7A90-BC41-5770898E0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A5803-C142-71A9-1D66-11071669C459}"/>
              </a:ext>
            </a:extLst>
          </p:cNvPr>
          <p:cNvSpPr txBox="1">
            <a:spLocks/>
          </p:cNvSpPr>
          <p:nvPr/>
        </p:nvSpPr>
        <p:spPr>
          <a:xfrm>
            <a:off x="377825" y="90000"/>
            <a:ext cx="8200000" cy="650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000" b="1">
                <a:solidFill>
                  <a:srgbClr val="000000"/>
                </a:solidFill>
                <a:latin typeface="Calibri"/>
              </a:rPr>
              <a:t>Conceptual Workflow</a:t>
            </a:r>
            <a:endParaRPr lang="en-IN" altLang="en-US" sz="40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592C8-112C-0E1F-4701-C50210DA6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5CD3F-AFBD-C829-23CB-F0869C7E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6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5B185F75-29FC-AB29-4242-AD9B10069777}"/>
              </a:ext>
            </a:extLst>
          </p:cNvPr>
          <p:cNvSpPr/>
          <p:nvPr/>
        </p:nvSpPr>
        <p:spPr bwMode="auto">
          <a:xfrm>
            <a:off x="85725" y="804292"/>
            <a:ext cx="11993563" cy="20637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B2812CE-06AB-5EC3-5794-F7631B5D2D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8620" y="2788920"/>
            <a:ext cx="16002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DNS Client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57500" y="2788920"/>
            <a:ext cx="16002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DNS Resolver</a:t>
            </a:r>
          </a:p>
        </p:txBody>
      </p:sp>
      <p:sp>
        <p:nvSpPr>
          <p:cNvPr id="13" name="Diamond 12"/>
          <p:cNvSpPr/>
          <p:nvPr/>
        </p:nvSpPr>
        <p:spPr>
          <a:xfrm>
            <a:off x="5166360" y="2468880"/>
            <a:ext cx="1920240" cy="13716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Check Cache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95260" y="2788920"/>
            <a:ext cx="16002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DNS Cache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72700" y="2788920"/>
            <a:ext cx="16002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DNS 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26380" y="4709159"/>
            <a:ext cx="16002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External DNS Server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95260" y="4709159"/>
            <a:ext cx="16002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DNS Resolution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72700" y="4709159"/>
            <a:ext cx="1600200" cy="73152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Store Valid Result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88819" y="3154680"/>
            <a:ext cx="868681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43100" y="2825496"/>
            <a:ext cx="96012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DNS Query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457700" y="3154680"/>
            <a:ext cx="7086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086600" y="3154680"/>
            <a:ext cx="7086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086600" y="2825496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HIT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95460" y="3154680"/>
            <a:ext cx="7772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126480" y="3840480"/>
            <a:ext cx="0" cy="86867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172200" y="3931920"/>
            <a:ext cx="64008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00000"/>
                </a:solidFill>
                <a:latin typeface="Calibri"/>
              </a:rPr>
              <a:t>MISS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26580" y="5074920"/>
            <a:ext cx="8686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95460" y="5074920"/>
            <a:ext cx="7772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972800" y="3520440"/>
            <a:ext cx="0" cy="1188719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0972800" y="1737360"/>
            <a:ext cx="0" cy="105156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188720" y="1737360"/>
            <a:ext cx="97840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88720" y="1737360"/>
            <a:ext cx="0" cy="10515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39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BA1BA-70DD-D416-F7C9-16924111C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A7099-70CC-7D4F-421E-D6EF44985C63}"/>
              </a:ext>
            </a:extLst>
          </p:cNvPr>
          <p:cNvSpPr txBox="1">
            <a:spLocks/>
          </p:cNvSpPr>
          <p:nvPr/>
        </p:nvSpPr>
        <p:spPr>
          <a:xfrm>
            <a:off x="377825" y="90000"/>
            <a:ext cx="8200000" cy="650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000" b="1">
                <a:solidFill>
                  <a:srgbClr val="000000"/>
                </a:solidFill>
                <a:latin typeface="Calibri"/>
              </a:rPr>
              <a:t>DNS Query &amp; Caching Working</a:t>
            </a:r>
            <a:endParaRPr lang="en-IN" altLang="en-US" sz="40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51AFB-3DCB-55AA-BDDA-C613B8BE0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92B3D-73D0-A3C9-FFFB-2662999E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7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B916BB0F-412E-A5D1-A82F-AF594861D63E}"/>
              </a:ext>
            </a:extLst>
          </p:cNvPr>
          <p:cNvSpPr/>
          <p:nvPr/>
        </p:nvSpPr>
        <p:spPr bwMode="auto">
          <a:xfrm>
            <a:off x="85725" y="804292"/>
            <a:ext cx="11993563" cy="20637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01B427-DE4D-7E64-13F8-CB0BFE10D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1051560"/>
            <a:ext cx="73152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548235"/>
                </a:solidFill>
                <a:latin typeface="Calibri"/>
              </a:rPr>
              <a:t>Cache Hit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508760"/>
            <a:ext cx="17373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Client requests domain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23160" y="1965960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788920" y="1508760"/>
            <a:ext cx="17373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Check Cache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26279" y="1965960"/>
            <a:ext cx="365761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892040" y="1508760"/>
            <a:ext cx="17373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 dirty="0">
                <a:solidFill>
                  <a:srgbClr val="000000"/>
                </a:solidFill>
                <a:latin typeface="Calibri"/>
              </a:rPr>
              <a:t>Valid result available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29400" y="1965960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995159" y="1508760"/>
            <a:ext cx="17373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 dirty="0">
                <a:solidFill>
                  <a:srgbClr val="000000"/>
                </a:solidFill>
                <a:latin typeface="Calibri"/>
              </a:rPr>
              <a:t>Reuse cached result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32519" y="1965960"/>
            <a:ext cx="365761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9098280" y="1508760"/>
            <a:ext cx="17373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Calibri"/>
              </a:rPr>
              <a:t>Return DNS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743200"/>
            <a:ext cx="73152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548235"/>
                </a:solidFill>
                <a:latin typeface="Calibri"/>
              </a:rPr>
              <a:t>Cache Miss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200400"/>
            <a:ext cx="1371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 dirty="0">
                <a:solidFill>
                  <a:srgbClr val="000000"/>
                </a:solidFill>
                <a:latin typeface="Calibri"/>
              </a:rPr>
              <a:t>Client requests domain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65960" y="3703320"/>
            <a:ext cx="274319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240280" y="3200400"/>
            <a:ext cx="1371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 dirty="0">
                <a:solidFill>
                  <a:srgbClr val="000000"/>
                </a:solidFill>
                <a:latin typeface="Calibri"/>
              </a:rPr>
              <a:t>Check Cache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11880" y="3703320"/>
            <a:ext cx="2743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886200" y="3200400"/>
            <a:ext cx="1371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 dirty="0">
                <a:solidFill>
                  <a:srgbClr val="000000"/>
                </a:solidFill>
                <a:latin typeface="Calibri"/>
              </a:rPr>
              <a:t>No valid result available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257800" y="3703320"/>
            <a:ext cx="2743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532120" y="3200400"/>
            <a:ext cx="1371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 dirty="0">
                <a:solidFill>
                  <a:srgbClr val="000000"/>
                </a:solidFill>
                <a:latin typeface="Calibri"/>
              </a:rPr>
              <a:t>External DNS Resolution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03720" y="3703320"/>
            <a:ext cx="2743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7178040" y="3200400"/>
            <a:ext cx="1371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 dirty="0">
                <a:solidFill>
                  <a:srgbClr val="000000"/>
                </a:solidFill>
                <a:latin typeface="Calibri"/>
              </a:rPr>
              <a:t>Receive DNS Result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49640" y="3703320"/>
            <a:ext cx="2743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823960" y="3200400"/>
            <a:ext cx="1371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Store valid result in Cache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95560" y="3703320"/>
            <a:ext cx="2743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469880" y="3200400"/>
            <a:ext cx="13716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400" b="1" i="0" dirty="0">
                <a:solidFill>
                  <a:srgbClr val="000000"/>
                </a:solidFill>
                <a:latin typeface="Calibri"/>
              </a:rPr>
              <a:t>Return DNS Response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572000"/>
            <a:ext cx="73152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548235"/>
                </a:solidFill>
                <a:latin typeface="Calibri"/>
              </a:rPr>
              <a:t>Example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4983480"/>
            <a:ext cx="1106424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Query: </a:t>
            </a:r>
            <a:r>
              <a:rPr sz="2000" b="0" i="1" dirty="0">
                <a:solidFill>
                  <a:srgbClr val="000000"/>
                </a:solidFill>
                <a:latin typeface="Calibri"/>
              </a:rPr>
              <a:t>What is the IP address of google.com?</a:t>
            </a:r>
          </a:p>
        </p:txBody>
      </p:sp>
    </p:spTree>
    <p:extLst>
      <p:ext uri="{BB962C8B-B14F-4D97-AF65-F5344CB8AC3E}">
        <p14:creationId xmlns:p14="http://schemas.microsoft.com/office/powerpoint/2010/main" val="4019984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00DC2-C54C-A259-259E-1539532A2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F5CCF-FDCD-200D-7436-DFC5E20A568B}"/>
              </a:ext>
            </a:extLst>
          </p:cNvPr>
          <p:cNvSpPr txBox="1">
            <a:spLocks/>
          </p:cNvSpPr>
          <p:nvPr/>
        </p:nvSpPr>
        <p:spPr>
          <a:xfrm>
            <a:off x="377825" y="90000"/>
            <a:ext cx="8200000" cy="650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000" b="1">
                <a:solidFill>
                  <a:srgbClr val="000000"/>
                </a:solidFill>
                <a:latin typeface="Calibri"/>
              </a:rPr>
              <a:t>DNS Caching &amp; Performance</a:t>
            </a:r>
            <a:endParaRPr lang="en-IN" altLang="en-US" sz="40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38867-3DD6-DB7E-DED1-57A7632E3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A3418-9082-4484-95E4-0262A848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8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C4D0BE5B-3F66-2C6C-E364-29FB61DA971B}"/>
              </a:ext>
            </a:extLst>
          </p:cNvPr>
          <p:cNvSpPr/>
          <p:nvPr/>
        </p:nvSpPr>
        <p:spPr bwMode="auto">
          <a:xfrm>
            <a:off x="85725" y="804292"/>
            <a:ext cx="11993563" cy="20637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9483A1-DCBE-E0A4-0511-6BA01B81F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205" name="TextBox 205"/>
          <p:cNvSpPr txBox="1"/>
          <p:nvPr/>
        </p:nvSpPr>
        <p:spPr>
          <a:xfrm>
            <a:off x="548640" y="1150000"/>
            <a:ext cx="6583680" cy="42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DNS Caching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lang="en-IN" sz="2000" b="1" i="0" dirty="0">
                <a:solidFill>
                  <a:srgbClr val="000000"/>
                </a:solidFill>
                <a:latin typeface="Calibri"/>
              </a:rPr>
              <a:t>Cache Hit: </a:t>
            </a: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Required DNS result is available and valid in the cache. Cached result is reused.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lang="en-IN" sz="2000" b="1" i="0" dirty="0">
                <a:solidFill>
                  <a:srgbClr val="000000"/>
                </a:solidFill>
                <a:latin typeface="Calibri"/>
              </a:rPr>
              <a:t>Cache Miss: </a:t>
            </a: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Result is unavailable or expired. External DNS resolution is performed.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lang="en-IN" sz="2000" b="1" i="0" dirty="0">
                <a:solidFill>
                  <a:srgbClr val="000000"/>
                </a:solidFill>
                <a:latin typeface="Calibri"/>
              </a:rPr>
              <a:t>TTL (Time to Live): </a:t>
            </a: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Determines how long a DNS result can remain valid in the cache.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7437120" y="1150000"/>
            <a:ext cx="4206240" cy="42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Performance Evaluation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Response time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Repeated-query performance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Cache effectiveness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Behaviour under different query loads</a:t>
            </a:r>
          </a:p>
        </p:txBody>
      </p:sp>
    </p:spTree>
    <p:extLst>
      <p:ext uri="{BB962C8B-B14F-4D97-AF65-F5344CB8AC3E}">
        <p14:creationId xmlns:p14="http://schemas.microsoft.com/office/powerpoint/2010/main" val="293431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770EE-AEE3-61DB-0274-BD3A162AE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A85E-5C32-79E5-FA1B-E0AB785950C9}"/>
              </a:ext>
            </a:extLst>
          </p:cNvPr>
          <p:cNvSpPr txBox="1">
            <a:spLocks/>
          </p:cNvSpPr>
          <p:nvPr/>
        </p:nvSpPr>
        <p:spPr>
          <a:xfrm>
            <a:off x="377825" y="90000"/>
            <a:ext cx="8200000" cy="650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000" b="1">
                <a:solidFill>
                  <a:srgbClr val="000000"/>
                </a:solidFill>
                <a:latin typeface="Calibri"/>
              </a:rPr>
              <a:t>Broad Project Scope</a:t>
            </a:r>
            <a:endParaRPr lang="en-IN" altLang="en-US" sz="40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A4C84-DFAA-BED0-19C1-55DC17123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EA7EF-4271-ECD2-6174-0BA43A788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9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82C0FC5C-EA8B-83E1-B7B0-DF7F7C47BF09}"/>
              </a:ext>
            </a:extLst>
          </p:cNvPr>
          <p:cNvSpPr/>
          <p:nvPr/>
        </p:nvSpPr>
        <p:spPr bwMode="auto">
          <a:xfrm>
            <a:off x="85725" y="804292"/>
            <a:ext cx="11993563" cy="20637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A395C-ABCF-5ED3-8BA0-3051545B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207" name="TextBox 207"/>
          <p:cNvSpPr txBox="1"/>
          <p:nvPr/>
        </p:nvSpPr>
        <p:spPr>
          <a:xfrm>
            <a:off x="548640" y="1200000"/>
            <a:ext cx="5392120" cy="42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In Scope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lang="en-IN" sz="2000" b="1" i="0" dirty="0">
                <a:solidFill>
                  <a:srgbClr val="000000"/>
                </a:solidFill>
                <a:latin typeface="Calibri"/>
              </a:rPr>
              <a:t>DNS Resolver</a:t>
            </a: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— Accepts client DNS queries and performs domain-name resolution.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lang="en-IN" sz="2000" b="1" i="0" dirty="0">
                <a:solidFill>
                  <a:srgbClr val="000000"/>
                </a:solidFill>
                <a:latin typeface="Calibri"/>
              </a:rPr>
              <a:t>DNS Caching Server</a:t>
            </a: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— Stores and reuses valid DNS resolution results for subsequent queries.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lang="en-IN" sz="2000" b="1" i="0" dirty="0">
                <a:solidFill>
                  <a:srgbClr val="000000"/>
                </a:solidFill>
                <a:latin typeface="Calibri"/>
              </a:rPr>
              <a:t>DNS Monitoring and Performance Evaluation</a:t>
            </a: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— Observes query activity and evaluates response time and caching effectiveness.</a:t>
            </a:r>
          </a:p>
        </p:txBody>
      </p:sp>
      <p:sp>
        <p:nvSpPr>
          <p:cNvPr id="208" name="TextBox 208"/>
          <p:cNvSpPr txBox="1"/>
          <p:nvPr/>
        </p:nvSpPr>
        <p:spPr>
          <a:xfrm>
            <a:off x="6220760" y="1200000"/>
            <a:ext cx="5392120" cy="42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Out of Scope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Large-scale distributed DNS infrastructure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Advanced DNS security and threat detection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Authoritative DNS services / domain hosting</a:t>
            </a:r>
          </a:p>
        </p:txBody>
      </p:sp>
    </p:spTree>
    <p:extLst>
      <p:ext uri="{BB962C8B-B14F-4D97-AF65-F5344CB8AC3E}">
        <p14:creationId xmlns:p14="http://schemas.microsoft.com/office/powerpoint/2010/main" val="22968298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A84F3-03F9-91EA-ECA8-7FDD1E7C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317FD-97E9-B176-39B2-978A0BC694B2}"/>
              </a:ext>
            </a:extLst>
          </p:cNvPr>
          <p:cNvSpPr txBox="1">
            <a:spLocks/>
          </p:cNvSpPr>
          <p:nvPr/>
        </p:nvSpPr>
        <p:spPr>
          <a:xfrm>
            <a:off x="377825" y="90000"/>
            <a:ext cx="8200000" cy="650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000" b="1">
                <a:solidFill>
                  <a:srgbClr val="000000"/>
                </a:solidFill>
                <a:latin typeface="Calibri"/>
              </a:rPr>
              <a:t>Feasibility &amp; Constraints</a:t>
            </a:r>
            <a:endParaRPr lang="en-IN" altLang="en-US" sz="40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32327-8BAE-7E28-8DAB-508CF73F1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EBC5D-7DB0-7244-E119-8B4DB5FE0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10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0DA58964-97D4-AF46-A418-200BF61819C3}"/>
              </a:ext>
            </a:extLst>
          </p:cNvPr>
          <p:cNvSpPr/>
          <p:nvPr/>
        </p:nvSpPr>
        <p:spPr bwMode="auto">
          <a:xfrm>
            <a:off x="85725" y="804292"/>
            <a:ext cx="11993563" cy="20637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80B9AAA-4B2C-CAD3-08DB-634D88F1C1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2386" y="4527829"/>
            <a:ext cx="73152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 dirty="0">
                <a:solidFill>
                  <a:srgbClr val="548235"/>
                </a:solidFill>
                <a:latin typeface="Calibri"/>
              </a:rPr>
              <a:t>Overall Feasibility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041" y="4832752"/>
            <a:ext cx="11064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Feasible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438573" y="1414995"/>
            <a:ext cx="3501413" cy="29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Required Resources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Standard laptop/computer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Network/Internet connectivity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Development and testing environment</a:t>
            </a:r>
          </a:p>
        </p:txBody>
      </p:sp>
      <p:sp>
        <p:nvSpPr>
          <p:cNvPr id="210" name="TextBox 210"/>
          <p:cNvSpPr txBox="1"/>
          <p:nvPr/>
        </p:nvSpPr>
        <p:spPr>
          <a:xfrm>
            <a:off x="4219986" y="1414995"/>
            <a:ext cx="3501413" cy="29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Prerequisite Knowledge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Computer Networks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Programming fundamentals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Operating System concepts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Design and Analysis of Algorithms (DAA)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DBMS</a:t>
            </a:r>
          </a:p>
        </p:txBody>
      </p:sp>
      <p:sp>
        <p:nvSpPr>
          <p:cNvPr id="211" name="TextBox 211"/>
          <p:cNvSpPr txBox="1"/>
          <p:nvPr/>
        </p:nvSpPr>
        <p:spPr>
          <a:xfrm>
            <a:off x="8001399" y="1414995"/>
            <a:ext cx="3501413" cy="29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Major Constraints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Complexity of DNS query and response handling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Variability of DNS responses and cache validity</a:t>
            </a:r>
          </a:p>
          <a:p>
            <a:pPr marL="285750" indent="-285750" algn="l">
              <a:spcAft>
                <a:spcPts val="6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Reliable testing under different network and query conditions</a:t>
            </a:r>
          </a:p>
        </p:txBody>
      </p:sp>
    </p:spTree>
    <p:extLst>
      <p:ext uri="{BB962C8B-B14F-4D97-AF65-F5344CB8AC3E}">
        <p14:creationId xmlns:p14="http://schemas.microsoft.com/office/powerpoint/2010/main" val="3236673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C5993-EEEF-CAE4-CA7A-D82867A28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70543-8AEF-97CC-6FE6-EB8D0BE55DA0}"/>
              </a:ext>
            </a:extLst>
          </p:cNvPr>
          <p:cNvSpPr txBox="1">
            <a:spLocks/>
          </p:cNvSpPr>
          <p:nvPr/>
        </p:nvSpPr>
        <p:spPr>
          <a:xfrm>
            <a:off x="377825" y="90000"/>
            <a:ext cx="8200000" cy="650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000" b="1">
                <a:solidFill>
                  <a:srgbClr val="000000"/>
                </a:solidFill>
                <a:latin typeface="Calibri"/>
              </a:rPr>
              <a:t>Initial Project Risks</a:t>
            </a:r>
            <a:endParaRPr lang="en-IN" altLang="en-US" sz="40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90DE2-0AE9-27F8-988E-94E542AAA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58F3F-21AC-027F-D8E1-56B8CD7B4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11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10B93538-FF4A-6D61-2887-E6BCF0B481ED}"/>
              </a:ext>
            </a:extLst>
          </p:cNvPr>
          <p:cNvSpPr/>
          <p:nvPr/>
        </p:nvSpPr>
        <p:spPr bwMode="auto">
          <a:xfrm>
            <a:off x="85725" y="804292"/>
            <a:ext cx="11993563" cy="20637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385F97-8F55-3ED6-22E3-E6245EAC37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280160"/>
          <a:ext cx="11064240" cy="44348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38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109728" marR="109728" anchor="ctr"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How We Will Address It</a:t>
                      </a:r>
                    </a:p>
                  </a:txBody>
                  <a:tcPr marL="109728" marR="109728" anchor="ctr">
                    <a:solidFill>
                      <a:srgbClr val="70A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000" b="1" i="0">
                          <a:solidFill>
                            <a:srgbClr val="000000"/>
                          </a:solidFill>
                          <a:latin typeface="Calibri"/>
                        </a:rPr>
                        <a:t>Incorrect DNS query/response handling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000" b="0" i="0">
                          <a:solidFill>
                            <a:srgbClr val="000000"/>
                          </a:solidFill>
                          <a:latin typeface="Calibri"/>
                        </a:rPr>
                        <a:t>Study DNS message and resolution behaviour and test different domain queries and response conditions.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000" b="1" i="0">
                          <a:solidFill>
                            <a:srgbClr val="000000"/>
                          </a:solidFill>
                          <a:latin typeface="Calibri"/>
                        </a:rPr>
                        <a:t>Cache inconsistency or incorrect cached responses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000" b="0" i="0">
                          <a:solidFill>
                            <a:srgbClr val="000000"/>
                          </a:solidFill>
                          <a:latin typeface="Calibri"/>
                        </a:rPr>
                        <a:t>Test cache validity, including cache hits, misses and expiration.</a:t>
                      </a:r>
                    </a:p>
                  </a:txBody>
                  <a:tcPr marL="109728" marR="109728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000" b="1" i="0">
                          <a:solidFill>
                            <a:srgbClr val="000000"/>
                          </a:solidFill>
                          <a:latin typeface="Calibri"/>
                        </a:rPr>
                        <a:t>Poor performance under multiple DNS requests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2000" b="0" i="0">
                          <a:solidFill>
                            <a:srgbClr val="000000"/>
                          </a:solidFill>
                          <a:latin typeface="Calibri"/>
                        </a:rPr>
                        <a:t>Test different query loads and evaluate response time and caching effectiveness.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3872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7D81A-00FA-EAE9-DFD4-B1A176997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662A4-73A5-50B5-CCF8-F0B23BF8CEFE}"/>
              </a:ext>
            </a:extLst>
          </p:cNvPr>
          <p:cNvSpPr txBox="1">
            <a:spLocks/>
          </p:cNvSpPr>
          <p:nvPr/>
        </p:nvSpPr>
        <p:spPr>
          <a:xfrm>
            <a:off x="377825" y="90000"/>
            <a:ext cx="8200000" cy="650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000" b="1" dirty="0">
                <a:solidFill>
                  <a:srgbClr val="000000"/>
                </a:solidFill>
                <a:latin typeface="Calibri"/>
              </a:rPr>
              <a:t>Initial e</a:t>
            </a:r>
            <a:r>
              <a:rPr sz="3000" b="1" dirty="0">
                <a:solidFill>
                  <a:srgbClr val="000000"/>
                </a:solidFill>
                <a:latin typeface="Calibri"/>
              </a:rPr>
              <a:t>valuation Measures</a:t>
            </a:r>
            <a:endParaRPr lang="en-IN" altLang="en-US" sz="40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9752C-718C-2124-6EDF-3656B32B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89FB0-168F-8DBF-CE49-DF6FEABA1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12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FCF6F704-8DB3-64CF-1511-652DFE06D735}"/>
              </a:ext>
            </a:extLst>
          </p:cNvPr>
          <p:cNvSpPr/>
          <p:nvPr/>
        </p:nvSpPr>
        <p:spPr bwMode="auto">
          <a:xfrm>
            <a:off x="85725" y="804292"/>
            <a:ext cx="11993563" cy="20637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AACAAC-20C1-A634-1F01-A7FE70C2B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029200"/>
            <a:ext cx="73152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548235"/>
                </a:solidFill>
                <a:latin typeface="Calibri"/>
              </a:rPr>
              <a:t>Evaluation Focus: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Query Handling  •  Caching Effectiveness  •  Response Efficiency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548640" y="1150000"/>
            <a:ext cx="11064240" cy="38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1. DNS Query Handling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DNS Query Handling Success Rate</a:t>
            </a:r>
          </a:p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2. DNS Caching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Cache-Hit Rate</a:t>
            </a:r>
          </a:p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3. Response Efficiency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Average Cache-Hit Response Time vs. Cache-Miss Response Time</a:t>
            </a:r>
          </a:p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4. Query Condition Handling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Correct Query-Handling Rate</a:t>
            </a:r>
          </a:p>
        </p:txBody>
      </p:sp>
    </p:spTree>
    <p:extLst>
      <p:ext uri="{BB962C8B-B14F-4D97-AF65-F5344CB8AC3E}">
        <p14:creationId xmlns:p14="http://schemas.microsoft.com/office/powerpoint/2010/main" val="1155681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8CA7D-7916-A83B-C9C4-61569FD7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F82EB-D27A-A646-C098-2F1636FE5B16}"/>
              </a:ext>
            </a:extLst>
          </p:cNvPr>
          <p:cNvSpPr txBox="1">
            <a:spLocks/>
          </p:cNvSpPr>
          <p:nvPr/>
        </p:nvSpPr>
        <p:spPr>
          <a:xfrm>
            <a:off x="377825" y="90000"/>
            <a:ext cx="8200000" cy="650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sz="3000" b="1">
                <a:solidFill>
                  <a:srgbClr val="000000"/>
                </a:solidFill>
                <a:latin typeface="Calibri"/>
              </a:rPr>
              <a:t>Expected Outcomes</a:t>
            </a:r>
            <a:endParaRPr lang="en-IN" altLang="en-US" sz="4000" b="1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20DF3-4D44-60A4-ACD9-1542D41C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defRPr/>
            </a:pPr>
            <a:r>
              <a:rPr lang="en-IN" dirty="0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8BF13-8334-E768-CF2E-FEAFA2336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F5826BF-E61F-4E52-AB9D-373E57465342}" type="slidenum">
              <a:rPr lang="en-IN" altLang="en-US">
                <a:solidFill>
                  <a:srgbClr val="898989"/>
                </a:solidFill>
              </a:rPr>
              <a:pPr/>
              <a:t>13</a:t>
            </a:fld>
            <a:endParaRPr lang="en-IN" altLang="en-US">
              <a:solidFill>
                <a:srgbClr val="898989"/>
              </a:solidFill>
            </a:endParaRPr>
          </a:p>
        </p:txBody>
      </p:sp>
      <p:sp>
        <p:nvSpPr>
          <p:cNvPr id="8" name="Line 2">
            <a:extLst>
              <a:ext uri="{FF2B5EF4-FFF2-40B4-BE49-F238E27FC236}">
                <a16:creationId xmlns:a16="http://schemas.microsoft.com/office/drawing/2014/main" id="{8D34D03B-2F60-5E15-A37F-C34C8125A6C8}"/>
              </a:ext>
            </a:extLst>
          </p:cNvPr>
          <p:cNvSpPr/>
          <p:nvPr/>
        </p:nvSpPr>
        <p:spPr bwMode="auto">
          <a:xfrm>
            <a:off x="85725" y="804292"/>
            <a:ext cx="11993563" cy="20637"/>
          </a:xfrm>
          <a:prstGeom prst="line">
            <a:avLst/>
          </a:prstGeom>
          <a:ln w="28575"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339CE92-C7A3-0A26-7B05-32FF965575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9350" y="80963"/>
            <a:ext cx="3422650" cy="58204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62625" y="4598795"/>
            <a:ext cx="7315200" cy="3657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548235"/>
                </a:solidFill>
                <a:latin typeface="Calibri"/>
              </a:rPr>
              <a:t>Overall Flow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08345" y="5055995"/>
            <a:ext cx="2011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Resolve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20025" y="5398895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3777225" y="5055995"/>
            <a:ext cx="2011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Cache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88905" y="5398895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246105" y="5055995"/>
            <a:ext cx="2011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Reuse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57785" y="5398895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714985" y="5055995"/>
            <a:ext cx="2011680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Calibri"/>
              </a:rPr>
              <a:t>Evaluate</a:t>
            </a:r>
          </a:p>
        </p:txBody>
      </p:sp>
      <p:sp>
        <p:nvSpPr>
          <p:cNvPr id="213" name="TextBox 213"/>
          <p:cNvSpPr txBox="1"/>
          <p:nvPr/>
        </p:nvSpPr>
        <p:spPr>
          <a:xfrm>
            <a:off x="548640" y="1150000"/>
            <a:ext cx="3501413" cy="32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Functional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Functional DNS resolver for handling client queries.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Appropriate DNS responses.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Handling of different DNS query conditions.</a:t>
            </a:r>
          </a:p>
        </p:txBody>
      </p:sp>
      <p:sp>
        <p:nvSpPr>
          <p:cNvPr id="214" name="TextBox 214"/>
          <p:cNvSpPr txBox="1"/>
          <p:nvPr/>
        </p:nvSpPr>
        <p:spPr>
          <a:xfrm>
            <a:off x="4330053" y="1150000"/>
            <a:ext cx="3501413" cy="32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Caching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Valid DNS resolution results are stored.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Valid results are reused for subsequent queries.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Reduced repeated external DNS resolution.</a:t>
            </a:r>
          </a:p>
        </p:txBody>
      </p:sp>
      <p:sp>
        <p:nvSpPr>
          <p:cNvPr id="215" name="TextBox 215"/>
          <p:cNvSpPr txBox="1"/>
          <p:nvPr/>
        </p:nvSpPr>
        <p:spPr>
          <a:xfrm>
            <a:off x="8111466" y="1150000"/>
            <a:ext cx="3501413" cy="3200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lang="en-IN" sz="2200" b="1" i="0" dirty="0">
                <a:solidFill>
                  <a:srgbClr val="548235"/>
                </a:solidFill>
                <a:latin typeface="Calibri"/>
              </a:rPr>
              <a:t>Performance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Response efficiency is evaluated.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Caching effectiveness is evaluated.</a:t>
            </a:r>
          </a:p>
          <a:p>
            <a:pPr marL="285750" indent="-285750" algn="l">
              <a:spcAft>
                <a:spcPts val="800"/>
              </a:spcAft>
              <a:buFont typeface="Arial"/>
              <a:buChar char="•"/>
            </a:pPr>
            <a:r>
              <a:rPr lang="en-IN" sz="2000" b="0" i="0" dirty="0">
                <a:solidFill>
                  <a:srgbClr val="000000"/>
                </a:solidFill>
                <a:latin typeface="Calibri"/>
              </a:rPr>
              <a:t>Repeated-query performance is studied.</a:t>
            </a:r>
          </a:p>
        </p:txBody>
      </p:sp>
    </p:spTree>
    <p:extLst>
      <p:ext uri="{BB962C8B-B14F-4D97-AF65-F5344CB8AC3E}">
        <p14:creationId xmlns:p14="http://schemas.microsoft.com/office/powerpoint/2010/main" val="389582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981</Words>
  <Application>Microsoft Office PowerPoint</Application>
  <PresentationFormat>Widescreen</PresentationFormat>
  <Paragraphs>193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Sunil V Gurlahosur</dc:creator>
  <cp:lastModifiedBy>Mehak Sayed Yusuf</cp:lastModifiedBy>
  <cp:revision>20</cp:revision>
  <dcterms:created xsi:type="dcterms:W3CDTF">2026-09-11T08:58:26Z</dcterms:created>
  <dcterms:modified xsi:type="dcterms:W3CDTF">2026-10-07T07:38:44Z</dcterms:modified>
</cp:coreProperties>
</file>