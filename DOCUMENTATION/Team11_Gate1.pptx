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88" r:id="rId2"/>
    <p:sldId id="292" r:id="rId3"/>
    <p:sldId id="293" r:id="rId4"/>
    <p:sldId id="289" r:id="rId5"/>
    <p:sldId id="291" r:id="rId6"/>
    <p:sldId id="294" r:id="rId7"/>
    <p:sldId id="267" r:id="rId8"/>
    <p:sldId id="282" r:id="rId9"/>
    <p:sldId id="297" r:id="rId10"/>
    <p:sldId id="298" r:id="rId11"/>
    <p:sldId id="299" r:id="rId12"/>
    <p:sldId id="300" r:id="rId13"/>
    <p:sldId id="296" r:id="rId14"/>
    <p:sldId id="290"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41D8CAF-3AE7-4C96-A416-ACBBB7CB0373}" v="8" dt="2026-10-07T09:06:47.64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9" autoAdjust="0"/>
    <p:restoredTop sz="94610"/>
  </p:normalViewPr>
  <p:slideViewPr>
    <p:cSldViewPr snapToGrid="0" snapToObjects="1">
      <p:cViewPr varScale="1">
        <p:scale>
          <a:sx n="95" d="100"/>
          <a:sy n="95" d="100"/>
        </p:scale>
        <p:origin x="20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el Biju" userId="1e1b483a394e3c0b" providerId="LiveId" clId="{D6073CC8-93E4-4C6D-8475-A21601C52202}"/>
    <pc:docChg chg="addSld modSld sldOrd">
      <pc:chgData name="Joel Biju" userId="1e1b483a394e3c0b" providerId="LiveId" clId="{D6073CC8-93E4-4C6D-8475-A21601C52202}" dt="2026-10-07T09:06:47.637" v="17"/>
      <pc:docMkLst>
        <pc:docMk/>
      </pc:docMkLst>
      <pc:sldChg chg="addSp delSp modSp">
        <pc:chgData name="Joel Biju" userId="1e1b483a394e3c0b" providerId="LiveId" clId="{D6073CC8-93E4-4C6D-8475-A21601C52202}" dt="2026-10-07T09:04:06.817" v="16"/>
        <pc:sldMkLst>
          <pc:docMk/>
          <pc:sldMk cId="0" sldId="262"/>
        </pc:sldMkLst>
        <pc:spChg chg="add del mod">
          <ac:chgData name="Joel Biju" userId="1e1b483a394e3c0b" providerId="LiveId" clId="{D6073CC8-93E4-4C6D-8475-A21601C52202}" dt="2026-10-07T09:01:48.324" v="13"/>
          <ac:spMkLst>
            <pc:docMk/>
            <pc:sldMk cId="0" sldId="262"/>
            <ac:spMk id="16" creationId="{C7297E55-0DA3-0F12-6A44-AE568536EE96}"/>
          </ac:spMkLst>
        </pc:spChg>
        <pc:spChg chg="add del mod">
          <ac:chgData name="Joel Biju" userId="1e1b483a394e3c0b" providerId="LiveId" clId="{D6073CC8-93E4-4C6D-8475-A21601C52202}" dt="2026-10-07T09:03:28.918" v="15"/>
          <ac:spMkLst>
            <pc:docMk/>
            <pc:sldMk cId="0" sldId="262"/>
            <ac:spMk id="27" creationId="{1ACB7EA4-BC53-0616-0B46-1B42DF6500B0}"/>
          </ac:spMkLst>
        </pc:spChg>
        <pc:picChg chg="add">
          <ac:chgData name="Joel Biju" userId="1e1b483a394e3c0b" providerId="LiveId" clId="{D6073CC8-93E4-4C6D-8475-A21601C52202}" dt="2026-10-07T09:01:44.258" v="9"/>
          <ac:picMkLst>
            <pc:docMk/>
            <pc:sldMk cId="0" sldId="262"/>
            <ac:picMk id="15" creationId="{F7C2CFD9-8D62-42C4-2115-2D5462FE4CBB}"/>
          </ac:picMkLst>
        </pc:picChg>
        <pc:picChg chg="add">
          <ac:chgData name="Joel Biju" userId="1e1b483a394e3c0b" providerId="LiveId" clId="{D6073CC8-93E4-4C6D-8475-A21601C52202}" dt="2026-10-07T09:01:46.696" v="11"/>
          <ac:picMkLst>
            <pc:docMk/>
            <pc:sldMk cId="0" sldId="262"/>
            <ac:picMk id="18" creationId="{E6C569D7-E244-DD20-F287-9F980705A9DE}"/>
          </ac:picMkLst>
        </pc:picChg>
        <pc:picChg chg="add">
          <ac:chgData name="Joel Biju" userId="1e1b483a394e3c0b" providerId="LiveId" clId="{D6073CC8-93E4-4C6D-8475-A21601C52202}" dt="2026-10-07T09:01:47.774" v="12"/>
          <ac:picMkLst>
            <pc:docMk/>
            <pc:sldMk cId="0" sldId="262"/>
            <ac:picMk id="20" creationId="{FBFE8850-CDAC-ED6E-CAFE-FB661DECF249}"/>
          </ac:picMkLst>
        </pc:picChg>
        <pc:picChg chg="add">
          <ac:chgData name="Joel Biju" userId="1e1b483a394e3c0b" providerId="LiveId" clId="{D6073CC8-93E4-4C6D-8475-A21601C52202}" dt="2026-10-07T09:04:06.817" v="16"/>
          <ac:picMkLst>
            <pc:docMk/>
            <pc:sldMk cId="0" sldId="262"/>
            <ac:picMk id="29" creationId="{95C98BE5-52F0-D468-EC67-2ACA5FC3847E}"/>
          </ac:picMkLst>
        </pc:picChg>
      </pc:sldChg>
      <pc:sldChg chg="addSp delSp modSp add">
        <pc:chgData name="Joel Biju" userId="1e1b483a394e3c0b" providerId="LiveId" clId="{D6073CC8-93E4-4C6D-8475-A21601C52202}" dt="2026-10-07T08:59:32.089" v="4"/>
        <pc:sldMkLst>
          <pc:docMk/>
          <pc:sldMk cId="0" sldId="282"/>
        </pc:sldMkLst>
        <pc:spChg chg="add del mod">
          <ac:chgData name="Joel Biju" userId="1e1b483a394e3c0b" providerId="LiveId" clId="{D6073CC8-93E4-4C6D-8475-A21601C52202}" dt="2026-10-07T08:59:30.561" v="2"/>
          <ac:spMkLst>
            <pc:docMk/>
            <pc:sldMk cId="0" sldId="282"/>
            <ac:spMk id="8" creationId="{D7D2DA77-981B-C330-726A-4E94CDAD9807}"/>
          </ac:spMkLst>
        </pc:spChg>
        <pc:spChg chg="add del mod">
          <ac:chgData name="Joel Biju" userId="1e1b483a394e3c0b" providerId="LiveId" clId="{D6073CC8-93E4-4C6D-8475-A21601C52202}" dt="2026-10-07T08:59:32.089" v="4"/>
          <ac:spMkLst>
            <pc:docMk/>
            <pc:sldMk cId="0" sldId="282"/>
            <ac:spMk id="9" creationId="{FB1FA89B-9D3A-CE26-A2F2-F8EB61C35760}"/>
          </ac:spMkLst>
        </pc:spChg>
      </pc:sldChg>
      <pc:sldChg chg="add">
        <pc:chgData name="Joel Biju" userId="1e1b483a394e3c0b" providerId="LiveId" clId="{D6073CC8-93E4-4C6D-8475-A21601C52202}" dt="2026-10-07T08:55:03.263" v="0"/>
        <pc:sldMkLst>
          <pc:docMk/>
          <pc:sldMk cId="0" sldId="283"/>
        </pc:sldMkLst>
      </pc:sldChg>
      <pc:sldChg chg="add">
        <pc:chgData name="Joel Biju" userId="1e1b483a394e3c0b" providerId="LiveId" clId="{D6073CC8-93E4-4C6D-8475-A21601C52202}" dt="2026-10-07T08:55:03.263" v="0"/>
        <pc:sldMkLst>
          <pc:docMk/>
          <pc:sldMk cId="0" sldId="284"/>
        </pc:sldMkLst>
      </pc:sldChg>
      <pc:sldChg chg="add">
        <pc:chgData name="Joel Biju" userId="1e1b483a394e3c0b" providerId="LiveId" clId="{D6073CC8-93E4-4C6D-8475-A21601C52202}" dt="2026-10-07T08:55:03.263" v="0"/>
        <pc:sldMkLst>
          <pc:docMk/>
          <pc:sldMk cId="0" sldId="285"/>
        </pc:sldMkLst>
      </pc:sldChg>
      <pc:sldChg chg="ord">
        <pc:chgData name="Joel Biju" userId="1e1b483a394e3c0b" providerId="LiveId" clId="{D6073CC8-93E4-4C6D-8475-A21601C52202}" dt="2026-10-07T08:59:53.417" v="5"/>
        <pc:sldMkLst>
          <pc:docMk/>
          <pc:sldMk cId="818615960" sldId="286"/>
        </pc:sldMkLst>
      </pc:sldChg>
      <pc:sldChg chg="add ord">
        <pc:chgData name="Joel Biju" userId="1e1b483a394e3c0b" providerId="LiveId" clId="{D6073CC8-93E4-4C6D-8475-A21601C52202}" dt="2026-10-07T09:00:45.082" v="7"/>
        <pc:sldMkLst>
          <pc:docMk/>
          <pc:sldMk cId="2499379513" sldId="288"/>
        </pc:sldMkLst>
      </pc:sldChg>
      <pc:sldChg chg="add">
        <pc:chgData name="Joel Biju" userId="1e1b483a394e3c0b" providerId="LiveId" clId="{D6073CC8-93E4-4C6D-8475-A21601C52202}" dt="2026-10-07T09:00:58.784" v="8"/>
        <pc:sldMkLst>
          <pc:docMk/>
          <pc:sldMk cId="1325587855" sldId="289"/>
        </pc:sldMkLst>
      </pc:sldChg>
      <pc:sldChg chg="add">
        <pc:chgData name="Joel Biju" userId="1e1b483a394e3c0b" providerId="LiveId" clId="{D6073CC8-93E4-4C6D-8475-A21601C52202}" dt="2026-10-07T09:06:47.637" v="17"/>
        <pc:sldMkLst>
          <pc:docMk/>
          <pc:sldMk cId="78943954" sldId="29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101430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89D0D-24E3-E84E-DB1D-58379C5C8E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69F0CF-7BB1-E4D4-43CB-9F63AAA88A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3D6CEE-61D1-BABA-D197-DFBD24855DB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1A7F823-79C3-7962-2C45-8F3EFA07C384}"/>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1506692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FFFFFF"/>
        </a:solidFill>
        <a:effectLst/>
      </p:bgPr>
    </p:bg>
    <p:spTree>
      <p:nvGrpSpPr>
        <p:cNvPr id="1" name=""/>
        <p:cNvGrpSpPr/>
        <p:nvPr/>
      </p:nvGrpSpPr>
      <p:grpSpPr>
        <a:xfrm>
          <a:off x="0" y="0"/>
          <a:ext cx="0" cy="0"/>
          <a:chOff x="0" y="0"/>
          <a:chExt cx="0" cy="0"/>
        </a:xfrm>
      </p:grpSpPr>
      <p:pic>
        <p:nvPicPr>
          <p:cNvPr id="2" name="Image 0" descr="logo.jpeg"/>
          <p:cNvPicPr>
            <a:picLocks noChangeAspect="1"/>
          </p:cNvPicPr>
          <p:nvPr/>
        </p:nvPicPr>
        <p:blipFill>
          <a:blip r:embed="rId2"/>
          <a:stretch>
            <a:fillRect/>
          </a:stretch>
        </p:blipFill>
        <p:spPr>
          <a:xfrm>
            <a:off x="9555480" y="256032"/>
            <a:ext cx="2103120" cy="357530"/>
          </a:xfrm>
          <a:prstGeom prst="rect">
            <a:avLst/>
          </a:prstGeom>
        </p:spPr>
      </p:pic>
      <p:sp>
        <p:nvSpPr>
          <p:cNvPr id="3" name="Text 0"/>
          <p:cNvSpPr/>
          <p:nvPr/>
        </p:nvSpPr>
        <p:spPr>
          <a:xfrm>
            <a:off x="548640" y="6400800"/>
            <a:ext cx="5943600" cy="274320"/>
          </a:xfrm>
          <a:prstGeom prst="rect">
            <a:avLst/>
          </a:prstGeom>
          <a:noFill/>
          <a:ln/>
        </p:spPr>
        <p:txBody>
          <a:bodyPr wrap="square" lIns="0" tIns="0" rIns="0" bIns="0" rtlCol="0" anchor="ctr"/>
          <a:lstStyle/>
          <a:p>
            <a:pPr marL="0" indent="0">
              <a:buNone/>
            </a:pPr>
            <a:r>
              <a:rPr lang="en-US" sz="1000" dirty="0">
                <a:solidFill>
                  <a:srgbClr val="5B6475"/>
                </a:solidFill>
                <a:latin typeface="Calibri" pitchFamily="34" charset="0"/>
                <a:ea typeface="Calibri" pitchFamily="34" charset="-122"/>
                <a:cs typeface="Calibri" pitchFamily="34" charset="-120"/>
              </a:rPr>
              <a:t>S1 – Functional Requirements Engineering | Gate 1 – Requirements Baseline</a:t>
            </a:r>
            <a:endParaRPr lang="en-US" sz="1000" dirty="0"/>
          </a:p>
        </p:txBody>
      </p:sp>
      <p:sp>
        <p:nvSpPr>
          <p:cNvPr id="4" name="Text 1"/>
          <p:cNvSpPr/>
          <p:nvPr/>
        </p:nvSpPr>
        <p:spPr>
          <a:xfrm>
            <a:off x="6583680" y="6400800"/>
            <a:ext cx="4206240" cy="274320"/>
          </a:xfrm>
          <a:prstGeom prst="rect">
            <a:avLst/>
          </a:prstGeom>
          <a:noFill/>
          <a:ln/>
        </p:spPr>
        <p:txBody>
          <a:bodyPr wrap="square" lIns="0" tIns="0" rIns="0" bIns="0" rtlCol="0" anchor="ctr"/>
          <a:lstStyle/>
          <a:p>
            <a:pPr marL="0" indent="0" algn="r">
              <a:buNone/>
            </a:pPr>
            <a:r>
              <a:rPr lang="en-US" sz="1000" dirty="0">
                <a:solidFill>
                  <a:srgbClr val="5B6475"/>
                </a:solidFill>
                <a:latin typeface="Calibri" pitchFamily="34" charset="0"/>
                <a:ea typeface="Calibri" pitchFamily="34" charset="-122"/>
                <a:cs typeface="Calibri" pitchFamily="34" charset="-120"/>
              </a:rPr>
              <a:t>Team 11 | DNS Resolver and Caching Server | 29-09-26</a:t>
            </a:r>
            <a:endParaRPr lang="en-US" sz="1000" dirty="0"/>
          </a:p>
        </p:txBody>
      </p:sp>
      <p:sp>
        <p:nvSpPr>
          <p:cNvPr id="5" name="Text 2"/>
          <p:cNvSpPr>
            <a:spLocks noGrp="1"/>
          </p:cNvSpPr>
          <p:nvPr>
            <p:ph type="title" idx="103" hasCustomPrompt="1"/>
          </p:nvPr>
        </p:nvSpPr>
        <p:spPr>
          <a:xfrm>
            <a:off x="548640" y="274320"/>
            <a:ext cx="8778240" cy="685800"/>
          </a:xfrm>
          <a:prstGeom prst="rect">
            <a:avLst/>
          </a:prstGeom>
          <a:noFill/>
          <a:ln/>
        </p:spPr>
        <p:txBody>
          <a:bodyPr wrap="square" rtlCol="0"/>
          <a:lstStyle>
            <a:lvl1pPr marL="0" indent="0" algn="l">
              <a:buNone/>
              <a:defRPr lang="en-US" sz="2800" b="1" dirty="0">
                <a:solidFill>
                  <a:srgbClr val="1B2B4B"/>
                </a:solidFill>
                <a:latin typeface="Cambria" pitchFamily="34" charset="0"/>
                <a:ea typeface="Cambria" pitchFamily="34" charset="-122"/>
                <a:cs typeface="Cambria" pitchFamily="34" charset="-120"/>
              </a:defRPr>
            </a:lvl1pPr>
          </a:lstStyle>
          <a:p>
            <a:pPr marL="0" indent="0" algn="l">
              <a:buNone/>
            </a:pPr>
            <a:endParaRPr lang="en-US" sz="28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475"/>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B4B"/>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E164190-C29E-BAE1-F6F0-98B2737F8C17}"/>
              </a:ext>
            </a:extLst>
          </p:cNvPr>
          <p:cNvSpPr>
            <a:spLocks noGrp="1"/>
          </p:cNvSpPr>
          <p:nvPr>
            <p:ph type="dt" sz="half" idx="10"/>
          </p:nvPr>
        </p:nvSpPr>
        <p:spPr/>
        <p:txBody>
          <a:bodyPr/>
          <a:lstStyle/>
          <a:p>
            <a:fld id="{E6651546-1686-4C0B-B9BE-3163B404F5B4}" type="datetimeFigureOut">
              <a:rPr lang="en-IN" smtClean="0"/>
              <a:t>10-10-2026</a:t>
            </a:fld>
            <a:endParaRPr lang="en-IN"/>
          </a:p>
        </p:txBody>
      </p:sp>
      <p:sp>
        <p:nvSpPr>
          <p:cNvPr id="3" name="Footer Placeholder 2">
            <a:extLst>
              <a:ext uri="{FF2B5EF4-FFF2-40B4-BE49-F238E27FC236}">
                <a16:creationId xmlns:a16="http://schemas.microsoft.com/office/drawing/2014/main" id="{3C2BB8E3-6FC7-1D44-7464-0DF1F039911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1A9EFE7-964B-3D4F-DA2E-04D9F85E92B8}"/>
              </a:ext>
            </a:extLst>
          </p:cNvPr>
          <p:cNvSpPr>
            <a:spLocks noGrp="1"/>
          </p:cNvSpPr>
          <p:nvPr>
            <p:ph type="sldNum" sz="quarter" idx="12"/>
          </p:nvPr>
        </p:nvSpPr>
        <p:spPr/>
        <p:txBody>
          <a:bodyPr/>
          <a:lstStyle/>
          <a:p>
            <a:fld id="{955D4D5A-7FD4-4B03-AA63-45CB7CF6F81A}" type="slidenum">
              <a:rPr lang="en-IN" smtClean="0"/>
              <a:t>‹#›</a:t>
            </a:fld>
            <a:endParaRPr lang="en-IN"/>
          </a:p>
        </p:txBody>
      </p:sp>
    </p:spTree>
    <p:extLst>
      <p:ext uri="{BB962C8B-B14F-4D97-AF65-F5344CB8AC3E}">
        <p14:creationId xmlns:p14="http://schemas.microsoft.com/office/powerpoint/2010/main" val="286503719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475"/>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9847B-EC4A-A55B-9CEE-F9E7B662927C}"/>
              </a:ext>
            </a:extLst>
          </p:cNvPr>
          <p:cNvSpPr txBox="1">
            <a:spLocks/>
          </p:cNvSpPr>
          <p:nvPr/>
        </p:nvSpPr>
        <p:spPr>
          <a:xfrm>
            <a:off x="767255" y="900000"/>
            <a:ext cx="11298621" cy="1600000"/>
          </a:xfrm>
          <a:prstGeom prst="rect">
            <a:avLst/>
          </a:prstGeom>
        </p:spPr>
        <p:txBody>
          <a:bodyPr wrap="square"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spcBef>
                <a:spcPts val="0"/>
              </a:spcBef>
              <a:spcAft>
                <a:spcPts val="0"/>
              </a:spcAft>
            </a:pPr>
            <a:r>
              <a:rPr sz="3200" b="1">
                <a:solidFill>
                  <a:srgbClr val="1B2B4B"/>
                </a:solidFill>
                <a:latin typeface="Cambria"/>
              </a:rPr>
              <a:t>Theme 4: Network Systems and Tools</a:t>
            </a:r>
          </a:p>
          <a:p>
            <a:pPr algn="ctr">
              <a:lnSpc>
                <a:spcPct val="100000"/>
              </a:lnSpc>
              <a:spcBef>
                <a:spcPts val="800"/>
              </a:spcBef>
              <a:spcAft>
                <a:spcPts val="0"/>
              </a:spcAft>
            </a:pPr>
            <a:r>
              <a:rPr sz="2600" b="1">
                <a:solidFill>
                  <a:srgbClr val="1F4E9E"/>
                </a:solidFill>
                <a:latin typeface="Cambria"/>
              </a:rPr>
              <a:t>DNS Resolver and Caching Server</a:t>
            </a:r>
            <a:endParaRPr lang="en-IN" altLang="en-US" sz="4000" b="1" dirty="0"/>
          </a:p>
        </p:txBody>
      </p:sp>
      <p:sp>
        <p:nvSpPr>
          <p:cNvPr id="21" name="Subtitle"/>
          <p:cNvSpPr txBox="1"/>
          <p:nvPr/>
        </p:nvSpPr>
        <p:spPr>
          <a:xfrm>
            <a:off x="1524000" y="2600000"/>
            <a:ext cx="9144000" cy="900000"/>
          </a:xfrm>
          <a:prstGeom prst="rect">
            <a:avLst/>
          </a:prstGeom>
          <a:noFill/>
          <a:ln>
            <a:noFill/>
          </a:ln>
        </p:spPr>
        <p:txBody>
          <a:bodyPr wrap="square" lIns="91440" tIns="45720" rIns="91440" bIns="45720" anchor="ctr">
            <a:noAutofit/>
          </a:bodyPr>
          <a:lstStyle/>
          <a:p>
            <a:pPr algn="ctr">
              <a:lnSpc>
                <a:spcPct val="100000"/>
              </a:lnSpc>
              <a:spcBef>
                <a:spcPts val="0"/>
              </a:spcBef>
              <a:spcAft>
                <a:spcPts val="0"/>
              </a:spcAft>
              <a:buNone/>
            </a:pPr>
            <a:r>
              <a:rPr sz="1800" b="1">
                <a:solidFill>
                  <a:srgbClr val="555555"/>
                </a:solidFill>
                <a:latin typeface="Calibri"/>
              </a:rPr>
              <a:t>Stage S1 — Functional Requirements Engineering &amp; Engine Decomposition</a:t>
            </a:r>
            <a:endParaRPr lang="en-US" sz="2000" b="0" i="0" dirty="0">
              <a:solidFill>
                <a:srgbClr val="595959"/>
              </a:solidFill>
            </a:endParaRPr>
          </a:p>
        </p:txBody>
      </p:sp>
      <p:sp>
        <p:nvSpPr>
          <p:cNvPr id="22" name="Chip"/>
          <p:cNvSpPr/>
          <p:nvPr/>
        </p:nvSpPr>
        <p:spPr>
          <a:xfrm>
            <a:off x="1546000" y="3700000"/>
            <a:ext cx="2300000" cy="420000"/>
          </a:xfrm>
          <a:prstGeom prst="roundRect">
            <a:avLst>
              <a:gd name="adj" fmla="val 12000"/>
            </a:avLst>
          </a:prstGeom>
          <a:solidFill>
            <a:srgbClr val="EAF1FB"/>
          </a:solidFill>
          <a:ln w="9525">
            <a:solidFill>
              <a:srgbClr val="8FB0E0"/>
            </a:solidFill>
          </a:ln>
        </p:spPr>
        <p:txBody>
          <a:bodyPr wrap="square" lIns="91440" tIns="45720" rIns="91440" bIns="45720" anchor="ctr">
            <a:noAutofit/>
          </a:bodyPr>
          <a:lstStyle/>
          <a:p>
            <a:pPr algn="ctr">
              <a:spcBef>
                <a:spcPts val="0"/>
              </a:spcBef>
              <a:buNone/>
            </a:pPr>
            <a:r>
              <a:rPr lang="en-US" sz="1600" b="1" i="0" dirty="0">
                <a:solidFill>
                  <a:srgbClr val="143A78"/>
                </a:solidFill>
              </a:rPr>
              <a:t>Team No. 11</a:t>
            </a:r>
          </a:p>
        </p:txBody>
      </p:sp>
      <p:sp>
        <p:nvSpPr>
          <p:cNvPr id="23" name="Chip"/>
          <p:cNvSpPr/>
          <p:nvPr/>
        </p:nvSpPr>
        <p:spPr>
          <a:xfrm>
            <a:off x="4046000" y="3700000"/>
            <a:ext cx="3400000" cy="420000"/>
          </a:xfrm>
          <a:prstGeom prst="roundRect">
            <a:avLst>
              <a:gd name="adj" fmla="val 12000"/>
            </a:avLst>
          </a:prstGeom>
          <a:solidFill>
            <a:srgbClr val="EAF1FB"/>
          </a:solidFill>
          <a:ln w="9525">
            <a:solidFill>
              <a:srgbClr val="8FB0E0"/>
            </a:solidFill>
          </a:ln>
        </p:spPr>
        <p:txBody>
          <a:bodyPr wrap="square" lIns="91440" tIns="45720" rIns="91440" bIns="45720" anchor="ctr">
            <a:noAutofit/>
          </a:bodyPr>
          <a:lstStyle/>
          <a:p>
            <a:pPr algn="ctr">
              <a:spcBef>
                <a:spcPts val="0"/>
              </a:spcBef>
              <a:buNone/>
            </a:pPr>
            <a:r>
              <a:rPr lang="en-US" sz="1600" b="1" i="0" dirty="0">
                <a:solidFill>
                  <a:srgbClr val="143A78"/>
                </a:solidFill>
              </a:rPr>
              <a:t>Guide: Mr. Pavankumar S</a:t>
            </a:r>
          </a:p>
        </p:txBody>
      </p:sp>
      <p:sp>
        <p:nvSpPr>
          <p:cNvPr id="24" name="Chip"/>
          <p:cNvSpPr/>
          <p:nvPr/>
        </p:nvSpPr>
        <p:spPr>
          <a:xfrm>
            <a:off x="7646000" y="3700000"/>
            <a:ext cx="3000000" cy="420000"/>
          </a:xfrm>
          <a:prstGeom prst="roundRect">
            <a:avLst>
              <a:gd name="adj" fmla="val 12000"/>
            </a:avLst>
          </a:prstGeom>
          <a:solidFill>
            <a:srgbClr val="EAF1FB"/>
          </a:solidFill>
          <a:ln w="9525">
            <a:solidFill>
              <a:srgbClr val="8FB0E0"/>
            </a:solidFill>
          </a:ln>
        </p:spPr>
        <p:txBody>
          <a:bodyPr wrap="square" lIns="91440" tIns="45720" rIns="91440" bIns="45720" anchor="ctr">
            <a:noAutofit/>
          </a:bodyPr>
          <a:lstStyle/>
          <a:p>
            <a:pPr algn="ctr">
              <a:spcBef>
                <a:spcPts val="0"/>
              </a:spcBef>
              <a:buNone/>
            </a:pPr>
            <a:r>
              <a:t>Date: 29/09/2026</a:t>
            </a:r>
          </a:p>
        </p:txBody>
      </p:sp>
      <p:graphicFrame>
        <p:nvGraphicFramePr>
          <p:cNvPr id="25" name="Table"/>
          <p:cNvGraphicFramePr>
            <a:graphicFrameLocks noGrp="1"/>
          </p:cNvGraphicFramePr>
          <p:nvPr/>
        </p:nvGraphicFramePr>
        <p:xfrm>
          <a:off x="2296000" y="4450000"/>
          <a:ext cx="7600000" cy="1820000"/>
        </p:xfrm>
        <a:graphic>
          <a:graphicData uri="http://schemas.openxmlformats.org/drawingml/2006/table">
            <a:tbl>
              <a:tblPr firstRow="1" bandRow="1"/>
              <a:tblGrid>
                <a:gridCol w="1000000">
                  <a:extLst>
                    <a:ext uri="{9D8B030D-6E8A-4147-A177-3AD203B41FA5}">
                      <a16:colId xmlns:a16="http://schemas.microsoft.com/office/drawing/2014/main" val="20000"/>
                    </a:ext>
                  </a:extLst>
                </a:gridCol>
                <a:gridCol w="3325517">
                  <a:extLst>
                    <a:ext uri="{9D8B030D-6E8A-4147-A177-3AD203B41FA5}">
                      <a16:colId xmlns:a16="http://schemas.microsoft.com/office/drawing/2014/main" val="20001"/>
                    </a:ext>
                  </a:extLst>
                </a:gridCol>
                <a:gridCol w="3274483">
                  <a:extLst>
                    <a:ext uri="{9D8B030D-6E8A-4147-A177-3AD203B41FA5}">
                      <a16:colId xmlns:a16="http://schemas.microsoft.com/office/drawing/2014/main" val="20002"/>
                    </a:ext>
                  </a:extLst>
                </a:gridCol>
              </a:tblGrid>
              <a:tr h="380000">
                <a:tc>
                  <a:txBody>
                    <a:bodyPr/>
                    <a:lstStyle/>
                    <a:p>
                      <a:pPr algn="ctr"/>
                      <a:r>
                        <a:rPr lang="en-US" sz="1500" b="1" i="0" dirty="0">
                          <a:solidFill>
                            <a:srgbClr val="FFFFFF"/>
                          </a:solidFill>
                        </a:rPr>
                        <a:t>Sl. No.</a:t>
                      </a:r>
                    </a:p>
                  </a:txBody>
                  <a:tcPr marL="82000" marR="82000" marT="38000" marB="38000" anchor="ctr">
                    <a:lnL w="6350">
                      <a:solidFill>
                        <a:srgbClr val="C5D5EC"/>
                      </a:solidFill>
                    </a:lnL>
                    <a:lnR w="6350">
                      <a:solidFill>
                        <a:srgbClr val="C5D5EC"/>
                      </a:solidFill>
                    </a:lnR>
                    <a:lnT w="6350">
                      <a:solidFill>
                        <a:srgbClr val="C5D5EC"/>
                      </a:solidFill>
                    </a:lnT>
                    <a:lnB w="6350">
                      <a:solidFill>
                        <a:srgbClr val="C5D5EC"/>
                      </a:solidFill>
                    </a:lnB>
                    <a:solidFill>
                      <a:srgbClr val="1F4E9E"/>
                    </a:solidFill>
                  </a:tcPr>
                </a:tc>
                <a:tc>
                  <a:txBody>
                    <a:bodyPr/>
                    <a:lstStyle/>
                    <a:p>
                      <a:pPr algn="l"/>
                      <a:r>
                        <a:rPr lang="en-US" sz="1500" b="1" i="0" dirty="0">
                          <a:solidFill>
                            <a:srgbClr val="FFFFFF"/>
                          </a:solidFill>
                        </a:rPr>
                        <a:t>SRN</a:t>
                      </a:r>
                    </a:p>
                  </a:txBody>
                  <a:tcPr marL="82000" marR="82000" marT="38000" marB="38000" anchor="ctr">
                    <a:lnL w="6350">
                      <a:solidFill>
                        <a:srgbClr val="C5D5EC"/>
                      </a:solidFill>
                    </a:lnL>
                    <a:lnR w="6350">
                      <a:solidFill>
                        <a:srgbClr val="C5D5EC"/>
                      </a:solidFill>
                    </a:lnR>
                    <a:lnT w="6350">
                      <a:solidFill>
                        <a:srgbClr val="C5D5EC"/>
                      </a:solidFill>
                    </a:lnT>
                    <a:lnB w="6350">
                      <a:solidFill>
                        <a:srgbClr val="C5D5EC"/>
                      </a:solidFill>
                    </a:lnB>
                    <a:solidFill>
                      <a:srgbClr val="1F4E9E"/>
                    </a:solidFill>
                  </a:tcPr>
                </a:tc>
                <a:tc>
                  <a:txBody>
                    <a:bodyPr/>
                    <a:lstStyle/>
                    <a:p>
                      <a:pPr algn="l"/>
                      <a:r>
                        <a:rPr lang="en-US" sz="1500" b="1" i="0" dirty="0">
                          <a:solidFill>
                            <a:srgbClr val="FFFFFF"/>
                          </a:solidFill>
                        </a:rPr>
                        <a:t>Student Name</a:t>
                      </a:r>
                    </a:p>
                  </a:txBody>
                  <a:tcPr marL="82000" marR="82000" marT="38000" marB="38000" anchor="ctr">
                    <a:lnL w="6350">
                      <a:solidFill>
                        <a:srgbClr val="C5D5EC"/>
                      </a:solidFill>
                    </a:lnL>
                    <a:lnR w="6350">
                      <a:solidFill>
                        <a:srgbClr val="C5D5EC"/>
                      </a:solidFill>
                    </a:lnR>
                    <a:lnT w="6350">
                      <a:solidFill>
                        <a:srgbClr val="C5D5EC"/>
                      </a:solidFill>
                    </a:lnT>
                    <a:lnB w="6350">
                      <a:solidFill>
                        <a:srgbClr val="C5D5EC"/>
                      </a:solidFill>
                    </a:lnB>
                    <a:solidFill>
                      <a:srgbClr val="1F4E9E"/>
                    </a:solidFill>
                  </a:tcPr>
                </a:tc>
                <a:extLst>
                  <a:ext uri="{0D108BD9-81ED-4DB2-BD59-A6C34878D82A}">
                    <a16:rowId xmlns:a16="http://schemas.microsoft.com/office/drawing/2014/main" val="10000"/>
                  </a:ext>
                </a:extLst>
              </a:tr>
              <a:tr h="360000">
                <a:tc>
                  <a:txBody>
                    <a:bodyPr/>
                    <a:lstStyle/>
                    <a:p>
                      <a:pPr algn="ctr">
                        <a:lnSpc>
                          <a:spcPct val="100000"/>
                        </a:lnSpc>
                        <a:spcBef>
                          <a:spcPts val="0"/>
                        </a:spcBef>
                        <a:spcAft>
                          <a:spcPts val="0"/>
                        </a:spcAft>
                      </a:pPr>
                      <a:r>
                        <a:rPr sz="1200" b="0">
                          <a:solidFill>
                            <a:srgbClr val="222222"/>
                          </a:solidFill>
                          <a:latin typeface="Calibri"/>
                        </a:rPr>
                        <a:t>1</a:t>
                      </a:r>
                    </a:p>
                  </a:txBody>
                  <a:tcPr marL="73152" marR="73152" marT="36576" marB="36576" anchor="ctr">
                    <a:lnL w="6350">
                      <a:solidFill>
                        <a:srgbClr val="C5D5EC"/>
                      </a:solidFill>
                    </a:lnL>
                    <a:lnR w="6350">
                      <a:solidFill>
                        <a:srgbClr val="C5D5EC"/>
                      </a:solidFill>
                    </a:lnR>
                    <a:lnT w="6350">
                      <a:solidFill>
                        <a:srgbClr val="C5D5EC"/>
                      </a:solidFill>
                    </a:lnT>
                    <a:lnB w="6350">
                      <a:solidFill>
                        <a:srgbClr val="C5D5EC"/>
                      </a:solidFill>
                    </a:lnB>
                    <a:solidFill>
                      <a:srgbClr val="FFFFFF"/>
                    </a:solidFill>
                  </a:tcPr>
                </a:tc>
                <a:tc>
                  <a:txBody>
                    <a:bodyPr/>
                    <a:lstStyle/>
                    <a:p>
                      <a:pPr algn="ctr">
                        <a:lnSpc>
                          <a:spcPct val="100000"/>
                        </a:lnSpc>
                        <a:spcBef>
                          <a:spcPts val="0"/>
                        </a:spcBef>
                        <a:spcAft>
                          <a:spcPts val="0"/>
                        </a:spcAft>
                      </a:pPr>
                      <a:r>
                        <a:rPr sz="1200" b="1">
                          <a:solidFill>
                            <a:srgbClr val="1B2B4B"/>
                          </a:solidFill>
                          <a:latin typeface="Calibri"/>
                        </a:rPr>
                        <a:t>01fe24bci012</a:t>
                      </a:r>
                    </a:p>
                  </a:txBody>
                  <a:tcPr marL="73152" marR="73152" marT="36576" marB="36576" anchor="ctr">
                    <a:lnL w="6350">
                      <a:solidFill>
                        <a:srgbClr val="C5D5EC"/>
                      </a:solidFill>
                    </a:lnL>
                    <a:lnR w="6350">
                      <a:solidFill>
                        <a:srgbClr val="C5D5EC"/>
                      </a:solidFill>
                    </a:lnR>
                    <a:lnT w="6350">
                      <a:solidFill>
                        <a:srgbClr val="C5D5EC"/>
                      </a:solidFill>
                    </a:lnT>
                    <a:lnB w="6350">
                      <a:solidFill>
                        <a:srgbClr val="C5D5EC"/>
                      </a:solidFill>
                    </a:lnB>
                    <a:solidFill>
                      <a:srgbClr val="FFFFFF"/>
                    </a:solidFill>
                  </a:tcPr>
                </a:tc>
                <a:tc>
                  <a:txBody>
                    <a:bodyPr/>
                    <a:lstStyle/>
                    <a:p>
                      <a:pPr algn="ctr">
                        <a:lnSpc>
                          <a:spcPct val="100000"/>
                        </a:lnSpc>
                        <a:spcBef>
                          <a:spcPts val="0"/>
                        </a:spcBef>
                        <a:spcAft>
                          <a:spcPts val="0"/>
                        </a:spcAft>
                      </a:pPr>
                      <a:r>
                        <a:rPr sz="1200" b="0">
                          <a:solidFill>
                            <a:srgbClr val="222222"/>
                          </a:solidFill>
                          <a:latin typeface="Calibri"/>
                        </a:rPr>
                        <a:t>Mehak Sayed Yusuf</a:t>
                      </a:r>
                    </a:p>
                  </a:txBody>
                  <a:tcPr marL="73152" marR="73152" marT="36576" marB="36576" anchor="ctr">
                    <a:lnL w="6350">
                      <a:solidFill>
                        <a:srgbClr val="C5D5EC"/>
                      </a:solidFill>
                    </a:lnL>
                    <a:lnR w="6350">
                      <a:solidFill>
                        <a:srgbClr val="C5D5EC"/>
                      </a:solidFill>
                    </a:lnR>
                    <a:lnT w="6350">
                      <a:solidFill>
                        <a:srgbClr val="C5D5EC"/>
                      </a:solidFill>
                    </a:lnT>
                    <a:lnB w="6350">
                      <a:solidFill>
                        <a:srgbClr val="C5D5EC"/>
                      </a:solidFill>
                    </a:lnB>
                    <a:solidFill>
                      <a:srgbClr val="FFFFFF"/>
                    </a:solidFill>
                  </a:tcPr>
                </a:tc>
                <a:extLst>
                  <a:ext uri="{0D108BD9-81ED-4DB2-BD59-A6C34878D82A}">
                    <a16:rowId xmlns:a16="http://schemas.microsoft.com/office/drawing/2014/main" val="10001"/>
                  </a:ext>
                </a:extLst>
              </a:tr>
              <a:tr h="360000">
                <a:tc>
                  <a:txBody>
                    <a:bodyPr/>
                    <a:lstStyle/>
                    <a:p>
                      <a:pPr algn="ctr">
                        <a:lnSpc>
                          <a:spcPct val="100000"/>
                        </a:lnSpc>
                        <a:spcBef>
                          <a:spcPts val="0"/>
                        </a:spcBef>
                        <a:spcAft>
                          <a:spcPts val="0"/>
                        </a:spcAft>
                      </a:pPr>
                      <a:r>
                        <a:rPr sz="1200" b="0">
                          <a:solidFill>
                            <a:srgbClr val="222222"/>
                          </a:solidFill>
                          <a:latin typeface="Calibri"/>
                        </a:rPr>
                        <a:t>2</a:t>
                      </a:r>
                    </a:p>
                  </a:txBody>
                  <a:tcPr marL="73152" marR="73152" marT="36576" marB="36576" anchor="ctr">
                    <a:lnL w="6350">
                      <a:solidFill>
                        <a:srgbClr val="C5D5EC"/>
                      </a:solidFill>
                    </a:lnL>
                    <a:lnR w="6350">
                      <a:solidFill>
                        <a:srgbClr val="C5D5EC"/>
                      </a:solidFill>
                    </a:lnR>
                    <a:lnT w="6350">
                      <a:solidFill>
                        <a:srgbClr val="C5D5EC"/>
                      </a:solidFill>
                    </a:lnT>
                    <a:lnB w="6350">
                      <a:solidFill>
                        <a:srgbClr val="C5D5EC"/>
                      </a:solidFill>
                    </a:lnB>
                    <a:solidFill>
                      <a:srgbClr val="FFFFFF"/>
                    </a:solidFill>
                  </a:tcPr>
                </a:tc>
                <a:tc>
                  <a:txBody>
                    <a:bodyPr/>
                    <a:lstStyle/>
                    <a:p>
                      <a:pPr algn="ctr">
                        <a:lnSpc>
                          <a:spcPct val="100000"/>
                        </a:lnSpc>
                        <a:spcBef>
                          <a:spcPts val="0"/>
                        </a:spcBef>
                        <a:spcAft>
                          <a:spcPts val="0"/>
                        </a:spcAft>
                      </a:pPr>
                      <a:r>
                        <a:rPr sz="1200" b="1">
                          <a:solidFill>
                            <a:srgbClr val="1B2B4B"/>
                          </a:solidFill>
                          <a:latin typeface="Calibri"/>
                        </a:rPr>
                        <a:t>01fe24bci008</a:t>
                      </a:r>
                    </a:p>
                  </a:txBody>
                  <a:tcPr marL="73152" marR="73152" marT="36576" marB="36576" anchor="ctr">
                    <a:lnL w="6350">
                      <a:solidFill>
                        <a:srgbClr val="C5D5EC"/>
                      </a:solidFill>
                    </a:lnL>
                    <a:lnR w="6350">
                      <a:solidFill>
                        <a:srgbClr val="C5D5EC"/>
                      </a:solidFill>
                    </a:lnR>
                    <a:lnT w="6350">
                      <a:solidFill>
                        <a:srgbClr val="C5D5EC"/>
                      </a:solidFill>
                    </a:lnT>
                    <a:lnB w="6350">
                      <a:solidFill>
                        <a:srgbClr val="C5D5EC"/>
                      </a:solidFill>
                    </a:lnB>
                    <a:solidFill>
                      <a:srgbClr val="FFFFFF"/>
                    </a:solidFill>
                  </a:tcPr>
                </a:tc>
                <a:tc>
                  <a:txBody>
                    <a:bodyPr/>
                    <a:lstStyle/>
                    <a:p>
                      <a:pPr algn="ctr">
                        <a:lnSpc>
                          <a:spcPct val="100000"/>
                        </a:lnSpc>
                        <a:spcBef>
                          <a:spcPts val="0"/>
                        </a:spcBef>
                        <a:spcAft>
                          <a:spcPts val="0"/>
                        </a:spcAft>
                      </a:pPr>
                      <a:r>
                        <a:rPr sz="1200" b="0">
                          <a:solidFill>
                            <a:srgbClr val="222222"/>
                          </a:solidFill>
                          <a:latin typeface="Calibri"/>
                        </a:rPr>
                        <a:t>Vageesh Mathad</a:t>
                      </a:r>
                    </a:p>
                  </a:txBody>
                  <a:tcPr marL="73152" marR="73152" marT="36576" marB="36576" anchor="ctr">
                    <a:lnL w="6350">
                      <a:solidFill>
                        <a:srgbClr val="C5D5EC"/>
                      </a:solidFill>
                    </a:lnL>
                    <a:lnR w="6350">
                      <a:solidFill>
                        <a:srgbClr val="C5D5EC"/>
                      </a:solidFill>
                    </a:lnR>
                    <a:lnT w="6350">
                      <a:solidFill>
                        <a:srgbClr val="C5D5EC"/>
                      </a:solidFill>
                    </a:lnT>
                    <a:lnB w="6350">
                      <a:solidFill>
                        <a:srgbClr val="C5D5EC"/>
                      </a:solidFill>
                    </a:lnB>
                    <a:solidFill>
                      <a:srgbClr val="FFFFFF"/>
                    </a:solidFill>
                  </a:tcPr>
                </a:tc>
                <a:extLst>
                  <a:ext uri="{0D108BD9-81ED-4DB2-BD59-A6C34878D82A}">
                    <a16:rowId xmlns:a16="http://schemas.microsoft.com/office/drawing/2014/main" val="10002"/>
                  </a:ext>
                </a:extLst>
              </a:tr>
              <a:tr h="360000">
                <a:tc>
                  <a:txBody>
                    <a:bodyPr/>
                    <a:lstStyle/>
                    <a:p>
                      <a:pPr algn="ctr">
                        <a:lnSpc>
                          <a:spcPct val="100000"/>
                        </a:lnSpc>
                        <a:spcBef>
                          <a:spcPts val="0"/>
                        </a:spcBef>
                        <a:spcAft>
                          <a:spcPts val="0"/>
                        </a:spcAft>
                      </a:pPr>
                      <a:r>
                        <a:rPr sz="1200" b="0">
                          <a:solidFill>
                            <a:srgbClr val="222222"/>
                          </a:solidFill>
                          <a:latin typeface="Calibri"/>
                        </a:rPr>
                        <a:t>3</a:t>
                      </a:r>
                    </a:p>
                  </a:txBody>
                  <a:tcPr marL="73152" marR="73152" marT="36576" marB="36576" anchor="ctr">
                    <a:lnL w="6350">
                      <a:solidFill>
                        <a:srgbClr val="C5D5EC"/>
                      </a:solidFill>
                    </a:lnL>
                    <a:lnR w="6350">
                      <a:solidFill>
                        <a:srgbClr val="C5D5EC"/>
                      </a:solidFill>
                    </a:lnR>
                    <a:lnT w="6350">
                      <a:solidFill>
                        <a:srgbClr val="C5D5EC"/>
                      </a:solidFill>
                    </a:lnT>
                    <a:lnB w="6350">
                      <a:solidFill>
                        <a:srgbClr val="C5D5EC"/>
                      </a:solidFill>
                    </a:lnB>
                    <a:solidFill>
                      <a:srgbClr val="FFFFFF"/>
                    </a:solidFill>
                  </a:tcPr>
                </a:tc>
                <a:tc>
                  <a:txBody>
                    <a:bodyPr/>
                    <a:lstStyle/>
                    <a:p>
                      <a:pPr algn="ctr">
                        <a:lnSpc>
                          <a:spcPct val="100000"/>
                        </a:lnSpc>
                        <a:spcBef>
                          <a:spcPts val="0"/>
                        </a:spcBef>
                        <a:spcAft>
                          <a:spcPts val="0"/>
                        </a:spcAft>
                      </a:pPr>
                      <a:r>
                        <a:rPr sz="1200" b="1">
                          <a:solidFill>
                            <a:srgbClr val="1B2B4B"/>
                          </a:solidFill>
                          <a:latin typeface="Calibri"/>
                        </a:rPr>
                        <a:t>01fe24bci021</a:t>
                      </a:r>
                    </a:p>
                  </a:txBody>
                  <a:tcPr marL="73152" marR="73152" marT="36576" marB="36576" anchor="ctr">
                    <a:lnL w="6350">
                      <a:solidFill>
                        <a:srgbClr val="C5D5EC"/>
                      </a:solidFill>
                    </a:lnL>
                    <a:lnR w="6350">
                      <a:solidFill>
                        <a:srgbClr val="C5D5EC"/>
                      </a:solidFill>
                    </a:lnR>
                    <a:lnT w="6350">
                      <a:solidFill>
                        <a:srgbClr val="C5D5EC"/>
                      </a:solidFill>
                    </a:lnT>
                    <a:lnB w="6350">
                      <a:solidFill>
                        <a:srgbClr val="C5D5EC"/>
                      </a:solidFill>
                    </a:lnB>
                    <a:solidFill>
                      <a:srgbClr val="FFFFFF"/>
                    </a:solidFill>
                  </a:tcPr>
                </a:tc>
                <a:tc>
                  <a:txBody>
                    <a:bodyPr/>
                    <a:lstStyle/>
                    <a:p>
                      <a:pPr algn="ctr">
                        <a:lnSpc>
                          <a:spcPct val="100000"/>
                        </a:lnSpc>
                        <a:spcBef>
                          <a:spcPts val="0"/>
                        </a:spcBef>
                        <a:spcAft>
                          <a:spcPts val="0"/>
                        </a:spcAft>
                      </a:pPr>
                      <a:r>
                        <a:rPr sz="1200" b="0">
                          <a:solidFill>
                            <a:srgbClr val="222222"/>
                          </a:solidFill>
                          <a:latin typeface="Calibri"/>
                        </a:rPr>
                        <a:t>Joel Biju</a:t>
                      </a:r>
                    </a:p>
                  </a:txBody>
                  <a:tcPr marL="73152" marR="73152" marT="36576" marB="36576" anchor="ctr">
                    <a:lnL w="6350">
                      <a:solidFill>
                        <a:srgbClr val="C5D5EC"/>
                      </a:solidFill>
                    </a:lnL>
                    <a:lnR w="6350">
                      <a:solidFill>
                        <a:srgbClr val="C5D5EC"/>
                      </a:solidFill>
                    </a:lnR>
                    <a:lnT w="6350">
                      <a:solidFill>
                        <a:srgbClr val="C5D5EC"/>
                      </a:solidFill>
                    </a:lnT>
                    <a:lnB w="6350">
                      <a:solidFill>
                        <a:srgbClr val="C5D5EC"/>
                      </a:solidFill>
                    </a:lnB>
                    <a:solidFill>
                      <a:srgbClr val="FFFFFF"/>
                    </a:solidFill>
                  </a:tcPr>
                </a:tc>
                <a:extLst>
                  <a:ext uri="{0D108BD9-81ED-4DB2-BD59-A6C34878D82A}">
                    <a16:rowId xmlns:a16="http://schemas.microsoft.com/office/drawing/2014/main" val="10003"/>
                  </a:ext>
                </a:extLst>
              </a:tr>
              <a:tr h="360000">
                <a:tc>
                  <a:txBody>
                    <a:bodyPr/>
                    <a:lstStyle/>
                    <a:p>
                      <a:pPr algn="ctr">
                        <a:lnSpc>
                          <a:spcPct val="100000"/>
                        </a:lnSpc>
                        <a:spcBef>
                          <a:spcPts val="0"/>
                        </a:spcBef>
                        <a:spcAft>
                          <a:spcPts val="0"/>
                        </a:spcAft>
                      </a:pPr>
                      <a:r>
                        <a:rPr sz="1200" b="0">
                          <a:solidFill>
                            <a:srgbClr val="222222"/>
                          </a:solidFill>
                          <a:latin typeface="Calibri"/>
                        </a:rPr>
                        <a:t>4</a:t>
                      </a:r>
                    </a:p>
                  </a:txBody>
                  <a:tcPr marL="73152" marR="73152" marT="36576" marB="36576" anchor="ctr">
                    <a:lnL w="6350">
                      <a:solidFill>
                        <a:srgbClr val="C5D5EC"/>
                      </a:solidFill>
                    </a:lnL>
                    <a:lnR w="6350">
                      <a:solidFill>
                        <a:srgbClr val="C5D5EC"/>
                      </a:solidFill>
                    </a:lnR>
                    <a:lnT w="6350">
                      <a:solidFill>
                        <a:srgbClr val="C5D5EC"/>
                      </a:solidFill>
                    </a:lnT>
                    <a:lnB w="6350">
                      <a:solidFill>
                        <a:srgbClr val="C5D5EC"/>
                      </a:solidFill>
                    </a:lnB>
                    <a:solidFill>
                      <a:srgbClr val="FFFFFF"/>
                    </a:solidFill>
                  </a:tcPr>
                </a:tc>
                <a:tc>
                  <a:txBody>
                    <a:bodyPr/>
                    <a:lstStyle/>
                    <a:p>
                      <a:pPr algn="ctr">
                        <a:lnSpc>
                          <a:spcPct val="100000"/>
                        </a:lnSpc>
                        <a:spcBef>
                          <a:spcPts val="0"/>
                        </a:spcBef>
                        <a:spcAft>
                          <a:spcPts val="0"/>
                        </a:spcAft>
                      </a:pPr>
                      <a:r>
                        <a:rPr sz="1200" b="1">
                          <a:solidFill>
                            <a:srgbClr val="1B2B4B"/>
                          </a:solidFill>
                          <a:latin typeface="Calibri"/>
                        </a:rPr>
                        <a:t>01fe22bci009</a:t>
                      </a:r>
                    </a:p>
                  </a:txBody>
                  <a:tcPr marL="73152" marR="73152" marT="36576" marB="36576" anchor="ctr">
                    <a:lnL w="6350">
                      <a:solidFill>
                        <a:srgbClr val="C5D5EC"/>
                      </a:solidFill>
                    </a:lnL>
                    <a:lnR w="6350">
                      <a:solidFill>
                        <a:srgbClr val="C5D5EC"/>
                      </a:solidFill>
                    </a:lnR>
                    <a:lnT w="6350">
                      <a:solidFill>
                        <a:srgbClr val="C5D5EC"/>
                      </a:solidFill>
                    </a:lnT>
                    <a:lnB w="6350">
                      <a:solidFill>
                        <a:srgbClr val="C5D5EC"/>
                      </a:solidFill>
                    </a:lnB>
                    <a:solidFill>
                      <a:srgbClr val="FFFFFF"/>
                    </a:solidFill>
                  </a:tcPr>
                </a:tc>
                <a:tc>
                  <a:txBody>
                    <a:bodyPr/>
                    <a:lstStyle/>
                    <a:p>
                      <a:pPr algn="ctr">
                        <a:lnSpc>
                          <a:spcPct val="100000"/>
                        </a:lnSpc>
                        <a:spcBef>
                          <a:spcPts val="0"/>
                        </a:spcBef>
                        <a:spcAft>
                          <a:spcPts val="0"/>
                        </a:spcAft>
                      </a:pPr>
                      <a:r>
                        <a:rPr sz="1200" b="0">
                          <a:solidFill>
                            <a:srgbClr val="222222"/>
                          </a:solidFill>
                          <a:latin typeface="Calibri"/>
                        </a:rPr>
                        <a:t>Ishani G</a:t>
                      </a:r>
                    </a:p>
                  </a:txBody>
                  <a:tcPr marL="73152" marR="73152" marT="36576" marB="36576" anchor="ctr">
                    <a:lnL w="6350">
                      <a:solidFill>
                        <a:srgbClr val="C5D5EC"/>
                      </a:solidFill>
                    </a:lnL>
                    <a:lnR w="6350">
                      <a:solidFill>
                        <a:srgbClr val="C5D5EC"/>
                      </a:solidFill>
                    </a:lnR>
                    <a:lnT w="6350">
                      <a:solidFill>
                        <a:srgbClr val="C5D5EC"/>
                      </a:solidFill>
                    </a:lnT>
                    <a:lnB w="6350">
                      <a:solidFill>
                        <a:srgbClr val="C5D5EC"/>
                      </a:solidFill>
                    </a:lnB>
                    <a:solidFill>
                      <a:srgbClr val="FFFFFF"/>
                    </a:solidFill>
                  </a:tcPr>
                </a:tc>
                <a:extLst>
                  <a:ext uri="{0D108BD9-81ED-4DB2-BD59-A6C34878D82A}">
                    <a16:rowId xmlns:a16="http://schemas.microsoft.com/office/drawing/2014/main" val="10004"/>
                  </a:ext>
                </a:extLst>
              </a:tr>
            </a:tbl>
          </a:graphicData>
        </a:graphic>
      </p:graphicFrame>
      <p:pic>
        <p:nvPicPr>
          <p:cNvPr id="7" name="Picture 6">
            <a:extLst>
              <a:ext uri="{FF2B5EF4-FFF2-40B4-BE49-F238E27FC236}">
                <a16:creationId xmlns:a16="http://schemas.microsoft.com/office/drawing/2014/main" id="{0D74FFEC-6BC9-DCD6-689B-696B333D82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02760" y="91473"/>
            <a:ext cx="2389239" cy="406304"/>
          </a:xfrm>
          <a:prstGeom prst="rect">
            <a:avLst/>
          </a:prstGeom>
        </p:spPr>
      </p:pic>
    </p:spTree>
    <p:extLst>
      <p:ext uri="{BB962C8B-B14F-4D97-AF65-F5344CB8AC3E}">
        <p14:creationId xmlns:p14="http://schemas.microsoft.com/office/powerpoint/2010/main" val="24993795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3"/>
          </p:nvPr>
        </p:nvSpPr>
        <p:spPr/>
        <p:txBody>
          <a:bodyPr lIns="0"/>
          <a:lstStyle/>
          <a:p>
            <a:r>
              <a:t>Use Cases and User Stories (1 of 2)</a:t>
            </a:r>
          </a:p>
        </p:txBody>
      </p:sp>
      <p:sp>
        <p:nvSpPr>
          <p:cNvPr id="3" name="Section tag"/>
          <p:cNvSpPr txBox="1"/>
          <p:nvPr/>
        </p:nvSpPr>
        <p:spPr>
          <a:xfrm>
            <a:off x="548640" y="91440"/>
            <a:ext cx="8778240" cy="201168"/>
          </a:xfrm>
          <a:prstGeom prst="rect">
            <a:avLst/>
          </a:prstGeom>
          <a:noFill/>
        </p:spPr>
        <p:txBody>
          <a:bodyPr wrap="square" lIns="0" tIns="0" rIns="0" bIns="0" anchor="t">
            <a:spAutoFit/>
          </a:bodyPr>
          <a:lstStyle/>
          <a:p>
            <a:pPr algn="l">
              <a:lnSpc>
                <a:spcPct val="100000"/>
              </a:lnSpc>
              <a:spcAft>
                <a:spcPts val="0"/>
              </a:spcAft>
            </a:pPr>
            <a:r>
              <a:rPr sz="1000" b="1" i="0">
                <a:solidFill>
                  <a:srgbClr val="B3282D"/>
                </a:solidFill>
                <a:latin typeface="Calibri"/>
              </a:rPr>
              <a:t>B · REQUIREMENTS (SRS)</a:t>
            </a:r>
          </a:p>
        </p:txBody>
      </p:sp>
      <p:sp>
        <p:nvSpPr>
          <p:cNvPr id="4" name="Subtitle"/>
          <p:cNvSpPr txBox="1"/>
          <p:nvPr/>
        </p:nvSpPr>
        <p:spPr>
          <a:xfrm>
            <a:off x="548640" y="932688"/>
            <a:ext cx="10515600" cy="320040"/>
          </a:xfrm>
          <a:prstGeom prst="rect">
            <a:avLst/>
          </a:prstGeom>
          <a:noFill/>
        </p:spPr>
        <p:txBody>
          <a:bodyPr wrap="square" lIns="0" tIns="0" rIns="0" bIns="0" anchor="t">
            <a:spAutoFit/>
          </a:bodyPr>
          <a:lstStyle/>
          <a:p>
            <a:pPr algn="l">
              <a:lnSpc>
                <a:spcPct val="100000"/>
              </a:lnSpc>
              <a:spcAft>
                <a:spcPts val="0"/>
              </a:spcAft>
            </a:pPr>
            <a:r>
              <a:rPr sz="1300" b="1" i="0">
                <a:solidFill>
                  <a:srgbClr val="1F4E9E"/>
                </a:solidFill>
                <a:latin typeface="Calibri"/>
              </a:rPr>
              <a:t>Ten use cases covering normal, boundary, and exception execution paths</a:t>
            </a:r>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475"/>
                </a:solidFill>
                <a:latin typeface="Calibri"/>
                <a:ea typeface="Calibri"/>
                <a:cs typeface="Calibri"/>
              </a:defRPr>
            </a:lvl1pPr>
          </a:lstStyle>
          <a:p>
            <a:pPr algn="r"/>
            <a:fld id="{F7021451-1387-4CA6-816F-3879F97B5CBC}" type="slidenum">
              <a:rPr lang="en-US" b="0"/>
              <a:t>2</a:t>
            </a:fld>
            <a:endParaRPr lang="en-US"/>
          </a:p>
        </p:txBody>
      </p:sp>
      <p:graphicFrame>
        <p:nvGraphicFramePr>
          <p:cNvPr id="26" name="Use case table 1"/>
          <p:cNvGraphicFramePr>
            <a:graphicFrameLocks noGrp="1"/>
          </p:cNvGraphicFramePr>
          <p:nvPr/>
        </p:nvGraphicFramePr>
        <p:xfrm>
          <a:off x="548640" y="1371600"/>
          <a:ext cx="11155680" cy="4864608"/>
        </p:xfrm>
        <a:graphic>
          <a:graphicData uri="http://schemas.openxmlformats.org/drawingml/2006/table">
            <a:tbl>
              <a:tblPr>
                <a:tableStyleId>{2D5ABB26-0587-4C30-8999-92F81FD0307C}</a:tableStyleId>
              </a:tblPr>
              <a:tblGrid>
                <a:gridCol w="6858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4572000">
                  <a:extLst>
                    <a:ext uri="{9D8B030D-6E8A-4147-A177-3AD203B41FA5}">
                      <a16:colId xmlns:a16="http://schemas.microsoft.com/office/drawing/2014/main" val="20003"/>
                    </a:ext>
                  </a:extLst>
                </a:gridCol>
                <a:gridCol w="3063240">
                  <a:extLst>
                    <a:ext uri="{9D8B030D-6E8A-4147-A177-3AD203B41FA5}">
                      <a16:colId xmlns:a16="http://schemas.microsoft.com/office/drawing/2014/main" val="20004"/>
                    </a:ext>
                  </a:extLst>
                </a:gridCol>
              </a:tblGrid>
              <a:tr h="384048">
                <a:tc>
                  <a:txBody>
                    <a:bodyPr/>
                    <a:lstStyle/>
                    <a:p>
                      <a:r>
                        <a:rPr sz="1200" b="1" i="0">
                          <a:solidFill>
                            <a:srgbClr val="FFFFFF"/>
                          </a:solidFill>
                          <a:latin typeface="Calibri"/>
                        </a:rPr>
                        <a:t>ID</a:t>
                      </a:r>
                    </a:p>
                  </a:txBody>
                  <a:tcPr anchor="ctr">
                    <a:lnL w="0">
                      <a:noFill/>
                    </a:lnL>
                    <a:lnR w="0">
                      <a:noFill/>
                    </a:lnR>
                    <a:lnT w="0">
                      <a:noFill/>
                    </a:lnT>
                    <a:lnB w="6350">
                      <a:solidFill>
                        <a:srgbClr val="D5DBE6"/>
                      </a:solidFill>
                    </a:lnB>
                    <a:solidFill>
                      <a:srgbClr val="1B2B4B"/>
                    </a:solidFill>
                  </a:tcPr>
                </a:tc>
                <a:tc>
                  <a:txBody>
                    <a:bodyPr/>
                    <a:lstStyle/>
                    <a:p>
                      <a:r>
                        <a:rPr sz="1200" b="1" i="0">
                          <a:solidFill>
                            <a:srgbClr val="FFFFFF"/>
                          </a:solidFill>
                          <a:latin typeface="Calibri"/>
                        </a:rPr>
                        <a:t>Actor</a:t>
                      </a:r>
                    </a:p>
                  </a:txBody>
                  <a:tcPr anchor="ctr">
                    <a:lnL w="0">
                      <a:noFill/>
                    </a:lnL>
                    <a:lnR w="0">
                      <a:noFill/>
                    </a:lnR>
                    <a:lnT w="0">
                      <a:noFill/>
                    </a:lnT>
                    <a:lnB w="6350">
                      <a:solidFill>
                        <a:srgbClr val="D5DBE6"/>
                      </a:solidFill>
                    </a:lnB>
                    <a:solidFill>
                      <a:srgbClr val="1B2B4B"/>
                    </a:solidFill>
                  </a:tcPr>
                </a:tc>
                <a:tc>
                  <a:txBody>
                    <a:bodyPr/>
                    <a:lstStyle/>
                    <a:p>
                      <a:r>
                        <a:rPr sz="1200" b="1" i="0">
                          <a:solidFill>
                            <a:srgbClr val="FFFFFF"/>
                          </a:solidFill>
                          <a:latin typeface="Calibri"/>
                        </a:rPr>
                        <a:t>Use Case / User Story</a:t>
                      </a:r>
                    </a:p>
                  </a:txBody>
                  <a:tcPr anchor="ctr">
                    <a:lnL w="0">
                      <a:noFill/>
                    </a:lnL>
                    <a:lnR w="0">
                      <a:noFill/>
                    </a:lnR>
                    <a:lnT w="0">
                      <a:noFill/>
                    </a:lnT>
                    <a:lnB w="6350">
                      <a:solidFill>
                        <a:srgbClr val="D5DBE6"/>
                      </a:solidFill>
                    </a:lnB>
                    <a:solidFill>
                      <a:srgbClr val="1B2B4B"/>
                    </a:solidFill>
                  </a:tcPr>
                </a:tc>
                <a:tc>
                  <a:txBody>
                    <a:bodyPr/>
                    <a:lstStyle/>
                    <a:p>
                      <a:r>
                        <a:rPr sz="1200" b="1" i="0">
                          <a:solidFill>
                            <a:srgbClr val="FFFFFF"/>
                          </a:solidFill>
                          <a:latin typeface="Calibri"/>
                        </a:rPr>
                        <a:t>Normal / Main Flow</a:t>
                      </a:r>
                    </a:p>
                  </a:txBody>
                  <a:tcPr anchor="ctr">
                    <a:lnL w="0">
                      <a:noFill/>
                    </a:lnL>
                    <a:lnR w="0">
                      <a:noFill/>
                    </a:lnR>
                    <a:lnT w="0">
                      <a:noFill/>
                    </a:lnT>
                    <a:lnB w="6350">
                      <a:solidFill>
                        <a:srgbClr val="D5DBE6"/>
                      </a:solidFill>
                    </a:lnB>
                    <a:solidFill>
                      <a:srgbClr val="1B2B4B"/>
                    </a:solidFill>
                  </a:tcPr>
                </a:tc>
                <a:tc>
                  <a:txBody>
                    <a:bodyPr/>
                    <a:lstStyle/>
                    <a:p>
                      <a:r>
                        <a:rPr sz="1200" b="1" i="0">
                          <a:solidFill>
                            <a:srgbClr val="FFFFFF"/>
                          </a:solidFill>
                          <a:latin typeface="Calibri"/>
                        </a:rPr>
                        <a:t>Boundary &amp; Exception Flow</a:t>
                      </a:r>
                    </a:p>
                  </a:txBody>
                  <a:tcPr anchor="ctr">
                    <a:lnL w="0">
                      <a:noFill/>
                    </a:lnL>
                    <a:lnR w="0">
                      <a:noFill/>
                    </a:lnR>
                    <a:lnT w="0">
                      <a:noFill/>
                    </a:lnT>
                    <a:lnB w="6350">
                      <a:solidFill>
                        <a:srgbClr val="D5DBE6"/>
                      </a:solidFill>
                    </a:lnB>
                    <a:solidFill>
                      <a:srgbClr val="1B2B4B"/>
                    </a:solidFill>
                  </a:tcPr>
                </a:tc>
                <a:extLst>
                  <a:ext uri="{0D108BD9-81ED-4DB2-BD59-A6C34878D82A}">
                    <a16:rowId xmlns:a16="http://schemas.microsoft.com/office/drawing/2014/main" val="10000"/>
                  </a:ext>
                </a:extLst>
              </a:tr>
              <a:tr h="896112">
                <a:tc>
                  <a:txBody>
                    <a:bodyPr/>
                    <a:lstStyle/>
                    <a:p>
                      <a:r>
                        <a:rPr sz="1200" b="1" i="0">
                          <a:solidFill>
                            <a:srgbClr val="1B2B4B"/>
                          </a:solidFill>
                          <a:latin typeface="Calibri"/>
                        </a:rPr>
                        <a:t>UC-01</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tc>
                  <a:txBody>
                    <a:bodyPr/>
                    <a:lstStyle/>
                    <a:p>
                      <a:r>
                        <a:rPr sz="1200" b="0" i="0">
                          <a:solidFill>
                            <a:srgbClr val="222222"/>
                          </a:solidFill>
                          <a:latin typeface="Calibri"/>
                        </a:rPr>
                        <a:t>DNS Client</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tc>
                  <a:txBody>
                    <a:bodyPr/>
                    <a:lstStyle/>
                    <a:p>
                      <a:r>
                        <a:rPr sz="1200" b="0" i="0">
                          <a:solidFill>
                            <a:srgbClr val="222222"/>
                          </a:solidFill>
                          <a:latin typeface="Calibri"/>
                        </a:rPr>
                        <a:t>Resolve Uncached Domain (Cache Miss)</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tc>
                  <a:txBody>
                    <a:bodyPr/>
                    <a:lstStyle/>
                    <a:p>
                      <a:r>
                        <a:rPr sz="1200" b="0" i="0">
                          <a:solidFill>
                            <a:srgbClr val="222222"/>
                          </a:solidFill>
                          <a:latin typeface="Calibri"/>
                        </a:rPr>
                        <a:t>Client sends query for new domain → Resolver checks cache → Cache Miss detected → Resolver forwards query to upstream within 2.0s deadline → Upstream returns answer → Resolver commits to Cache → Transmits answer to Client.</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tc>
                  <a:txBody>
                    <a:bodyPr/>
                    <a:lstStyle/>
                    <a:p>
                      <a:r>
                        <a:rPr sz="1200" b="0" i="0">
                          <a:solidFill>
                            <a:srgbClr val="222222"/>
                          </a:solidFill>
                          <a:latin typeface="Calibri"/>
                        </a:rPr>
                        <a:t>2.0s upstream deadline expires → Terminate resolution → Return SERVFAIL.</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extLst>
                  <a:ext uri="{0D108BD9-81ED-4DB2-BD59-A6C34878D82A}">
                    <a16:rowId xmlns:a16="http://schemas.microsoft.com/office/drawing/2014/main" val="10001"/>
                  </a:ext>
                </a:extLst>
              </a:tr>
              <a:tr h="896112">
                <a:tc>
                  <a:txBody>
                    <a:bodyPr/>
                    <a:lstStyle/>
                    <a:p>
                      <a:r>
                        <a:rPr sz="1200" b="1" i="0">
                          <a:solidFill>
                            <a:srgbClr val="1B2B4B"/>
                          </a:solidFill>
                          <a:latin typeface="Calibri"/>
                        </a:rPr>
                        <a:t>UC-02</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4F6F9"/>
                    </a:solidFill>
                  </a:tcPr>
                </a:tc>
                <a:tc>
                  <a:txBody>
                    <a:bodyPr/>
                    <a:lstStyle/>
                    <a:p>
                      <a:r>
                        <a:rPr sz="1200" b="0" i="0">
                          <a:solidFill>
                            <a:srgbClr val="222222"/>
                          </a:solidFill>
                          <a:latin typeface="Calibri"/>
                        </a:rPr>
                        <a:t>DNS Client</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4F6F9"/>
                    </a:solidFill>
                  </a:tcPr>
                </a:tc>
                <a:tc>
                  <a:txBody>
                    <a:bodyPr/>
                    <a:lstStyle/>
                    <a:p>
                      <a:r>
                        <a:rPr sz="1200" b="0" i="0">
                          <a:solidFill>
                            <a:srgbClr val="222222"/>
                          </a:solidFill>
                          <a:latin typeface="Calibri"/>
                        </a:rPr>
                        <a:t>Resolve Cached Domain (Cache Hit)</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4F6F9"/>
                    </a:solidFill>
                  </a:tcPr>
                </a:tc>
                <a:tc>
                  <a:txBody>
                    <a:bodyPr/>
                    <a:lstStyle/>
                    <a:p>
                      <a:r>
                        <a:rPr sz="1200" b="0" i="0">
                          <a:solidFill>
                            <a:srgbClr val="222222"/>
                          </a:solidFill>
                          <a:latin typeface="Calibri"/>
                        </a:rPr>
                        <a:t>Client sends query for domain → Resolver checks cache → (TTL_orig - elapsed_time) &gt; 0 → Dynamically assign remaining TTL → Transmit cached response (target: &lt; 1 ms).</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4F6F9"/>
                    </a:solidFill>
                  </a:tcPr>
                </a:tc>
                <a:tc>
                  <a:txBody>
                    <a:bodyPr/>
                    <a:lstStyle/>
                    <a:p>
                      <a:r>
                        <a:rPr sz="1200" b="0" i="0">
                          <a:solidFill>
                            <a:srgbClr val="222222"/>
                          </a:solidFill>
                          <a:latin typeface="Calibri"/>
                        </a:rPr>
                        <a:t>(TTL_orig - elapsed_time) ≤ 0 → Evict expired entry → Treat as Cache Miss → Trigger external resolution → Update cache.</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4F6F9"/>
                    </a:solidFill>
                  </a:tcPr>
                </a:tc>
                <a:extLst>
                  <a:ext uri="{0D108BD9-81ED-4DB2-BD59-A6C34878D82A}">
                    <a16:rowId xmlns:a16="http://schemas.microsoft.com/office/drawing/2014/main" val="10002"/>
                  </a:ext>
                </a:extLst>
              </a:tr>
              <a:tr h="896112">
                <a:tc>
                  <a:txBody>
                    <a:bodyPr/>
                    <a:lstStyle/>
                    <a:p>
                      <a:r>
                        <a:rPr sz="1200" b="1" i="0">
                          <a:solidFill>
                            <a:srgbClr val="1B2B4B"/>
                          </a:solidFill>
                          <a:latin typeface="Calibri"/>
                        </a:rPr>
                        <a:t>UC-03</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tc>
                  <a:txBody>
                    <a:bodyPr/>
                    <a:lstStyle/>
                    <a:p>
                      <a:r>
                        <a:rPr sz="1200" b="0" i="0">
                          <a:solidFill>
                            <a:srgbClr val="222222"/>
                          </a:solidFill>
                          <a:latin typeface="Calibri"/>
                        </a:rPr>
                        <a:t>DNS Client</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tc>
                  <a:txBody>
                    <a:bodyPr/>
                    <a:lstStyle/>
                    <a:p>
                      <a:r>
                        <a:rPr sz="1200" b="0" i="0">
                          <a:solidFill>
                            <a:srgbClr val="222222"/>
                          </a:solidFill>
                          <a:latin typeface="Calibri"/>
                        </a:rPr>
                        <a:t>Query for Non-Existent Domain (NXDOMAIN)</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tc>
                  <a:txBody>
                    <a:bodyPr/>
                    <a:lstStyle/>
                    <a:p>
                      <a:r>
                        <a:rPr sz="1200" b="0" i="0">
                          <a:solidFill>
                            <a:srgbClr val="222222"/>
                          </a:solidFill>
                          <a:latin typeface="Calibri"/>
                        </a:rPr>
                        <a:t>Client queries non-existent domain → Upstream returns NXDOMAIN (RCODE 3) → Resolver applies RFC 2308 negative caching, with TTL derived from the SOA record → Returns NXDOMAIN to client.</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tc>
                  <a:txBody>
                    <a:bodyPr/>
                    <a:lstStyle/>
                    <a:p>
                      <a:r>
                        <a:rPr sz="1200" b="0" i="0">
                          <a:solidFill>
                            <a:srgbClr val="222222"/>
                          </a:solidFill>
                          <a:latin typeface="Calibri"/>
                        </a:rPr>
                        <a:t>Upstream deadline expires before SOA received → Return SERVFAIL.</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extLst>
                  <a:ext uri="{0D108BD9-81ED-4DB2-BD59-A6C34878D82A}">
                    <a16:rowId xmlns:a16="http://schemas.microsoft.com/office/drawing/2014/main" val="10003"/>
                  </a:ext>
                </a:extLst>
              </a:tr>
              <a:tr h="896112">
                <a:tc>
                  <a:txBody>
                    <a:bodyPr/>
                    <a:lstStyle/>
                    <a:p>
                      <a:r>
                        <a:rPr sz="1200" b="1" i="0">
                          <a:solidFill>
                            <a:srgbClr val="1B2B4B"/>
                          </a:solidFill>
                          <a:latin typeface="Calibri"/>
                        </a:rPr>
                        <a:t>UC-04</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4F6F9"/>
                    </a:solidFill>
                  </a:tcPr>
                </a:tc>
                <a:tc>
                  <a:txBody>
                    <a:bodyPr/>
                    <a:lstStyle/>
                    <a:p>
                      <a:r>
                        <a:rPr sz="1200" b="0" i="0">
                          <a:solidFill>
                            <a:srgbClr val="222222"/>
                          </a:solidFill>
                          <a:latin typeface="Calibri"/>
                        </a:rPr>
                        <a:t>DNS Client</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4F6F9"/>
                    </a:solidFill>
                  </a:tcPr>
                </a:tc>
                <a:tc>
                  <a:txBody>
                    <a:bodyPr/>
                    <a:lstStyle/>
                    <a:p>
                      <a:r>
                        <a:rPr sz="1200" b="0" i="0">
                          <a:solidFill>
                            <a:srgbClr val="222222"/>
                          </a:solidFill>
                          <a:latin typeface="Calibri"/>
                        </a:rPr>
                        <a:t>Process Malformed / Corrupt Wire Packet</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4F6F9"/>
                    </a:solidFill>
                  </a:tcPr>
                </a:tc>
                <a:tc>
                  <a:txBody>
                    <a:bodyPr/>
                    <a:lstStyle/>
                    <a:p>
                      <a:r>
                        <a:rPr sz="1200" b="0" i="0">
                          <a:solidFill>
                            <a:srgbClr val="222222"/>
                          </a:solidFill>
                          <a:latin typeface="Calibri"/>
                        </a:rPr>
                        <a:t>Client transmits datagram ≥ 12 bytes with corrupt syntax → Protocol engine validates header → Extracts Query ID → Emits structured FORMERR response (RCODE 1).</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4F6F9"/>
                    </a:solidFill>
                  </a:tcPr>
                </a:tc>
                <a:tc>
                  <a:txBody>
                    <a:bodyPr/>
                    <a:lstStyle/>
                    <a:p>
                      <a:r>
                        <a:rPr sz="1200" b="0" i="0">
                          <a:solidFill>
                            <a:srgbClr val="222222"/>
                          </a:solidFill>
                          <a:latin typeface="Calibri"/>
                        </a:rPr>
                        <a:t>Datagram &lt; 12 bytes (sub-header truncation) → Drop packet silently to prevent UDP amplification.</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4F6F9"/>
                    </a:solidFill>
                  </a:tcPr>
                </a:tc>
                <a:extLst>
                  <a:ext uri="{0D108BD9-81ED-4DB2-BD59-A6C34878D82A}">
                    <a16:rowId xmlns:a16="http://schemas.microsoft.com/office/drawing/2014/main" val="10004"/>
                  </a:ext>
                </a:extLst>
              </a:tr>
              <a:tr h="896112">
                <a:tc>
                  <a:txBody>
                    <a:bodyPr/>
                    <a:lstStyle/>
                    <a:p>
                      <a:r>
                        <a:rPr sz="1200" b="1" i="0">
                          <a:solidFill>
                            <a:srgbClr val="1B2B4B"/>
                          </a:solidFill>
                          <a:latin typeface="Calibri"/>
                        </a:rPr>
                        <a:t>UC-05</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tc>
                  <a:txBody>
                    <a:bodyPr/>
                    <a:lstStyle/>
                    <a:p>
                      <a:r>
                        <a:rPr sz="1200" b="0" i="0">
                          <a:solidFill>
                            <a:srgbClr val="222222"/>
                          </a:solidFill>
                          <a:latin typeface="Calibri"/>
                        </a:rPr>
                        <a:t>Cache Subsystem</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tc>
                  <a:txBody>
                    <a:bodyPr/>
                    <a:lstStyle/>
                    <a:p>
                      <a:r>
                        <a:rPr sz="1200" b="0" i="0">
                          <a:solidFill>
                            <a:srgbClr val="222222"/>
                          </a:solidFill>
                          <a:latin typeface="Calibri"/>
                        </a:rPr>
                        <a:t>Proactive TTL Expiration Sweep</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tc>
                  <a:txBody>
                    <a:bodyPr/>
                    <a:lstStyle/>
                    <a:p>
                      <a:r>
                        <a:rPr sz="1200" b="0" i="0">
                          <a:solidFill>
                            <a:srgbClr val="222222"/>
                          </a:solidFill>
                          <a:latin typeface="Calibri"/>
                        </a:rPr>
                        <a:t>Background timer examines root of Min-Heap → Expiration timestamp ≤ Current time → Pop expired entry → Remove from cache hash map and LRU list.</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tc>
                  <a:txBody>
                    <a:bodyPr/>
                    <a:lstStyle/>
                    <a:p>
                      <a:r>
                        <a:rPr sz="1200" b="0" i="0">
                          <a:solidFill>
                            <a:srgbClr val="222222"/>
                          </a:solidFill>
                          <a:latin typeface="Calibri"/>
                        </a:rPr>
                        <a:t>Min-Heap empty → Sleep until next scheduled timer cycle.</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3"/>
          </p:nvPr>
        </p:nvSpPr>
        <p:spPr/>
        <p:txBody>
          <a:bodyPr lIns="0"/>
          <a:lstStyle/>
          <a:p>
            <a:r>
              <a:t>Use Cases and User Stories (2 of 2)</a:t>
            </a:r>
          </a:p>
        </p:txBody>
      </p:sp>
      <p:sp>
        <p:nvSpPr>
          <p:cNvPr id="3" name="Section tag"/>
          <p:cNvSpPr txBox="1"/>
          <p:nvPr/>
        </p:nvSpPr>
        <p:spPr>
          <a:xfrm>
            <a:off x="548640" y="91440"/>
            <a:ext cx="8778240" cy="201168"/>
          </a:xfrm>
          <a:prstGeom prst="rect">
            <a:avLst/>
          </a:prstGeom>
          <a:noFill/>
        </p:spPr>
        <p:txBody>
          <a:bodyPr wrap="square" lIns="0" tIns="0" rIns="0" bIns="0" anchor="t">
            <a:spAutoFit/>
          </a:bodyPr>
          <a:lstStyle/>
          <a:p>
            <a:pPr algn="l">
              <a:lnSpc>
                <a:spcPct val="100000"/>
              </a:lnSpc>
              <a:spcAft>
                <a:spcPts val="0"/>
              </a:spcAft>
            </a:pPr>
            <a:r>
              <a:rPr sz="1000" b="1" i="0">
                <a:solidFill>
                  <a:srgbClr val="B3282D"/>
                </a:solidFill>
                <a:latin typeface="Calibri"/>
              </a:rPr>
              <a:t>B · REQUIREMENTS (SRS)</a:t>
            </a:r>
          </a:p>
        </p:txBody>
      </p:sp>
      <p:sp>
        <p:nvSpPr>
          <p:cNvPr id="4" name="Subtitle"/>
          <p:cNvSpPr txBox="1"/>
          <p:nvPr/>
        </p:nvSpPr>
        <p:spPr>
          <a:xfrm>
            <a:off x="548640" y="932688"/>
            <a:ext cx="10515600" cy="320040"/>
          </a:xfrm>
          <a:prstGeom prst="rect">
            <a:avLst/>
          </a:prstGeom>
          <a:noFill/>
        </p:spPr>
        <p:txBody>
          <a:bodyPr wrap="square" lIns="0" tIns="0" rIns="0" bIns="0" anchor="t">
            <a:spAutoFit/>
          </a:bodyPr>
          <a:lstStyle/>
          <a:p>
            <a:pPr algn="l">
              <a:lnSpc>
                <a:spcPct val="100000"/>
              </a:lnSpc>
              <a:spcAft>
                <a:spcPts val="0"/>
              </a:spcAft>
            </a:pPr>
            <a:r>
              <a:rPr sz="1300" b="1" i="0">
                <a:solidFill>
                  <a:srgbClr val="1F4E9E"/>
                </a:solidFill>
                <a:latin typeface="Calibri"/>
              </a:rPr>
              <a:t>Ten use cases covering normal, boundary, and exception execution paths</a:t>
            </a:r>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475"/>
                </a:solidFill>
                <a:latin typeface="Calibri"/>
                <a:ea typeface="Calibri"/>
                <a:cs typeface="Calibri"/>
              </a:defRPr>
            </a:lvl1pPr>
          </a:lstStyle>
          <a:p>
            <a:pPr algn="r"/>
            <a:fld id="{F7021451-1387-4CA6-816F-3879F97B5CBC}" type="slidenum">
              <a:rPr lang="en-US" b="0"/>
              <a:t>3</a:t>
            </a:fld>
            <a:endParaRPr lang="en-US"/>
          </a:p>
        </p:txBody>
      </p:sp>
      <p:graphicFrame>
        <p:nvGraphicFramePr>
          <p:cNvPr id="26" name="Use case table 2"/>
          <p:cNvGraphicFramePr>
            <a:graphicFrameLocks noGrp="1"/>
          </p:cNvGraphicFramePr>
          <p:nvPr/>
        </p:nvGraphicFramePr>
        <p:xfrm>
          <a:off x="548640" y="1371600"/>
          <a:ext cx="11155680" cy="4864608"/>
        </p:xfrm>
        <a:graphic>
          <a:graphicData uri="http://schemas.openxmlformats.org/drawingml/2006/table">
            <a:tbl>
              <a:tblPr>
                <a:tableStyleId>{2D5ABB26-0587-4C30-8999-92F81FD0307C}</a:tableStyleId>
              </a:tblPr>
              <a:tblGrid>
                <a:gridCol w="6858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4572000">
                  <a:extLst>
                    <a:ext uri="{9D8B030D-6E8A-4147-A177-3AD203B41FA5}">
                      <a16:colId xmlns:a16="http://schemas.microsoft.com/office/drawing/2014/main" val="20003"/>
                    </a:ext>
                  </a:extLst>
                </a:gridCol>
                <a:gridCol w="3063240">
                  <a:extLst>
                    <a:ext uri="{9D8B030D-6E8A-4147-A177-3AD203B41FA5}">
                      <a16:colId xmlns:a16="http://schemas.microsoft.com/office/drawing/2014/main" val="20004"/>
                    </a:ext>
                  </a:extLst>
                </a:gridCol>
              </a:tblGrid>
              <a:tr h="384048">
                <a:tc>
                  <a:txBody>
                    <a:bodyPr/>
                    <a:lstStyle/>
                    <a:p>
                      <a:r>
                        <a:rPr sz="1200" b="1" i="0">
                          <a:solidFill>
                            <a:srgbClr val="FFFFFF"/>
                          </a:solidFill>
                          <a:latin typeface="Calibri"/>
                        </a:rPr>
                        <a:t>ID</a:t>
                      </a:r>
                    </a:p>
                  </a:txBody>
                  <a:tcPr anchor="ctr">
                    <a:lnL w="0">
                      <a:noFill/>
                    </a:lnL>
                    <a:lnR w="0">
                      <a:noFill/>
                    </a:lnR>
                    <a:lnT w="0">
                      <a:noFill/>
                    </a:lnT>
                    <a:lnB w="6350">
                      <a:solidFill>
                        <a:srgbClr val="D5DBE6"/>
                      </a:solidFill>
                    </a:lnB>
                    <a:solidFill>
                      <a:srgbClr val="1B2B4B"/>
                    </a:solidFill>
                  </a:tcPr>
                </a:tc>
                <a:tc>
                  <a:txBody>
                    <a:bodyPr/>
                    <a:lstStyle/>
                    <a:p>
                      <a:r>
                        <a:rPr sz="1200" b="1" i="0">
                          <a:solidFill>
                            <a:srgbClr val="FFFFFF"/>
                          </a:solidFill>
                          <a:latin typeface="Calibri"/>
                        </a:rPr>
                        <a:t>Actor</a:t>
                      </a:r>
                    </a:p>
                  </a:txBody>
                  <a:tcPr anchor="ctr">
                    <a:lnL w="0">
                      <a:noFill/>
                    </a:lnL>
                    <a:lnR w="0">
                      <a:noFill/>
                    </a:lnR>
                    <a:lnT w="0">
                      <a:noFill/>
                    </a:lnT>
                    <a:lnB w="6350">
                      <a:solidFill>
                        <a:srgbClr val="D5DBE6"/>
                      </a:solidFill>
                    </a:lnB>
                    <a:solidFill>
                      <a:srgbClr val="1B2B4B"/>
                    </a:solidFill>
                  </a:tcPr>
                </a:tc>
                <a:tc>
                  <a:txBody>
                    <a:bodyPr/>
                    <a:lstStyle/>
                    <a:p>
                      <a:r>
                        <a:rPr sz="1200" b="1" i="0">
                          <a:solidFill>
                            <a:srgbClr val="FFFFFF"/>
                          </a:solidFill>
                          <a:latin typeface="Calibri"/>
                        </a:rPr>
                        <a:t>Use Case / User Story</a:t>
                      </a:r>
                    </a:p>
                  </a:txBody>
                  <a:tcPr anchor="ctr">
                    <a:lnL w="0">
                      <a:noFill/>
                    </a:lnL>
                    <a:lnR w="0">
                      <a:noFill/>
                    </a:lnR>
                    <a:lnT w="0">
                      <a:noFill/>
                    </a:lnT>
                    <a:lnB w="6350">
                      <a:solidFill>
                        <a:srgbClr val="D5DBE6"/>
                      </a:solidFill>
                    </a:lnB>
                    <a:solidFill>
                      <a:srgbClr val="1B2B4B"/>
                    </a:solidFill>
                  </a:tcPr>
                </a:tc>
                <a:tc>
                  <a:txBody>
                    <a:bodyPr/>
                    <a:lstStyle/>
                    <a:p>
                      <a:r>
                        <a:rPr sz="1200" b="1" i="0">
                          <a:solidFill>
                            <a:srgbClr val="FFFFFF"/>
                          </a:solidFill>
                          <a:latin typeface="Calibri"/>
                        </a:rPr>
                        <a:t>Normal / Main Flow</a:t>
                      </a:r>
                    </a:p>
                  </a:txBody>
                  <a:tcPr anchor="ctr">
                    <a:lnL w="0">
                      <a:noFill/>
                    </a:lnL>
                    <a:lnR w="0">
                      <a:noFill/>
                    </a:lnR>
                    <a:lnT w="0">
                      <a:noFill/>
                    </a:lnT>
                    <a:lnB w="6350">
                      <a:solidFill>
                        <a:srgbClr val="D5DBE6"/>
                      </a:solidFill>
                    </a:lnB>
                    <a:solidFill>
                      <a:srgbClr val="1B2B4B"/>
                    </a:solidFill>
                  </a:tcPr>
                </a:tc>
                <a:tc>
                  <a:txBody>
                    <a:bodyPr/>
                    <a:lstStyle/>
                    <a:p>
                      <a:r>
                        <a:rPr sz="1200" b="1" i="0">
                          <a:solidFill>
                            <a:srgbClr val="FFFFFF"/>
                          </a:solidFill>
                          <a:latin typeface="Calibri"/>
                        </a:rPr>
                        <a:t>Boundary &amp; Exception Flow</a:t>
                      </a:r>
                    </a:p>
                  </a:txBody>
                  <a:tcPr anchor="ctr">
                    <a:lnL w="0">
                      <a:noFill/>
                    </a:lnL>
                    <a:lnR w="0">
                      <a:noFill/>
                    </a:lnR>
                    <a:lnT w="0">
                      <a:noFill/>
                    </a:lnT>
                    <a:lnB w="6350">
                      <a:solidFill>
                        <a:srgbClr val="D5DBE6"/>
                      </a:solidFill>
                    </a:lnB>
                    <a:solidFill>
                      <a:srgbClr val="1B2B4B"/>
                    </a:solidFill>
                  </a:tcPr>
                </a:tc>
                <a:extLst>
                  <a:ext uri="{0D108BD9-81ED-4DB2-BD59-A6C34878D82A}">
                    <a16:rowId xmlns:a16="http://schemas.microsoft.com/office/drawing/2014/main" val="10000"/>
                  </a:ext>
                </a:extLst>
              </a:tr>
              <a:tr h="896112">
                <a:tc>
                  <a:txBody>
                    <a:bodyPr/>
                    <a:lstStyle/>
                    <a:p>
                      <a:r>
                        <a:rPr sz="1200" b="1" i="0">
                          <a:solidFill>
                            <a:srgbClr val="1B2B4B"/>
                          </a:solidFill>
                          <a:latin typeface="Calibri"/>
                        </a:rPr>
                        <a:t>UC-06</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tc>
                  <a:txBody>
                    <a:bodyPr/>
                    <a:lstStyle/>
                    <a:p>
                      <a:r>
                        <a:rPr sz="1200" b="0" i="0">
                          <a:solidFill>
                            <a:srgbClr val="222222"/>
                          </a:solidFill>
                          <a:latin typeface="Calibri"/>
                        </a:rPr>
                        <a:t>Cache Subsystem</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tc>
                  <a:txBody>
                    <a:bodyPr/>
                    <a:lstStyle/>
                    <a:p>
                      <a:r>
                        <a:rPr sz="1200" b="0" i="0">
                          <a:solidFill>
                            <a:srgbClr val="222222"/>
                          </a:solidFill>
                          <a:latin typeface="Calibri"/>
                        </a:rPr>
                        <a:t>Capacity-Based LRU Eviction</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tc>
                  <a:txBody>
                    <a:bodyPr/>
                    <a:lstStyle/>
                    <a:p>
                      <a:r>
                        <a:rPr sz="1200" b="0" i="0">
                          <a:solidFill>
                            <a:srgbClr val="222222"/>
                          </a:solidFill>
                          <a:latin typeface="Calibri"/>
                        </a:rPr>
                        <a:t>New record insertion triggered when cache is at maximum capacity (10,000 entries) → Engine identifies least recently used tail node in doubly linked list → Evicts from list and hash map → Inserts new record.</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tc>
                  <a:txBody>
                    <a:bodyPr/>
                    <a:lstStyle/>
                    <a:p>
                      <a:r>
                        <a:rPr sz="1200" b="0" i="0">
                          <a:solidFill>
                            <a:srgbClr val="222222"/>
                          </a:solidFill>
                          <a:latin typeface="Calibri"/>
                        </a:rPr>
                        <a:t>Incoming record key already exists → In-place update value, reset TTL, and splice node to LRU head.</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extLst>
                  <a:ext uri="{0D108BD9-81ED-4DB2-BD59-A6C34878D82A}">
                    <a16:rowId xmlns:a16="http://schemas.microsoft.com/office/drawing/2014/main" val="10001"/>
                  </a:ext>
                </a:extLst>
              </a:tr>
              <a:tr h="896112">
                <a:tc>
                  <a:txBody>
                    <a:bodyPr/>
                    <a:lstStyle/>
                    <a:p>
                      <a:r>
                        <a:rPr sz="1200" b="1" i="0">
                          <a:solidFill>
                            <a:srgbClr val="1B2B4B"/>
                          </a:solidFill>
                          <a:latin typeface="Calibri"/>
                        </a:rPr>
                        <a:t>UC-07</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4F6F9"/>
                    </a:solidFill>
                  </a:tcPr>
                </a:tc>
                <a:tc>
                  <a:txBody>
                    <a:bodyPr/>
                    <a:lstStyle/>
                    <a:p>
                      <a:r>
                        <a:rPr sz="1200" b="0" i="0">
                          <a:solidFill>
                            <a:srgbClr val="222222"/>
                          </a:solidFill>
                          <a:latin typeface="Calibri"/>
                        </a:rPr>
                        <a:t>System Operator</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4F6F9"/>
                    </a:solidFill>
                  </a:tcPr>
                </a:tc>
                <a:tc>
                  <a:txBody>
                    <a:bodyPr/>
                    <a:lstStyle/>
                    <a:p>
                      <a:r>
                        <a:rPr sz="1200" b="0" i="0">
                          <a:solidFill>
                            <a:srgbClr val="222222"/>
                          </a:solidFill>
                          <a:latin typeface="Calibri"/>
                        </a:rPr>
                        <a:t>Query Resolution Telemetry &amp; Performance</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4F6F9"/>
                    </a:solidFill>
                  </a:tcPr>
                </a:tc>
                <a:tc>
                  <a:txBody>
                    <a:bodyPr/>
                    <a:lstStyle/>
                    <a:p>
                      <a:r>
                        <a:rPr sz="1200" b="0" i="0">
                          <a:solidFill>
                            <a:srgbClr val="222222"/>
                          </a:solidFill>
                          <a:latin typeface="Calibri"/>
                        </a:rPr>
                        <a:t>Operator requests system metrics → Engine queries steady_clock timestamps → Aggregates query count, hit count, miss count, hit ratio %, and latency statistics → Renders real-time dashboard.</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4F6F9"/>
                    </a:solidFill>
                  </a:tcPr>
                </a:tc>
                <a:tc>
                  <a:txBody>
                    <a:bodyPr/>
                    <a:lstStyle/>
                    <a:p>
                      <a:r>
                        <a:rPr sz="1200" b="0" i="0">
                          <a:solidFill>
                            <a:srgbClr val="222222"/>
                          </a:solidFill>
                          <a:latin typeface="Calibri"/>
                        </a:rPr>
                        <a:t>No queries received → Output zeroed baseline counters.</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4F6F9"/>
                    </a:solidFill>
                  </a:tcPr>
                </a:tc>
                <a:extLst>
                  <a:ext uri="{0D108BD9-81ED-4DB2-BD59-A6C34878D82A}">
                    <a16:rowId xmlns:a16="http://schemas.microsoft.com/office/drawing/2014/main" val="10002"/>
                  </a:ext>
                </a:extLst>
              </a:tr>
              <a:tr h="896112">
                <a:tc>
                  <a:txBody>
                    <a:bodyPr/>
                    <a:lstStyle/>
                    <a:p>
                      <a:r>
                        <a:rPr sz="1200" b="1" i="0">
                          <a:solidFill>
                            <a:srgbClr val="1B2B4B"/>
                          </a:solidFill>
                          <a:latin typeface="Calibri"/>
                        </a:rPr>
                        <a:t>UC-08</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tc>
                  <a:txBody>
                    <a:bodyPr/>
                    <a:lstStyle/>
                    <a:p>
                      <a:r>
                        <a:rPr sz="1200" b="0" i="0">
                          <a:solidFill>
                            <a:srgbClr val="222222"/>
                          </a:solidFill>
                          <a:latin typeface="Calibri"/>
                        </a:rPr>
                        <a:t>System Operator</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tc>
                  <a:txBody>
                    <a:bodyPr/>
                    <a:lstStyle/>
                    <a:p>
                      <a:r>
                        <a:rPr sz="1200" b="0" i="0">
                          <a:solidFill>
                            <a:srgbClr val="222222"/>
                          </a:solidFill>
                          <a:latin typeface="Calibri"/>
                        </a:rPr>
                        <a:t>Graceful Shutdown and Cache Snapshot</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tc>
                  <a:txBody>
                    <a:bodyPr/>
                    <a:lstStyle/>
                    <a:p>
                      <a:r>
                        <a:rPr sz="1200" b="0" i="0">
                          <a:solidFill>
                            <a:srgbClr val="222222"/>
                          </a:solidFill>
                          <a:latin typeface="Calibri"/>
                        </a:rPr>
                        <a:t>Operator sends SIGINT / Ctrl+C → Server halts UDP listener → Dumps active in-memory cache to disk snapshot (dns_cache.db) → Releases socket resources → Clean termination.</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tc>
                  <a:txBody>
                    <a:bodyPr/>
                    <a:lstStyle/>
                    <a:p>
                      <a:r>
                        <a:rPr sz="1200" b="0" i="0">
                          <a:solidFill>
                            <a:srgbClr val="222222"/>
                          </a:solidFill>
                          <a:latin typeface="Calibri"/>
                        </a:rPr>
                        <a:t>Disk write permission denied → Log critical error to stderr and exit safely.</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extLst>
                  <a:ext uri="{0D108BD9-81ED-4DB2-BD59-A6C34878D82A}">
                    <a16:rowId xmlns:a16="http://schemas.microsoft.com/office/drawing/2014/main" val="10003"/>
                  </a:ext>
                </a:extLst>
              </a:tr>
              <a:tr h="896112">
                <a:tc>
                  <a:txBody>
                    <a:bodyPr/>
                    <a:lstStyle/>
                    <a:p>
                      <a:r>
                        <a:rPr sz="1200" b="1" i="0">
                          <a:solidFill>
                            <a:srgbClr val="1B2B4B"/>
                          </a:solidFill>
                          <a:latin typeface="Calibri"/>
                        </a:rPr>
                        <a:t>UC-09</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4F6F9"/>
                    </a:solidFill>
                  </a:tcPr>
                </a:tc>
                <a:tc>
                  <a:txBody>
                    <a:bodyPr/>
                    <a:lstStyle/>
                    <a:p>
                      <a:r>
                        <a:rPr sz="1200" b="0" i="0">
                          <a:solidFill>
                            <a:srgbClr val="222222"/>
                          </a:solidFill>
                          <a:latin typeface="Calibri"/>
                        </a:rPr>
                        <a:t>System Operator</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4F6F9"/>
                    </a:solidFill>
                  </a:tcPr>
                </a:tc>
                <a:tc>
                  <a:txBody>
                    <a:bodyPr/>
                    <a:lstStyle/>
                    <a:p>
                      <a:r>
                        <a:rPr sz="1200" b="0" i="0">
                          <a:solidFill>
                            <a:srgbClr val="222222"/>
                          </a:solidFill>
                          <a:latin typeface="Calibri"/>
                        </a:rPr>
                        <a:t>Cache Warm-Up on Server Boot</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4F6F9"/>
                    </a:solidFill>
                  </a:tcPr>
                </a:tc>
                <a:tc>
                  <a:txBody>
                    <a:bodyPr/>
                    <a:lstStyle/>
                    <a:p>
                      <a:r>
                        <a:rPr sz="1200" b="0" i="0">
                          <a:solidFill>
                            <a:srgbClr val="222222"/>
                          </a:solidFill>
                          <a:latin typeface="Calibri"/>
                        </a:rPr>
                        <a:t>Server launches → Checks for valid disk snapshot file → Loads stored records into cache → Filters out expired records → Reconstructs LRU list and Min-Heap.</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4F6F9"/>
                    </a:solidFill>
                  </a:tcPr>
                </a:tc>
                <a:tc>
                  <a:txBody>
                    <a:bodyPr/>
                    <a:lstStyle/>
                    <a:p>
                      <a:r>
                        <a:rPr sz="1200" b="0" i="0">
                          <a:solidFill>
                            <a:srgbClr val="222222"/>
                          </a:solidFill>
                          <a:latin typeface="Calibri"/>
                        </a:rPr>
                        <a:t>Snapshot file missing or corrupted → Initialize fresh empty cache and log warning.</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4F6F9"/>
                    </a:solidFill>
                  </a:tcPr>
                </a:tc>
                <a:extLst>
                  <a:ext uri="{0D108BD9-81ED-4DB2-BD59-A6C34878D82A}">
                    <a16:rowId xmlns:a16="http://schemas.microsoft.com/office/drawing/2014/main" val="10004"/>
                  </a:ext>
                </a:extLst>
              </a:tr>
              <a:tr h="896112">
                <a:tc>
                  <a:txBody>
                    <a:bodyPr/>
                    <a:lstStyle/>
                    <a:p>
                      <a:r>
                        <a:rPr sz="1200" b="1" i="0">
                          <a:solidFill>
                            <a:srgbClr val="1B2B4B"/>
                          </a:solidFill>
                          <a:latin typeface="Calibri"/>
                        </a:rPr>
                        <a:t>UC-10</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tc>
                  <a:txBody>
                    <a:bodyPr/>
                    <a:lstStyle/>
                    <a:p>
                      <a:r>
                        <a:rPr sz="1200" b="0" i="0">
                          <a:solidFill>
                            <a:srgbClr val="222222"/>
                          </a:solidFill>
                          <a:latin typeface="Calibri"/>
                        </a:rPr>
                        <a:t>DNS Client</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tc>
                  <a:txBody>
                    <a:bodyPr/>
                    <a:lstStyle/>
                    <a:p>
                      <a:r>
                        <a:rPr sz="1200" b="0" i="0">
                          <a:solidFill>
                            <a:srgbClr val="222222"/>
                          </a:solidFill>
                          <a:latin typeface="Calibri"/>
                        </a:rPr>
                        <a:t>Cyclic Pointer Exploit Detection</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tc>
                  <a:txBody>
                    <a:bodyPr/>
                    <a:lstStyle/>
                    <a:p>
                      <a:r>
                        <a:rPr sz="1200" b="0" i="0">
                          <a:solidFill>
                            <a:srgbClr val="222222"/>
                          </a:solidFill>
                          <a:latin typeface="Calibri"/>
                        </a:rPr>
                        <a:t>Client transmits crafted packet containing recursive pointer loop (0xC0 pointing to self) → Protocol engine dereference counter exceeds limit (16) → Aborts loop → Returns FORMERR.</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tc>
                  <a:txBody>
                    <a:bodyPr/>
                    <a:lstStyle/>
                    <a:p>
                      <a:r>
                        <a:rPr sz="1200" b="0" i="0">
                          <a:solidFill>
                            <a:srgbClr val="222222"/>
                          </a:solidFill>
                          <a:latin typeface="Calibri"/>
                        </a:rPr>
                        <a:t>Invalid pointer offset outside packet boundary → Abort decompression safely; return FORMERR.</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4FF19EE-426B-3F36-3462-8D8D964E4C8E}"/>
              </a:ext>
            </a:extLst>
          </p:cNvPr>
          <p:cNvSpPr txBox="1"/>
          <p:nvPr/>
        </p:nvSpPr>
        <p:spPr>
          <a:xfrm>
            <a:off x="176980" y="497777"/>
            <a:ext cx="6096000" cy="523220"/>
          </a:xfrm>
          <a:prstGeom prst="rect">
            <a:avLst/>
          </a:prstGeom>
          <a:noFill/>
        </p:spPr>
        <p:txBody>
          <a:bodyPr wrap="square">
            <a:spAutoFit/>
          </a:bodyPr>
          <a:lstStyle/>
          <a:p>
            <a:r>
              <a:rPr lang="en-US" sz="2800" b="1" dirty="0">
                <a:solidFill>
                  <a:srgbClr val="1B2B4B"/>
                </a:solidFill>
                <a:latin typeface="Cambria" pitchFamily="34" charset="0"/>
                <a:ea typeface="Cambria" pitchFamily="34" charset="-122"/>
                <a:cs typeface="Cambria" pitchFamily="34" charset="-120"/>
              </a:rPr>
              <a:t>Use Case Diagram</a:t>
            </a:r>
            <a:endParaRPr lang="en-IN" dirty="0"/>
          </a:p>
        </p:txBody>
      </p:sp>
      <p:sp>
        <p:nvSpPr>
          <p:cNvPr id="7" name="TextBox 6">
            <a:extLst>
              <a:ext uri="{FF2B5EF4-FFF2-40B4-BE49-F238E27FC236}">
                <a16:creationId xmlns:a16="http://schemas.microsoft.com/office/drawing/2014/main" id="{682C11A3-B26B-23B3-8691-0A22745C35C6}"/>
              </a:ext>
            </a:extLst>
          </p:cNvPr>
          <p:cNvSpPr txBox="1"/>
          <p:nvPr/>
        </p:nvSpPr>
        <p:spPr>
          <a:xfrm>
            <a:off x="176980" y="159550"/>
            <a:ext cx="6096000" cy="261610"/>
          </a:xfrm>
          <a:prstGeom prst="rect">
            <a:avLst/>
          </a:prstGeom>
          <a:noFill/>
        </p:spPr>
        <p:txBody>
          <a:bodyPr wrap="square">
            <a:spAutoFit/>
          </a:bodyPr>
          <a:lstStyle/>
          <a:p>
            <a:r>
              <a:t>B · REQUIREMENTS (SRS)</a:t>
            </a:r>
            <a:endParaRPr lang="en-IN" dirty="0"/>
          </a:p>
        </p:txBody>
      </p:sp>
      <p:pic>
        <p:nvPicPr>
          <p:cNvPr id="9" name="Picture 8">
            <a:extLst>
              <a:ext uri="{FF2B5EF4-FFF2-40B4-BE49-F238E27FC236}">
                <a16:creationId xmlns:a16="http://schemas.microsoft.com/office/drawing/2014/main" id="{E67C00D5-EDC9-71F6-9FB7-46614ACEEA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02760" y="91473"/>
            <a:ext cx="2389239" cy="406304"/>
          </a:xfrm>
          <a:prstGeom prst="rect">
            <a:avLst/>
          </a:prstGeom>
        </p:spPr>
      </p:pic>
      <p:pic>
        <p:nvPicPr>
          <p:cNvPr id="10" name="Picture 9" descr="use_case_diagram.png"/>
          <p:cNvPicPr>
            <a:picLocks noChangeAspect="1"/>
          </p:cNvPicPr>
          <p:nvPr/>
        </p:nvPicPr>
        <p:blipFill>
          <a:blip r:embed="rId3"/>
          <a:srcRect l="4000" t="7800" r="5000" b="4000"/>
          <a:stretch>
            <a:fillRect/>
          </a:stretch>
        </p:blipFill>
        <p:spPr>
          <a:xfrm>
            <a:off x="2453317" y="1005840"/>
            <a:ext cx="7285365" cy="5029200"/>
          </a:xfrm>
          <a:prstGeom prst="rect">
            <a:avLst/>
          </a:prstGeom>
        </p:spPr>
      </p:pic>
      <p:sp>
        <p:nvSpPr>
          <p:cNvPr id="11" name="TextBox 10"/>
          <p:cNvSpPr txBox="1"/>
          <p:nvPr/>
        </p:nvSpPr>
        <p:spPr>
          <a:xfrm>
            <a:off x="1097280" y="6080760"/>
            <a:ext cx="9875520" cy="320040"/>
          </a:xfrm>
          <a:prstGeom prst="rect">
            <a:avLst/>
          </a:prstGeom>
          <a:noFill/>
        </p:spPr>
        <p:txBody>
          <a:bodyPr wrap="none">
            <a:spAutoFit/>
          </a:bodyPr>
          <a:lstStyle/>
          <a:p>
            <a:pPr algn="ctr"/>
            <a:r>
              <a:rPr sz="1000" i="1">
                <a:solidFill>
                  <a:srgbClr val="555555"/>
                </a:solidFill>
                <a:latin typeface="Calibri"/>
              </a:rPr>
              <a:t>Figure S1.1: Complete UML Use Case Model — DNS Resolver &amp; Caching Server (Themes 1–5, Team 11)</a:t>
            </a:r>
          </a:p>
        </p:txBody>
      </p:sp>
    </p:spTree>
    <p:extLst>
      <p:ext uri="{BB962C8B-B14F-4D97-AF65-F5344CB8AC3E}">
        <p14:creationId xmlns:p14="http://schemas.microsoft.com/office/powerpoint/2010/main" val="13255878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3"/>
          </p:nvPr>
        </p:nvSpPr>
        <p:spPr/>
        <p:txBody>
          <a:bodyPr lIns="0"/>
          <a:lstStyle/>
          <a:p>
            <a:r>
              <a:t>Functional Requirements (FR)</a:t>
            </a:r>
          </a:p>
        </p:txBody>
      </p:sp>
      <p:sp>
        <p:nvSpPr>
          <p:cNvPr id="3" name="Section tag"/>
          <p:cNvSpPr txBox="1"/>
          <p:nvPr/>
        </p:nvSpPr>
        <p:spPr>
          <a:xfrm>
            <a:off x="548640" y="91440"/>
            <a:ext cx="8778240" cy="201168"/>
          </a:xfrm>
          <a:prstGeom prst="rect">
            <a:avLst/>
          </a:prstGeom>
          <a:noFill/>
        </p:spPr>
        <p:txBody>
          <a:bodyPr wrap="square" lIns="0" tIns="0" rIns="0" bIns="0" anchor="t">
            <a:spAutoFit/>
          </a:bodyPr>
          <a:lstStyle/>
          <a:p>
            <a:pPr algn="l">
              <a:lnSpc>
                <a:spcPct val="100000"/>
              </a:lnSpc>
              <a:spcAft>
                <a:spcPts val="0"/>
              </a:spcAft>
            </a:pPr>
            <a:r>
              <a:rPr sz="1000" b="1" i="0">
                <a:solidFill>
                  <a:srgbClr val="B3282D"/>
                </a:solidFill>
                <a:latin typeface="Calibri"/>
              </a:rPr>
              <a:t>B · REQUIREMENTS (SRS)</a:t>
            </a:r>
          </a:p>
        </p:txBody>
      </p:sp>
      <p:sp>
        <p:nvSpPr>
          <p:cNvPr id="4" name="Subtitle"/>
          <p:cNvSpPr txBox="1"/>
          <p:nvPr/>
        </p:nvSpPr>
        <p:spPr>
          <a:xfrm>
            <a:off x="548640" y="932688"/>
            <a:ext cx="10515600" cy="320040"/>
          </a:xfrm>
          <a:prstGeom prst="rect">
            <a:avLst/>
          </a:prstGeom>
          <a:noFill/>
        </p:spPr>
        <p:txBody>
          <a:bodyPr wrap="square" lIns="0" tIns="0" rIns="0" bIns="0" anchor="t">
            <a:spAutoFit/>
          </a:bodyPr>
          <a:lstStyle/>
          <a:p>
            <a:pPr algn="l">
              <a:lnSpc>
                <a:spcPct val="100000"/>
              </a:lnSpc>
              <a:spcAft>
                <a:spcPts val="0"/>
              </a:spcAft>
            </a:pPr>
            <a:r>
              <a:rPr sz="1300" b="1" i="0">
                <a:solidFill>
                  <a:srgbClr val="1F4E9E"/>
                </a:solidFill>
                <a:latin typeface="Calibri"/>
              </a:rPr>
              <a:t>Nine functional requirements: eight mandatory, one challenge</a:t>
            </a:r>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475"/>
                </a:solidFill>
                <a:latin typeface="Calibri"/>
                <a:ea typeface="Calibri"/>
                <a:cs typeface="Calibri"/>
              </a:defRPr>
            </a:lvl1pPr>
          </a:lstStyle>
          <a:p>
            <a:pPr algn="r"/>
            <a:fld id="{F7021451-1387-4CA6-816F-3879F97B5CBC}" type="slidenum">
              <a:rPr lang="en-US" b="0"/>
              <a:t>5</a:t>
            </a:fld>
            <a:endParaRPr lang="en-US"/>
          </a:p>
        </p:txBody>
      </p:sp>
      <p:graphicFrame>
        <p:nvGraphicFramePr>
          <p:cNvPr id="26" name="FR table"/>
          <p:cNvGraphicFramePr>
            <a:graphicFrameLocks noGrp="1"/>
          </p:cNvGraphicFramePr>
          <p:nvPr/>
        </p:nvGraphicFramePr>
        <p:xfrm>
          <a:off x="548640" y="1371600"/>
          <a:ext cx="11155680" cy="4663440"/>
        </p:xfrm>
        <a:graphic>
          <a:graphicData uri="http://schemas.openxmlformats.org/drawingml/2006/table">
            <a:tbl>
              <a:tblPr>
                <a:tableStyleId>{2D5ABB26-0587-4C30-8999-92F81FD0307C}</a:tableStyleId>
              </a:tblPr>
              <a:tblGrid>
                <a:gridCol w="868680">
                  <a:extLst>
                    <a:ext uri="{9D8B030D-6E8A-4147-A177-3AD203B41FA5}">
                      <a16:colId xmlns:a16="http://schemas.microsoft.com/office/drawing/2014/main" val="20000"/>
                    </a:ext>
                  </a:extLst>
                </a:gridCol>
                <a:gridCol w="882396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384048">
                <a:tc>
                  <a:txBody>
                    <a:bodyPr/>
                    <a:lstStyle/>
                    <a:p>
                      <a:r>
                        <a:rPr sz="1200" b="1" i="0">
                          <a:solidFill>
                            <a:srgbClr val="FFFFFF"/>
                          </a:solidFill>
                          <a:latin typeface="Calibri"/>
                        </a:rPr>
                        <a:t>ID</a:t>
                      </a:r>
                    </a:p>
                  </a:txBody>
                  <a:tcPr anchor="ctr">
                    <a:lnL w="0">
                      <a:noFill/>
                    </a:lnL>
                    <a:lnR w="0">
                      <a:noFill/>
                    </a:lnR>
                    <a:lnT w="0">
                      <a:noFill/>
                    </a:lnT>
                    <a:lnB w="6350">
                      <a:solidFill>
                        <a:srgbClr val="D5DBE6"/>
                      </a:solidFill>
                    </a:lnB>
                    <a:solidFill>
                      <a:srgbClr val="1B2B4B"/>
                    </a:solidFill>
                  </a:tcPr>
                </a:tc>
                <a:tc>
                  <a:txBody>
                    <a:bodyPr/>
                    <a:lstStyle/>
                    <a:p>
                      <a:r>
                        <a:rPr sz="1200" b="1" i="0">
                          <a:solidFill>
                            <a:srgbClr val="FFFFFF"/>
                          </a:solidFill>
                          <a:latin typeface="Calibri"/>
                        </a:rPr>
                        <a:t>Functional Requirement</a:t>
                      </a:r>
                    </a:p>
                  </a:txBody>
                  <a:tcPr anchor="ctr">
                    <a:lnL w="0">
                      <a:noFill/>
                    </a:lnL>
                    <a:lnR w="0">
                      <a:noFill/>
                    </a:lnR>
                    <a:lnT w="0">
                      <a:noFill/>
                    </a:lnT>
                    <a:lnB w="6350">
                      <a:solidFill>
                        <a:srgbClr val="D5DBE6"/>
                      </a:solidFill>
                    </a:lnB>
                    <a:solidFill>
                      <a:srgbClr val="1B2B4B"/>
                    </a:solidFill>
                  </a:tcPr>
                </a:tc>
                <a:tc>
                  <a:txBody>
                    <a:bodyPr/>
                    <a:lstStyle/>
                    <a:p>
                      <a:r>
                        <a:rPr sz="1200" b="1" i="0">
                          <a:solidFill>
                            <a:srgbClr val="FFFFFF"/>
                          </a:solidFill>
                          <a:latin typeface="Calibri"/>
                        </a:rPr>
                        <a:t>Priority</a:t>
                      </a:r>
                    </a:p>
                  </a:txBody>
                  <a:tcPr anchor="ctr">
                    <a:lnL w="0">
                      <a:noFill/>
                    </a:lnL>
                    <a:lnR w="0">
                      <a:noFill/>
                    </a:lnR>
                    <a:lnT w="0">
                      <a:noFill/>
                    </a:lnT>
                    <a:lnB w="6350">
                      <a:solidFill>
                        <a:srgbClr val="D5DBE6"/>
                      </a:solidFill>
                    </a:lnB>
                    <a:solidFill>
                      <a:srgbClr val="1B2B4B"/>
                    </a:solidFill>
                  </a:tcPr>
                </a:tc>
                <a:extLst>
                  <a:ext uri="{0D108BD9-81ED-4DB2-BD59-A6C34878D82A}">
                    <a16:rowId xmlns:a16="http://schemas.microsoft.com/office/drawing/2014/main" val="10000"/>
                  </a:ext>
                </a:extLst>
              </a:tr>
              <a:tr h="475488">
                <a:tc>
                  <a:txBody>
                    <a:bodyPr/>
                    <a:lstStyle/>
                    <a:p>
                      <a:r>
                        <a:rPr sz="1200" b="1" i="0">
                          <a:solidFill>
                            <a:srgbClr val="1B2B4B"/>
                          </a:solidFill>
                          <a:latin typeface="Calibri"/>
                        </a:rPr>
                        <a:t>FR-01</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tc>
                  <a:txBody>
                    <a:bodyPr/>
                    <a:lstStyle/>
                    <a:p>
                      <a:r>
                        <a:rPr sz="1200" b="0" i="0">
                          <a:solidFill>
                            <a:srgbClr val="222222"/>
                          </a:solidFill>
                          <a:latin typeface="Calibri"/>
                        </a:rPr>
                        <a:t>The server shall ingest incoming client DNS queries over a configurable UDP port, defaulting to port 53, and validate RFC 1035 datagram integrity.</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tc>
                  <a:txBody>
                    <a:bodyPr/>
                    <a:lstStyle/>
                    <a:p>
                      <a:r>
                        <a:rPr sz="1200" b="1" i="0">
                          <a:solidFill>
                            <a:srgbClr val="1B2B4B"/>
                          </a:solidFill>
                          <a:latin typeface="Calibri"/>
                        </a:rPr>
                        <a:t>Mandatory</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extLst>
                  <a:ext uri="{0D108BD9-81ED-4DB2-BD59-A6C34878D82A}">
                    <a16:rowId xmlns:a16="http://schemas.microsoft.com/office/drawing/2014/main" val="10001"/>
                  </a:ext>
                </a:extLst>
              </a:tr>
              <a:tr h="475488">
                <a:tc>
                  <a:txBody>
                    <a:bodyPr/>
                    <a:lstStyle/>
                    <a:p>
                      <a:r>
                        <a:rPr sz="1200" b="1" i="0">
                          <a:solidFill>
                            <a:srgbClr val="1B2B4B"/>
                          </a:solidFill>
                          <a:latin typeface="Calibri"/>
                        </a:rPr>
                        <a:t>FR-02</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4F6F9"/>
                    </a:solidFill>
                  </a:tcPr>
                </a:tc>
                <a:tc>
                  <a:txBody>
                    <a:bodyPr/>
                    <a:lstStyle/>
                    <a:p>
                      <a:r>
                        <a:rPr sz="1200" b="0" i="0">
                          <a:solidFill>
                            <a:srgbClr val="222222"/>
                          </a:solidFill>
                          <a:latin typeface="Calibri"/>
                        </a:rPr>
                        <a:t>Parse DNS header bitfields, questions, and decompress domain labels (0xC0 pointer offsets) with recursion-depth limit of 16.</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4F6F9"/>
                    </a:solidFill>
                  </a:tcPr>
                </a:tc>
                <a:tc>
                  <a:txBody>
                    <a:bodyPr/>
                    <a:lstStyle/>
                    <a:p>
                      <a:r>
                        <a:rPr sz="1200" b="1" i="0">
                          <a:solidFill>
                            <a:srgbClr val="1B2B4B"/>
                          </a:solidFill>
                          <a:latin typeface="Calibri"/>
                        </a:rPr>
                        <a:t>Mandatory</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4F6F9"/>
                    </a:solidFill>
                  </a:tcPr>
                </a:tc>
                <a:extLst>
                  <a:ext uri="{0D108BD9-81ED-4DB2-BD59-A6C34878D82A}">
                    <a16:rowId xmlns:a16="http://schemas.microsoft.com/office/drawing/2014/main" val="10002"/>
                  </a:ext>
                </a:extLst>
              </a:tr>
              <a:tr h="475488">
                <a:tc>
                  <a:txBody>
                    <a:bodyPr/>
                    <a:lstStyle/>
                    <a:p>
                      <a:r>
                        <a:rPr sz="1200" b="1" i="0">
                          <a:solidFill>
                            <a:srgbClr val="1B2B4B"/>
                          </a:solidFill>
                          <a:latin typeface="Calibri"/>
                        </a:rPr>
                        <a:t>FR-03</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tc>
                  <a:txBody>
                    <a:bodyPr/>
                    <a:lstStyle/>
                    <a:p>
                      <a:r>
                        <a:rPr sz="1200" b="0" i="0">
                          <a:solidFill>
                            <a:srgbClr val="222222"/>
                          </a:solidFill>
                          <a:latin typeface="Calibri"/>
                        </a:rPr>
                        <a:t>Query the in-memory cache using composite key (domain, qtype, qclass) to identify valid cached resource records.</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tc>
                  <a:txBody>
                    <a:bodyPr/>
                    <a:lstStyle/>
                    <a:p>
                      <a:r>
                        <a:rPr sz="1200" b="1" i="0">
                          <a:solidFill>
                            <a:srgbClr val="1B2B4B"/>
                          </a:solidFill>
                          <a:latin typeface="Calibri"/>
                        </a:rPr>
                        <a:t>Mandatory</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extLst>
                  <a:ext uri="{0D108BD9-81ED-4DB2-BD59-A6C34878D82A}">
                    <a16:rowId xmlns:a16="http://schemas.microsoft.com/office/drawing/2014/main" val="10003"/>
                  </a:ext>
                </a:extLst>
              </a:tr>
              <a:tr h="475488">
                <a:tc>
                  <a:txBody>
                    <a:bodyPr/>
                    <a:lstStyle/>
                    <a:p>
                      <a:r>
                        <a:rPr sz="1200" b="1" i="0">
                          <a:solidFill>
                            <a:srgbClr val="1B2B4B"/>
                          </a:solidFill>
                          <a:latin typeface="Calibri"/>
                        </a:rPr>
                        <a:t>FR-04</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4F6F9"/>
                    </a:solidFill>
                  </a:tcPr>
                </a:tc>
                <a:tc>
                  <a:txBody>
                    <a:bodyPr/>
                    <a:lstStyle/>
                    <a:p>
                      <a:r>
                        <a:rPr sz="1200" b="0" i="0">
                          <a:solidFill>
                            <a:srgbClr val="222222"/>
                          </a:solidFill>
                          <a:latin typeface="Calibri"/>
                        </a:rPr>
                        <a:t>Evaluate cache TTL dynamically: if (TTL_original - elapsed_time) &gt; 0, return remaining TTL; otherwise evict entry and trigger a cache miss.</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4F6F9"/>
                    </a:solidFill>
                  </a:tcPr>
                </a:tc>
                <a:tc>
                  <a:txBody>
                    <a:bodyPr/>
                    <a:lstStyle/>
                    <a:p>
                      <a:r>
                        <a:rPr sz="1200" b="1" i="0">
                          <a:solidFill>
                            <a:srgbClr val="1B2B4B"/>
                          </a:solidFill>
                          <a:latin typeface="Calibri"/>
                        </a:rPr>
                        <a:t>Mandatory</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4F6F9"/>
                    </a:solidFill>
                  </a:tcPr>
                </a:tc>
                <a:extLst>
                  <a:ext uri="{0D108BD9-81ED-4DB2-BD59-A6C34878D82A}">
                    <a16:rowId xmlns:a16="http://schemas.microsoft.com/office/drawing/2014/main" val="10004"/>
                  </a:ext>
                </a:extLst>
              </a:tr>
              <a:tr h="475488">
                <a:tc>
                  <a:txBody>
                    <a:bodyPr/>
                    <a:lstStyle/>
                    <a:p>
                      <a:r>
                        <a:rPr sz="1200" b="1" i="0">
                          <a:solidFill>
                            <a:srgbClr val="1B2B4B"/>
                          </a:solidFill>
                          <a:latin typeface="Calibri"/>
                        </a:rPr>
                        <a:t>FR-05</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tc>
                  <a:txBody>
                    <a:bodyPr/>
                    <a:lstStyle/>
                    <a:p>
                      <a:r>
                        <a:rPr sz="1200" b="0" i="0">
                          <a:solidFill>
                            <a:srgbClr val="222222"/>
                          </a:solidFill>
                          <a:latin typeface="Calibri"/>
                        </a:rPr>
                        <a:t>Evict expired records proactively using a Min-Heap priority queue (O(log N) per entry) and enforce O(1) LRU capacity eviction at cache ceiling.</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tc>
                  <a:txBody>
                    <a:bodyPr/>
                    <a:lstStyle/>
                    <a:p>
                      <a:r>
                        <a:rPr sz="1200" b="1" i="0">
                          <a:solidFill>
                            <a:srgbClr val="1B2B4B"/>
                          </a:solidFill>
                          <a:latin typeface="Calibri"/>
                        </a:rPr>
                        <a:t>Mandatory</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extLst>
                  <a:ext uri="{0D108BD9-81ED-4DB2-BD59-A6C34878D82A}">
                    <a16:rowId xmlns:a16="http://schemas.microsoft.com/office/drawing/2014/main" val="10005"/>
                  </a:ext>
                </a:extLst>
              </a:tr>
              <a:tr h="475488">
                <a:tc>
                  <a:txBody>
                    <a:bodyPr/>
                    <a:lstStyle/>
                    <a:p>
                      <a:r>
                        <a:rPr sz="1200" b="1" i="0">
                          <a:solidFill>
                            <a:srgbClr val="1B2B4B"/>
                          </a:solidFill>
                          <a:latin typeface="Calibri"/>
                        </a:rPr>
                        <a:t>FR-06</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4F6F9"/>
                    </a:solidFill>
                  </a:tcPr>
                </a:tc>
                <a:tc>
                  <a:txBody>
                    <a:bodyPr/>
                    <a:lstStyle/>
                    <a:p>
                      <a:r>
                        <a:rPr sz="1200" b="0" i="0">
                          <a:solidFill>
                            <a:srgbClr val="222222"/>
                          </a:solidFill>
                          <a:latin typeface="Calibri"/>
                        </a:rPr>
                        <a:t>Forward cache-miss queries to external upstream DNS resolvers within an end-to-end 2.0-second deadline; manage per-attempt timeouts and failover.</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4F6F9"/>
                    </a:solidFill>
                  </a:tcPr>
                </a:tc>
                <a:tc>
                  <a:txBody>
                    <a:bodyPr/>
                    <a:lstStyle/>
                    <a:p>
                      <a:r>
                        <a:rPr sz="1200" b="1" i="0">
                          <a:solidFill>
                            <a:srgbClr val="1B2B4B"/>
                          </a:solidFill>
                          <a:latin typeface="Calibri"/>
                        </a:rPr>
                        <a:t>Mandatory</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4F6F9"/>
                    </a:solidFill>
                  </a:tcPr>
                </a:tc>
                <a:extLst>
                  <a:ext uri="{0D108BD9-81ED-4DB2-BD59-A6C34878D82A}">
                    <a16:rowId xmlns:a16="http://schemas.microsoft.com/office/drawing/2014/main" val="10006"/>
                  </a:ext>
                </a:extLst>
              </a:tr>
              <a:tr h="475488">
                <a:tc>
                  <a:txBody>
                    <a:bodyPr/>
                    <a:lstStyle/>
                    <a:p>
                      <a:r>
                        <a:rPr sz="1200" b="1" i="0">
                          <a:solidFill>
                            <a:srgbClr val="1B2B4B"/>
                          </a:solidFill>
                          <a:latin typeface="Calibri"/>
                        </a:rPr>
                        <a:t>FR-07</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tc>
                  <a:txBody>
                    <a:bodyPr/>
                    <a:lstStyle/>
                    <a:p>
                      <a:r>
                        <a:rPr sz="1200" b="0" i="0">
                          <a:solidFill>
                            <a:srgbClr val="222222"/>
                          </a:solidFill>
                          <a:latin typeface="Calibri"/>
                        </a:rPr>
                        <a:t>Atomically commit valid upstream resolution answers and authority records to the in-memory cache with authoritative TTLs.</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tc>
                  <a:txBody>
                    <a:bodyPr/>
                    <a:lstStyle/>
                    <a:p>
                      <a:r>
                        <a:rPr sz="1200" b="1" i="0">
                          <a:solidFill>
                            <a:srgbClr val="1B2B4B"/>
                          </a:solidFill>
                          <a:latin typeface="Calibri"/>
                        </a:rPr>
                        <a:t>Mandatory</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extLst>
                  <a:ext uri="{0D108BD9-81ED-4DB2-BD59-A6C34878D82A}">
                    <a16:rowId xmlns:a16="http://schemas.microsoft.com/office/drawing/2014/main" val="10007"/>
                  </a:ext>
                </a:extLst>
              </a:tr>
              <a:tr h="475488">
                <a:tc>
                  <a:txBody>
                    <a:bodyPr/>
                    <a:lstStyle/>
                    <a:p>
                      <a:r>
                        <a:rPr sz="1200" b="1" i="0">
                          <a:solidFill>
                            <a:srgbClr val="1B2B4B"/>
                          </a:solidFill>
                          <a:latin typeface="Calibri"/>
                        </a:rPr>
                        <a:t>FR-08</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4F6F9"/>
                    </a:solidFill>
                  </a:tcPr>
                </a:tc>
                <a:tc>
                  <a:txBody>
                    <a:bodyPr/>
                    <a:lstStyle/>
                    <a:p>
                      <a:r>
                        <a:rPr sz="1200" b="0" i="0">
                          <a:solidFill>
                            <a:srgbClr val="222222"/>
                          </a:solidFill>
                          <a:latin typeface="Calibri"/>
                        </a:rPr>
                        <a:t>Handle edge conditions: cache NXDOMAIN via RFC 2308 negative caching, emit SERVFAIL upon upstream deadline expiry, and emit FORMERR for corrupt packets &gt;= 12B.</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4F6F9"/>
                    </a:solidFill>
                  </a:tcPr>
                </a:tc>
                <a:tc>
                  <a:txBody>
                    <a:bodyPr/>
                    <a:lstStyle/>
                    <a:p>
                      <a:r>
                        <a:rPr sz="1200" b="1" i="0">
                          <a:solidFill>
                            <a:srgbClr val="1B2B4B"/>
                          </a:solidFill>
                          <a:latin typeface="Calibri"/>
                        </a:rPr>
                        <a:t>Mandatory</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4F6F9"/>
                    </a:solidFill>
                  </a:tcPr>
                </a:tc>
                <a:extLst>
                  <a:ext uri="{0D108BD9-81ED-4DB2-BD59-A6C34878D82A}">
                    <a16:rowId xmlns:a16="http://schemas.microsoft.com/office/drawing/2014/main" val="10008"/>
                  </a:ext>
                </a:extLst>
              </a:tr>
              <a:tr h="475488">
                <a:tc>
                  <a:txBody>
                    <a:bodyPr/>
                    <a:lstStyle/>
                    <a:p>
                      <a:r>
                        <a:rPr sz="1200" b="1" i="0">
                          <a:solidFill>
                            <a:srgbClr val="1B2B4B"/>
                          </a:solidFill>
                          <a:latin typeface="Calibri"/>
                        </a:rPr>
                        <a:t>FR-09</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tc>
                  <a:txBody>
                    <a:bodyPr/>
                    <a:lstStyle/>
                    <a:p>
                      <a:r>
                        <a:rPr sz="1200" b="0" i="0" dirty="0">
                          <a:solidFill>
                            <a:srgbClr val="222222"/>
                          </a:solidFill>
                          <a:latin typeface="Calibri"/>
                        </a:rPr>
                        <a:t>Collect and evaluate real-time resolution telemetry using monotonic </a:t>
                      </a:r>
                      <a:r>
                        <a:rPr sz="1200" b="0" i="0" dirty="0" err="1">
                          <a:solidFill>
                            <a:srgbClr val="222222"/>
                          </a:solidFill>
                          <a:latin typeface="Calibri"/>
                        </a:rPr>
                        <a:t>steady_clock</a:t>
                      </a:r>
                      <a:r>
                        <a:rPr sz="1200" b="0" i="0" dirty="0">
                          <a:solidFill>
                            <a:srgbClr val="222222"/>
                          </a:solidFill>
                          <a:latin typeface="Calibri"/>
                        </a:rPr>
                        <a:t> (total queries, hit ratio %, and latency distributions).</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tc>
                  <a:txBody>
                    <a:bodyPr/>
                    <a:lstStyle/>
                    <a:p>
                      <a:r>
                        <a:rPr sz="1200" b="1" i="0" dirty="0">
                          <a:solidFill>
                            <a:srgbClr val="B3282D"/>
                          </a:solidFill>
                          <a:latin typeface="Calibri"/>
                        </a:rPr>
                        <a:t>Challenge</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3"/>
          </p:nvPr>
        </p:nvSpPr>
        <p:spPr/>
        <p:txBody>
          <a:bodyPr lIns="0"/>
          <a:lstStyle/>
          <a:p>
            <a:r>
              <a:t>Non-Functional Requirements (NFR)</a:t>
            </a:r>
          </a:p>
        </p:txBody>
      </p:sp>
      <p:sp>
        <p:nvSpPr>
          <p:cNvPr id="3" name="Section tag"/>
          <p:cNvSpPr txBox="1"/>
          <p:nvPr/>
        </p:nvSpPr>
        <p:spPr>
          <a:xfrm>
            <a:off x="548640" y="91440"/>
            <a:ext cx="8778240" cy="201168"/>
          </a:xfrm>
          <a:prstGeom prst="rect">
            <a:avLst/>
          </a:prstGeom>
          <a:noFill/>
        </p:spPr>
        <p:txBody>
          <a:bodyPr wrap="square" lIns="0" tIns="0" rIns="0" bIns="0" anchor="t">
            <a:spAutoFit/>
          </a:bodyPr>
          <a:lstStyle/>
          <a:p>
            <a:pPr algn="l">
              <a:lnSpc>
                <a:spcPct val="100000"/>
              </a:lnSpc>
              <a:spcAft>
                <a:spcPts val="0"/>
              </a:spcAft>
            </a:pPr>
            <a:r>
              <a:rPr sz="1000" b="1" i="0">
                <a:solidFill>
                  <a:srgbClr val="B3282D"/>
                </a:solidFill>
                <a:latin typeface="Calibri"/>
              </a:rPr>
              <a:t>B · REQUIREMENTS (SRS)</a:t>
            </a:r>
          </a:p>
        </p:txBody>
      </p:sp>
      <p:sp>
        <p:nvSpPr>
          <p:cNvPr id="4" name="Subtitle"/>
          <p:cNvSpPr txBox="1"/>
          <p:nvPr/>
        </p:nvSpPr>
        <p:spPr>
          <a:xfrm>
            <a:off x="548640" y="932688"/>
            <a:ext cx="10515600" cy="320040"/>
          </a:xfrm>
          <a:prstGeom prst="rect">
            <a:avLst/>
          </a:prstGeom>
          <a:noFill/>
        </p:spPr>
        <p:txBody>
          <a:bodyPr wrap="square" lIns="0" tIns="0" rIns="0" bIns="0" anchor="t">
            <a:spAutoFit/>
          </a:bodyPr>
          <a:lstStyle/>
          <a:p>
            <a:pPr algn="l">
              <a:lnSpc>
                <a:spcPct val="100000"/>
              </a:lnSpc>
              <a:spcAft>
                <a:spcPts val="0"/>
              </a:spcAft>
            </a:pPr>
            <a:r>
              <a:rPr sz="1300" b="1" i="0">
                <a:solidFill>
                  <a:srgbClr val="1F4E9E"/>
                </a:solidFill>
                <a:latin typeface="Calibri"/>
              </a:rPr>
              <a:t>Seven quality requirements, each with a measurable target to be verified in testing</a:t>
            </a:r>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475"/>
                </a:solidFill>
                <a:latin typeface="Calibri"/>
                <a:ea typeface="Calibri"/>
                <a:cs typeface="Calibri"/>
              </a:defRPr>
            </a:lvl1pPr>
          </a:lstStyle>
          <a:p>
            <a:pPr algn="r"/>
            <a:fld id="{F7021451-1387-4CA6-816F-3879F97B5CBC}" type="slidenum">
              <a:rPr lang="en-US" b="0"/>
              <a:t>6</a:t>
            </a:fld>
            <a:endParaRPr lang="en-US"/>
          </a:p>
        </p:txBody>
      </p:sp>
      <p:graphicFrame>
        <p:nvGraphicFramePr>
          <p:cNvPr id="26" name="NFR table"/>
          <p:cNvGraphicFramePr>
            <a:graphicFrameLocks noGrp="1"/>
          </p:cNvGraphicFramePr>
          <p:nvPr/>
        </p:nvGraphicFramePr>
        <p:xfrm>
          <a:off x="548640" y="1371600"/>
          <a:ext cx="11155680" cy="4544568"/>
        </p:xfrm>
        <a:graphic>
          <a:graphicData uri="http://schemas.openxmlformats.org/drawingml/2006/table">
            <a:tbl>
              <a:tblPr>
                <a:tableStyleId>{2D5ABB26-0587-4C30-8999-92F81FD0307C}</a:tableStyleId>
              </a:tblPr>
              <a:tblGrid>
                <a:gridCol w="868680">
                  <a:extLst>
                    <a:ext uri="{9D8B030D-6E8A-4147-A177-3AD203B41FA5}">
                      <a16:colId xmlns:a16="http://schemas.microsoft.com/office/drawing/2014/main" val="20000"/>
                    </a:ext>
                  </a:extLst>
                </a:gridCol>
                <a:gridCol w="56235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2926080">
                  <a:extLst>
                    <a:ext uri="{9D8B030D-6E8A-4147-A177-3AD203B41FA5}">
                      <a16:colId xmlns:a16="http://schemas.microsoft.com/office/drawing/2014/main" val="20003"/>
                    </a:ext>
                  </a:extLst>
                </a:gridCol>
              </a:tblGrid>
              <a:tr h="384048">
                <a:tc>
                  <a:txBody>
                    <a:bodyPr/>
                    <a:lstStyle/>
                    <a:p>
                      <a:r>
                        <a:rPr sz="1200" b="1" i="0">
                          <a:solidFill>
                            <a:srgbClr val="FFFFFF"/>
                          </a:solidFill>
                          <a:latin typeface="Calibri"/>
                        </a:rPr>
                        <a:t>ID</a:t>
                      </a:r>
                    </a:p>
                  </a:txBody>
                  <a:tcPr anchor="ctr">
                    <a:lnL w="0">
                      <a:noFill/>
                    </a:lnL>
                    <a:lnR w="0">
                      <a:noFill/>
                    </a:lnR>
                    <a:lnT w="0">
                      <a:noFill/>
                    </a:lnT>
                    <a:lnB w="6350">
                      <a:solidFill>
                        <a:srgbClr val="D5DBE6"/>
                      </a:solidFill>
                    </a:lnB>
                    <a:solidFill>
                      <a:srgbClr val="1B2B4B"/>
                    </a:solidFill>
                  </a:tcPr>
                </a:tc>
                <a:tc>
                  <a:txBody>
                    <a:bodyPr/>
                    <a:lstStyle/>
                    <a:p>
                      <a:r>
                        <a:rPr sz="1200" b="1" i="0">
                          <a:solidFill>
                            <a:srgbClr val="FFFFFF"/>
                          </a:solidFill>
                          <a:latin typeface="Calibri"/>
                        </a:rPr>
                        <a:t>Non-Functional Requirement</a:t>
                      </a:r>
                    </a:p>
                  </a:txBody>
                  <a:tcPr anchor="ctr">
                    <a:lnL w="0">
                      <a:noFill/>
                    </a:lnL>
                    <a:lnR w="0">
                      <a:noFill/>
                    </a:lnR>
                    <a:lnT w="0">
                      <a:noFill/>
                    </a:lnT>
                    <a:lnB w="6350">
                      <a:solidFill>
                        <a:srgbClr val="D5DBE6"/>
                      </a:solidFill>
                    </a:lnB>
                    <a:solidFill>
                      <a:srgbClr val="1B2B4B"/>
                    </a:solidFill>
                  </a:tcPr>
                </a:tc>
                <a:tc>
                  <a:txBody>
                    <a:bodyPr/>
                    <a:lstStyle/>
                    <a:p>
                      <a:r>
                        <a:rPr sz="1200" b="1" i="0">
                          <a:solidFill>
                            <a:srgbClr val="FFFFFF"/>
                          </a:solidFill>
                          <a:latin typeface="Calibri"/>
                        </a:rPr>
                        <a:t>Category</a:t>
                      </a:r>
                    </a:p>
                  </a:txBody>
                  <a:tcPr anchor="ctr">
                    <a:lnL w="0">
                      <a:noFill/>
                    </a:lnL>
                    <a:lnR w="0">
                      <a:noFill/>
                    </a:lnR>
                    <a:lnT w="0">
                      <a:noFill/>
                    </a:lnT>
                    <a:lnB w="6350">
                      <a:solidFill>
                        <a:srgbClr val="D5DBE6"/>
                      </a:solidFill>
                    </a:lnB>
                    <a:solidFill>
                      <a:srgbClr val="1B2B4B"/>
                    </a:solidFill>
                  </a:tcPr>
                </a:tc>
                <a:tc>
                  <a:txBody>
                    <a:bodyPr/>
                    <a:lstStyle/>
                    <a:p>
                      <a:r>
                        <a:rPr sz="1200" b="1" i="0">
                          <a:solidFill>
                            <a:srgbClr val="FFFFFF"/>
                          </a:solidFill>
                          <a:latin typeface="Calibri"/>
                        </a:rPr>
                        <a:t>Measurable Target (to be verified)</a:t>
                      </a:r>
                    </a:p>
                  </a:txBody>
                  <a:tcPr anchor="ctr">
                    <a:lnL w="0">
                      <a:noFill/>
                    </a:lnL>
                    <a:lnR w="0">
                      <a:noFill/>
                    </a:lnR>
                    <a:lnT w="0">
                      <a:noFill/>
                    </a:lnT>
                    <a:lnB w="6350">
                      <a:solidFill>
                        <a:srgbClr val="D5DBE6"/>
                      </a:solidFill>
                    </a:lnB>
                    <a:solidFill>
                      <a:srgbClr val="1B2B4B"/>
                    </a:solidFill>
                  </a:tcPr>
                </a:tc>
                <a:extLst>
                  <a:ext uri="{0D108BD9-81ED-4DB2-BD59-A6C34878D82A}">
                    <a16:rowId xmlns:a16="http://schemas.microsoft.com/office/drawing/2014/main" val="10000"/>
                  </a:ext>
                </a:extLst>
              </a:tr>
              <a:tr h="594360">
                <a:tc>
                  <a:txBody>
                    <a:bodyPr/>
                    <a:lstStyle/>
                    <a:p>
                      <a:r>
                        <a:rPr sz="1200" b="1" i="0">
                          <a:solidFill>
                            <a:srgbClr val="1B2B4B"/>
                          </a:solidFill>
                          <a:latin typeface="Calibri"/>
                        </a:rPr>
                        <a:t>NFR-01</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tc>
                  <a:txBody>
                    <a:bodyPr/>
                    <a:lstStyle/>
                    <a:p>
                      <a:r>
                        <a:rPr sz="1200" b="0" i="0">
                          <a:solidFill>
                            <a:srgbClr val="222222"/>
                          </a:solidFill>
                          <a:latin typeface="Calibri"/>
                        </a:rPr>
                        <a:t>Cache-Hit Response Latency: The resolver shall achieve an average cache-hit response latency of less than 1.0 ms under defined local benchmark conditions.</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tc>
                  <a:txBody>
                    <a:bodyPr/>
                    <a:lstStyle/>
                    <a:p>
                      <a:r>
                        <a:rPr sz="1200" b="0" i="0">
                          <a:solidFill>
                            <a:srgbClr val="222222"/>
                          </a:solidFill>
                          <a:latin typeface="Calibri"/>
                        </a:rPr>
                        <a:t>Performance</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tc>
                  <a:txBody>
                    <a:bodyPr/>
                    <a:lstStyle/>
                    <a:p>
                      <a:r>
                        <a:rPr sz="1200" b="0" i="0">
                          <a:solidFill>
                            <a:srgbClr val="222222"/>
                          </a:solidFill>
                          <a:latin typeface="Calibri"/>
                        </a:rPr>
                        <a:t>Average cache-hit latency &lt; 1.0 ms</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extLst>
                  <a:ext uri="{0D108BD9-81ED-4DB2-BD59-A6C34878D82A}">
                    <a16:rowId xmlns:a16="http://schemas.microsoft.com/office/drawing/2014/main" val="10001"/>
                  </a:ext>
                </a:extLst>
              </a:tr>
              <a:tr h="594360">
                <a:tc>
                  <a:txBody>
                    <a:bodyPr/>
                    <a:lstStyle/>
                    <a:p>
                      <a:r>
                        <a:rPr sz="1200" b="1" i="0">
                          <a:solidFill>
                            <a:srgbClr val="1B2B4B"/>
                          </a:solidFill>
                          <a:latin typeface="Calibri"/>
                        </a:rPr>
                        <a:t>NFR-02</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4F6F9"/>
                    </a:solidFill>
                  </a:tcPr>
                </a:tc>
                <a:tc>
                  <a:txBody>
                    <a:bodyPr/>
                    <a:lstStyle/>
                    <a:p>
                      <a:r>
                        <a:rPr sz="1200" b="0" i="0">
                          <a:solidFill>
                            <a:srgbClr val="222222"/>
                          </a:solidFill>
                          <a:latin typeface="Calibri"/>
                        </a:rPr>
                        <a:t>Throughput &amp; Concurrency: Sustain ≥ 1,000 queries per second without packet drop via multi-threaded worker dispatch.</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4F6F9"/>
                    </a:solidFill>
                  </a:tcPr>
                </a:tc>
                <a:tc>
                  <a:txBody>
                    <a:bodyPr/>
                    <a:lstStyle/>
                    <a:p>
                      <a:r>
                        <a:rPr sz="1200" b="0" i="0">
                          <a:solidFill>
                            <a:srgbClr val="222222"/>
                          </a:solidFill>
                          <a:latin typeface="Calibri"/>
                        </a:rPr>
                        <a:t>Scalability</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4F6F9"/>
                    </a:solidFill>
                  </a:tcPr>
                </a:tc>
                <a:tc>
                  <a:txBody>
                    <a:bodyPr/>
                    <a:lstStyle/>
                    <a:p>
                      <a:r>
                        <a:rPr sz="1200" b="0" i="0">
                          <a:solidFill>
                            <a:srgbClr val="222222"/>
                          </a:solidFill>
                          <a:latin typeface="Calibri"/>
                        </a:rPr>
                        <a:t>≥ 1,000 QPS with 0% socket buffer overrun</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4F6F9"/>
                    </a:solidFill>
                  </a:tcPr>
                </a:tc>
                <a:extLst>
                  <a:ext uri="{0D108BD9-81ED-4DB2-BD59-A6C34878D82A}">
                    <a16:rowId xmlns:a16="http://schemas.microsoft.com/office/drawing/2014/main" val="10002"/>
                  </a:ext>
                </a:extLst>
              </a:tr>
              <a:tr h="594360">
                <a:tc>
                  <a:txBody>
                    <a:bodyPr/>
                    <a:lstStyle/>
                    <a:p>
                      <a:r>
                        <a:rPr sz="1200" b="1" i="0">
                          <a:solidFill>
                            <a:srgbClr val="1B2B4B"/>
                          </a:solidFill>
                          <a:latin typeface="Calibri"/>
                        </a:rPr>
                        <a:t>NFR-03</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tc>
                  <a:txBody>
                    <a:bodyPr/>
                    <a:lstStyle/>
                    <a:p>
                      <a:r>
                        <a:rPr sz="1200" b="0" i="0">
                          <a:solidFill>
                            <a:srgbClr val="222222"/>
                          </a:solidFill>
                          <a:latin typeface="Calibri"/>
                        </a:rPr>
                        <a:t>Memory Bound &amp; Safety: Enforce strict bounded memory consumption with configurable upper limit (10,000 records ≤ 30 MB) using O(1) LRU eviction.</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tc>
                  <a:txBody>
                    <a:bodyPr/>
                    <a:lstStyle/>
                    <a:p>
                      <a:r>
                        <a:rPr sz="1200" b="0" i="0">
                          <a:solidFill>
                            <a:srgbClr val="222222"/>
                          </a:solidFill>
                          <a:latin typeface="Calibri"/>
                        </a:rPr>
                        <a:t>Resource Management</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tc>
                  <a:txBody>
                    <a:bodyPr/>
                    <a:lstStyle/>
                    <a:p>
                      <a:r>
                        <a:rPr sz="1200" b="0" i="0">
                          <a:solidFill>
                            <a:srgbClr val="222222"/>
                          </a:solidFill>
                          <a:latin typeface="Calibri"/>
                        </a:rPr>
                        <a:t>Resident set size ≤ 30 MB at full capacity</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extLst>
                  <a:ext uri="{0D108BD9-81ED-4DB2-BD59-A6C34878D82A}">
                    <a16:rowId xmlns:a16="http://schemas.microsoft.com/office/drawing/2014/main" val="10003"/>
                  </a:ext>
                </a:extLst>
              </a:tr>
              <a:tr h="594360">
                <a:tc>
                  <a:txBody>
                    <a:bodyPr/>
                    <a:lstStyle/>
                    <a:p>
                      <a:r>
                        <a:rPr sz="1200" b="1" i="0">
                          <a:solidFill>
                            <a:srgbClr val="1B2B4B"/>
                          </a:solidFill>
                          <a:latin typeface="Calibri"/>
                        </a:rPr>
                        <a:t>NFR-04</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4F6F9"/>
                    </a:solidFill>
                  </a:tcPr>
                </a:tc>
                <a:tc>
                  <a:txBody>
                    <a:bodyPr/>
                    <a:lstStyle/>
                    <a:p>
                      <a:r>
                        <a:rPr sz="1200" b="0" i="0">
                          <a:solidFill>
                            <a:srgbClr val="222222"/>
                          </a:solidFill>
                          <a:latin typeface="Calibri"/>
                        </a:rPr>
                        <a:t>Upstream Resolution Deadline: Enforce strict 2.0s end-to-end resolution deadline across all upstream attempts; return SERVFAIL upon expiration.</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4F6F9"/>
                    </a:solidFill>
                  </a:tcPr>
                </a:tc>
                <a:tc>
                  <a:txBody>
                    <a:bodyPr/>
                    <a:lstStyle/>
                    <a:p>
                      <a:r>
                        <a:rPr sz="1200" b="0" i="0">
                          <a:solidFill>
                            <a:srgbClr val="222222"/>
                          </a:solidFill>
                          <a:latin typeface="Calibri"/>
                        </a:rPr>
                        <a:t>Reliability</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4F6F9"/>
                    </a:solidFill>
                  </a:tcPr>
                </a:tc>
                <a:tc>
                  <a:txBody>
                    <a:bodyPr/>
                    <a:lstStyle/>
                    <a:p>
                      <a:r>
                        <a:rPr sz="1200" b="0" i="0">
                          <a:solidFill>
                            <a:srgbClr val="222222"/>
                          </a:solidFill>
                          <a:latin typeface="Calibri"/>
                        </a:rPr>
                        <a:t>Total resolution deadline ≤ 2.0s; 0 zombie sockets</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4F6F9"/>
                    </a:solidFill>
                  </a:tcPr>
                </a:tc>
                <a:extLst>
                  <a:ext uri="{0D108BD9-81ED-4DB2-BD59-A6C34878D82A}">
                    <a16:rowId xmlns:a16="http://schemas.microsoft.com/office/drawing/2014/main" val="10004"/>
                  </a:ext>
                </a:extLst>
              </a:tr>
              <a:tr h="594360">
                <a:tc>
                  <a:txBody>
                    <a:bodyPr/>
                    <a:lstStyle/>
                    <a:p>
                      <a:r>
                        <a:rPr sz="1200" b="1" i="0">
                          <a:solidFill>
                            <a:srgbClr val="1B2B4B"/>
                          </a:solidFill>
                          <a:latin typeface="Calibri"/>
                        </a:rPr>
                        <a:t>NFR-05</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tc>
                  <a:txBody>
                    <a:bodyPr/>
                    <a:lstStyle/>
                    <a:p>
                      <a:r>
                        <a:rPr sz="1200" b="0" i="0">
                          <a:solidFill>
                            <a:srgbClr val="222222"/>
                          </a:solidFill>
                          <a:latin typeface="Calibri"/>
                        </a:rPr>
                        <a:t>Thread Safety &amp; Concurrency Control: Multi-threaded cache reads and writes must guarantee zero race conditions using Reader-Writer lock primitives.</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tc>
                  <a:txBody>
                    <a:bodyPr/>
                    <a:lstStyle/>
                    <a:p>
                      <a:r>
                        <a:rPr sz="1200" b="0" i="0">
                          <a:solidFill>
                            <a:srgbClr val="222222"/>
                          </a:solidFill>
                          <a:latin typeface="Calibri"/>
                        </a:rPr>
                        <a:t>Correctness</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tc>
                  <a:txBody>
                    <a:bodyPr/>
                    <a:lstStyle/>
                    <a:p>
                      <a:r>
                        <a:rPr sz="1200" b="0" i="0">
                          <a:solidFill>
                            <a:srgbClr val="222222"/>
                          </a:solidFill>
                          <a:latin typeface="Calibri"/>
                        </a:rPr>
                        <a:t>100% thread safety; 0 race conditions under stress</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extLst>
                  <a:ext uri="{0D108BD9-81ED-4DB2-BD59-A6C34878D82A}">
                    <a16:rowId xmlns:a16="http://schemas.microsoft.com/office/drawing/2014/main" val="10005"/>
                  </a:ext>
                </a:extLst>
              </a:tr>
              <a:tr h="594360">
                <a:tc>
                  <a:txBody>
                    <a:bodyPr/>
                    <a:lstStyle/>
                    <a:p>
                      <a:r>
                        <a:rPr sz="1200" b="1" i="0">
                          <a:solidFill>
                            <a:srgbClr val="1B2B4B"/>
                          </a:solidFill>
                          <a:latin typeface="Calibri"/>
                        </a:rPr>
                        <a:t>NFR-06</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4F6F9"/>
                    </a:solidFill>
                  </a:tcPr>
                </a:tc>
                <a:tc>
                  <a:txBody>
                    <a:bodyPr/>
                    <a:lstStyle/>
                    <a:p>
                      <a:r>
                        <a:rPr sz="1200" b="0" i="0">
                          <a:solidFill>
                            <a:srgbClr val="222222"/>
                          </a:solidFill>
                          <a:latin typeface="Calibri"/>
                        </a:rPr>
                        <a:t>RFC Compliance &amp; Interoperability: Compatibility with the RFC 1035 UDP wire format for standard client tools (dig, nslookup).</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4F6F9"/>
                    </a:solidFill>
                  </a:tcPr>
                </a:tc>
                <a:tc>
                  <a:txBody>
                    <a:bodyPr/>
                    <a:lstStyle/>
                    <a:p>
                      <a:r>
                        <a:rPr sz="1200" b="0" i="0">
                          <a:solidFill>
                            <a:srgbClr val="222222"/>
                          </a:solidFill>
                          <a:latin typeface="Calibri"/>
                        </a:rPr>
                        <a:t>Interoperability</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4F6F9"/>
                    </a:solidFill>
                  </a:tcPr>
                </a:tc>
                <a:tc>
                  <a:txBody>
                    <a:bodyPr/>
                    <a:lstStyle/>
                    <a:p>
                      <a:r>
                        <a:rPr sz="1200" b="0" i="0">
                          <a:solidFill>
                            <a:srgbClr val="222222"/>
                          </a:solidFill>
                          <a:latin typeface="Calibri"/>
                        </a:rPr>
                        <a:t>100% interoperability with dig and nslookup</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4F6F9"/>
                    </a:solidFill>
                  </a:tcPr>
                </a:tc>
                <a:extLst>
                  <a:ext uri="{0D108BD9-81ED-4DB2-BD59-A6C34878D82A}">
                    <a16:rowId xmlns:a16="http://schemas.microsoft.com/office/drawing/2014/main" val="10006"/>
                  </a:ext>
                </a:extLst>
              </a:tr>
              <a:tr h="594360">
                <a:tc>
                  <a:txBody>
                    <a:bodyPr/>
                    <a:lstStyle/>
                    <a:p>
                      <a:r>
                        <a:rPr sz="1200" b="1" i="0">
                          <a:solidFill>
                            <a:srgbClr val="1B2B4B"/>
                          </a:solidFill>
                          <a:latin typeface="Calibri"/>
                        </a:rPr>
                        <a:t>NFR-07</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tc>
                  <a:txBody>
                    <a:bodyPr/>
                    <a:lstStyle/>
                    <a:p>
                      <a:r>
                        <a:rPr sz="1200" b="0" i="0">
                          <a:solidFill>
                            <a:srgbClr val="222222"/>
                          </a:solidFill>
                          <a:latin typeface="Calibri"/>
                        </a:rPr>
                        <a:t>Cache Durability: Persist in-memory cache state to disk snapshot on graceful shutdown and reload valid entries on startup.</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tc>
                  <a:txBody>
                    <a:bodyPr/>
                    <a:lstStyle/>
                    <a:p>
                      <a:r>
                        <a:rPr sz="1200" b="0" i="0">
                          <a:solidFill>
                            <a:srgbClr val="222222"/>
                          </a:solidFill>
                          <a:latin typeface="Calibri"/>
                        </a:rPr>
                        <a:t>Durability</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tc>
                  <a:txBody>
                    <a:bodyPr/>
                    <a:lstStyle/>
                    <a:p>
                      <a:r>
                        <a:rPr sz="1200" b="0" i="0">
                          <a:solidFill>
                            <a:srgbClr val="222222"/>
                          </a:solidFill>
                          <a:latin typeface="Calibri"/>
                        </a:rPr>
                        <a:t>Snapshot dump/load time &lt; 100 ms</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91440"/>
            <a:ext cx="8778240" cy="201168"/>
          </a:xfrm>
          <a:prstGeom prst="rect">
            <a:avLst/>
          </a:prstGeom>
          <a:noFill/>
          <a:ln/>
        </p:spPr>
        <p:txBody>
          <a:bodyPr wrap="square" lIns="0" tIns="0" rIns="0" bIns="0" rtlCol="0" anchor="ctr"/>
          <a:lstStyle/>
          <a:p>
            <a:pPr marL="0" indent="0">
              <a:buNone/>
            </a:pPr>
            <a:r>
              <a:rPr lang="en-US" sz="1000" b="1" dirty="0">
                <a:solidFill>
                  <a:srgbClr val="B3282D"/>
                </a:solidFill>
              </a:rPr>
              <a:t>C · CLUSTERING, ENGINES AND OWNERSHIP</a:t>
            </a:r>
            <a:endParaRPr lang="en-US" sz="1100" dirty="0"/>
          </a:p>
        </p:txBody>
      </p:sp>
      <p:sp>
        <p:nvSpPr>
          <p:cNvPr id="3" name="Text 2"/>
          <p:cNvSpPr>
            <a:spLocks noGrp="1"/>
          </p:cNvSpPr>
          <p:nvPr>
            <p:ph type="title" idx="103" hasCustomPrompt="1"/>
          </p:nvPr>
        </p:nvSpPr>
        <p:spPr>
          <a:xfrm>
            <a:off x="548640" y="274320"/>
            <a:ext cx="8778240" cy="685800"/>
          </a:xfrm>
          <a:prstGeom prst="rect">
            <a:avLst/>
          </a:prstGeom>
          <a:noFill/>
          <a:ln/>
        </p:spPr>
        <p:txBody>
          <a:bodyPr wrap="square" lIns="0" tIns="0" rIns="0" bIns="0" rtlCol="0" anchor="ctr"/>
          <a:lstStyle/>
          <a:p>
            <a:pPr marL="0" indent="0" algn="l">
              <a:buNone/>
            </a:pPr>
            <a:r>
              <a:rPr lang="en-US" sz="2800" b="1" dirty="0">
                <a:solidFill>
                  <a:srgbClr val="1B2B4B"/>
                </a:solidFill>
                <a:latin typeface="Cambria" pitchFamily="34" charset="0"/>
                <a:ea typeface="Cambria" pitchFamily="34" charset="-122"/>
                <a:cs typeface="Cambria" pitchFamily="34" charset="-120"/>
              </a:rPr>
              <a:t>Requirement Clustering Sheet</a:t>
            </a:r>
            <a:endParaRPr lang="en-US" sz="2800" dirty="0"/>
          </a:p>
        </p:txBody>
      </p:sp>
      <p:sp>
        <p:nvSpPr>
          <p:cNvPr id="4" name="Text 2"/>
          <p:cNvSpPr txBox="1"/>
          <p:nvPr/>
        </p:nvSpPr>
        <p:spPr>
          <a:xfrm>
            <a:off x="548640" y="932688"/>
            <a:ext cx="10515600" cy="320040"/>
          </a:xfrm>
          <a:prstGeom prst="rect">
            <a:avLst/>
          </a:prstGeom>
          <a:noFill/>
          <a:ln/>
        </p:spPr>
        <p:txBody>
          <a:bodyPr wrap="square" lIns="0" tIns="0" rIns="0" bIns="0" rtlCol="0" anchor="ctr"/>
          <a:lstStyle/>
          <a:p>
            <a:pPr marL="0" indent="0" algn="l">
              <a:lnSpc>
                <a:spcPct val="100000"/>
              </a:lnSpc>
              <a:spcBef>
                <a:spcPts val="0"/>
              </a:spcBef>
              <a:spcAft>
                <a:spcPts val="0"/>
              </a:spcAft>
              <a:buNone/>
            </a:pPr>
            <a:r>
              <a:rPr sz="1300" b="1">
                <a:solidFill>
                  <a:srgbClr val="1F4E9E"/>
                </a:solidFill>
                <a:latin typeface="Calibri"/>
              </a:rPr>
              <a:t>Requirements grouped into five technical clusters deriving independent, verifiable system engines</a:t>
            </a:r>
            <a:endParaRPr lang="en-US" sz="1400" dirty="0"/>
          </a:p>
        </p:txBody>
      </p:sp>
      <p:sp>
        <p:nvSpPr>
          <p:cNvPr id="25" name="Text 23"/>
          <p:cNvSpPr txBox="1"/>
          <p:nvPr/>
        </p:nvSpPr>
        <p:spPr>
          <a:xfrm>
            <a:off x="548640" y="5440680"/>
            <a:ext cx="11155680" cy="365760"/>
          </a:xfrm>
          <a:prstGeom prst="rect">
            <a:avLst/>
          </a:prstGeom>
          <a:noFill/>
          <a:ln/>
        </p:spPr>
        <p:txBody>
          <a:bodyPr wrap="square" lIns="73152" tIns="0" rIns="73152" bIns="0" rtlCol="0" anchor="ctr"/>
          <a:lstStyle/>
          <a:p>
            <a:pPr marL="0" indent="0" algn="ctr">
              <a:lnSpc>
                <a:spcPct val="100000"/>
              </a:lnSpc>
              <a:spcBef>
                <a:spcPts val="0"/>
              </a:spcBef>
              <a:spcAft>
                <a:spcPts val="300"/>
              </a:spcAft>
              <a:buNone/>
            </a:pPr>
            <a:r>
              <a:rPr sz="1300" b="1">
                <a:solidFill>
                  <a:srgbClr val="1B2B4B"/>
                </a:solidFill>
                <a:latin typeface="Calibri"/>
              </a:rPr>
              <a:t>Decomposition Flow:  Approved S0 Need  →  SRS Requirement  →  Functional Cluster  →  Technical Engine  →  Primary Owner</a:t>
            </a:r>
            <a:endParaRPr lang="en-US" sz="1400" dirty="0"/>
          </a:p>
        </p:txBody>
      </p:sp>
      <p:sp>
        <p:nvSpPr>
          <p:cNvPr id="26"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475"/>
                </a:solidFill>
                <a:latin typeface="Calibri"/>
                <a:ea typeface="Calibri"/>
                <a:cs typeface="Calibri"/>
              </a:defRPr>
            </a:lvl1pPr>
          </a:lstStyle>
          <a:p>
            <a:pPr algn="r"/>
            <a:fld id="{F7021451-1387-4CA6-816F-3879F97B5CBC}" type="slidenum">
              <a:rPr lang="en-US" b="0"/>
              <a:t>7</a:t>
            </a:fld>
            <a:endParaRPr lang="en-US"/>
          </a:p>
        </p:txBody>
      </p:sp>
      <p:sp>
        <p:nvSpPr>
          <p:cNvPr id="27" name="Rounded Rectangle 26"/>
          <p:cNvSpPr/>
          <p:nvPr/>
        </p:nvSpPr>
        <p:spPr>
          <a:xfrm>
            <a:off x="548640" y="1417320"/>
            <a:ext cx="2084831" cy="640080"/>
          </a:xfrm>
          <a:prstGeom prst="roundRect">
            <a:avLst/>
          </a:prstGeom>
          <a:solidFill>
            <a:srgbClr val="1B2B4B"/>
          </a:solidFill>
          <a:ln>
            <a:solidFill>
              <a:srgbClr val="1B2B4B"/>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lnSpc>
                <a:spcPct val="100000"/>
              </a:lnSpc>
              <a:spcBef>
                <a:spcPts val="0"/>
              </a:spcBef>
              <a:spcAft>
                <a:spcPts val="300"/>
              </a:spcAft>
            </a:pPr>
            <a:r>
              <a:rPr sz="1200" b="1">
                <a:solidFill>
                  <a:srgbClr val="FFFFFF"/>
                </a:solidFill>
                <a:latin typeface="Calibri"/>
              </a:rPr>
              <a:t>C1  Wire Protocol Parsing &amp; Message Serialization</a:t>
            </a:r>
          </a:p>
        </p:txBody>
      </p:sp>
      <p:sp>
        <p:nvSpPr>
          <p:cNvPr id="28" name="Rectangle 27"/>
          <p:cNvSpPr/>
          <p:nvPr/>
        </p:nvSpPr>
        <p:spPr>
          <a:xfrm>
            <a:off x="548640" y="2121408"/>
            <a:ext cx="2084831" cy="594360"/>
          </a:xfrm>
          <a:prstGeom prst="rect">
            <a:avLst/>
          </a:prstGeom>
          <a:solidFill>
            <a:srgbClr val="EEF2F7"/>
          </a:solidFill>
          <a:ln>
            <a:solidFill>
              <a:srgbClr val="CCD4DF"/>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lnSpc>
                <a:spcPct val="100000"/>
              </a:lnSpc>
              <a:spcBef>
                <a:spcPts val="0"/>
              </a:spcBef>
              <a:spcAft>
                <a:spcPts val="300"/>
              </a:spcAft>
            </a:pPr>
            <a:r>
              <a:rPr sz="1200" b="1">
                <a:solidFill>
                  <a:srgbClr val="1F4E9E"/>
                </a:solidFill>
                <a:latin typeface="Calibri"/>
              </a:rPr>
              <a:t>FR-01, FR-02</a:t>
            </a:r>
          </a:p>
          <a:p>
            <a:pPr algn="ctr">
              <a:spcAft>
                <a:spcPts val="300"/>
              </a:spcAft>
            </a:pPr>
            <a:r>
              <a:rPr sz="1200" b="0">
                <a:solidFill>
                  <a:srgbClr val="1F4E9E"/>
                </a:solidFill>
                <a:latin typeface="Calibri"/>
              </a:rPr>
              <a:t>NFR-06</a:t>
            </a:r>
          </a:p>
        </p:txBody>
      </p:sp>
      <p:sp>
        <p:nvSpPr>
          <p:cNvPr id="29" name="Down Arrow 28"/>
          <p:cNvSpPr/>
          <p:nvPr/>
        </p:nvSpPr>
        <p:spPr>
          <a:xfrm>
            <a:off x="1417320" y="2761488"/>
            <a:ext cx="347472" cy="292608"/>
          </a:xfrm>
          <a:prstGeom prst="downArrow">
            <a:avLst/>
          </a:prstGeom>
          <a:solidFill>
            <a:srgbClr val="1F4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548640" y="3108960"/>
            <a:ext cx="2084831" cy="1371600"/>
          </a:xfrm>
          <a:prstGeom prst="rect">
            <a:avLst/>
          </a:prstGeom>
          <a:solidFill>
            <a:srgbClr val="FFFFFF"/>
          </a:solidFill>
          <a:ln>
            <a:solidFill>
              <a:srgbClr val="CCD4DF"/>
            </a:solidFill>
          </a:ln>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lnSpc>
                <a:spcPct val="100000"/>
              </a:lnSpc>
              <a:spcBef>
                <a:spcPts val="0"/>
              </a:spcBef>
              <a:spcAft>
                <a:spcPts val="300"/>
              </a:spcAft>
            </a:pPr>
            <a:r>
              <a:rPr sz="1200" b="0">
                <a:solidFill>
                  <a:srgbClr val="222222"/>
                </a:solidFill>
                <a:latin typeface="Calibri"/>
              </a:rPr>
              <a:t>Binary UDP datagram parsing, sub-12B drop, 16-bit header unpacking, label decompression with loop prevention (depth limit 16), response serialization.</a:t>
            </a:r>
          </a:p>
        </p:txBody>
      </p:sp>
      <p:sp>
        <p:nvSpPr>
          <p:cNvPr id="31" name="Rounded Rectangle 30"/>
          <p:cNvSpPr/>
          <p:nvPr/>
        </p:nvSpPr>
        <p:spPr>
          <a:xfrm>
            <a:off x="548640" y="4553712"/>
            <a:ext cx="2084831" cy="777240"/>
          </a:xfrm>
          <a:prstGeom prst="roundRect">
            <a:avLst/>
          </a:prstGeom>
          <a:solidFill>
            <a:srgbClr val="2B4C7E"/>
          </a:solidFill>
          <a:ln>
            <a:solidFill>
              <a:srgbClr val="2B4C7E"/>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lnSpc>
                <a:spcPct val="100000"/>
              </a:lnSpc>
              <a:spcBef>
                <a:spcPts val="0"/>
              </a:spcBef>
              <a:spcAft>
                <a:spcPts val="300"/>
              </a:spcAft>
            </a:pPr>
            <a:r>
              <a:rPr sz="1200" b="1">
                <a:solidFill>
                  <a:srgbClr val="FFFFFF"/>
                </a:solidFill>
                <a:latin typeface="Calibri"/>
              </a:rPr>
              <a:t>Engine E1: Protocol Parsing</a:t>
            </a:r>
          </a:p>
          <a:p>
            <a:pPr algn="ctr">
              <a:spcAft>
                <a:spcPts val="300"/>
              </a:spcAft>
            </a:pPr>
            <a:r>
              <a:rPr sz="1100" b="0">
                <a:solidFill>
                  <a:srgbClr val="FFFFFF"/>
                </a:solidFill>
                <a:latin typeface="Calibri"/>
              </a:rPr>
              <a:t>Owner: Vageesh Mathad (01fe24bci008)</a:t>
            </a:r>
          </a:p>
        </p:txBody>
      </p:sp>
      <p:sp>
        <p:nvSpPr>
          <p:cNvPr id="32" name="Rounded Rectangle 31"/>
          <p:cNvSpPr/>
          <p:nvPr/>
        </p:nvSpPr>
        <p:spPr>
          <a:xfrm>
            <a:off x="2788920" y="1417320"/>
            <a:ext cx="2084831" cy="640080"/>
          </a:xfrm>
          <a:prstGeom prst="roundRect">
            <a:avLst/>
          </a:prstGeom>
          <a:solidFill>
            <a:srgbClr val="1B2B4B"/>
          </a:solidFill>
          <a:ln>
            <a:solidFill>
              <a:srgbClr val="1B2B4B"/>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lnSpc>
                <a:spcPct val="100000"/>
              </a:lnSpc>
              <a:spcBef>
                <a:spcPts val="0"/>
              </a:spcBef>
              <a:spcAft>
                <a:spcPts val="300"/>
              </a:spcAft>
            </a:pPr>
            <a:r>
              <a:rPr sz="1200" b="1">
                <a:solidFill>
                  <a:srgbClr val="FFFFFF"/>
                </a:solidFill>
                <a:latin typeface="Calibri"/>
              </a:rPr>
              <a:t>C2  In-Memory Storage &amp; Cache Eviction Lifecycle</a:t>
            </a:r>
          </a:p>
        </p:txBody>
      </p:sp>
      <p:sp>
        <p:nvSpPr>
          <p:cNvPr id="33" name="Rectangle 32"/>
          <p:cNvSpPr/>
          <p:nvPr/>
        </p:nvSpPr>
        <p:spPr>
          <a:xfrm>
            <a:off x="2788920" y="2121408"/>
            <a:ext cx="2084831" cy="594360"/>
          </a:xfrm>
          <a:prstGeom prst="rect">
            <a:avLst/>
          </a:prstGeom>
          <a:solidFill>
            <a:srgbClr val="EEF2F7"/>
          </a:solidFill>
          <a:ln>
            <a:solidFill>
              <a:srgbClr val="CCD4DF"/>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lnSpc>
                <a:spcPct val="100000"/>
              </a:lnSpc>
              <a:spcBef>
                <a:spcPts val="0"/>
              </a:spcBef>
              <a:spcAft>
                <a:spcPts val="300"/>
              </a:spcAft>
            </a:pPr>
            <a:r>
              <a:rPr sz="1200" b="1">
                <a:solidFill>
                  <a:srgbClr val="1F4E9E"/>
                </a:solidFill>
                <a:latin typeface="Calibri"/>
              </a:rPr>
              <a:t>FR-03, FR-04, FR-05</a:t>
            </a:r>
          </a:p>
          <a:p>
            <a:pPr algn="ctr">
              <a:spcAft>
                <a:spcPts val="300"/>
              </a:spcAft>
            </a:pPr>
            <a:r>
              <a:rPr sz="1200" b="0">
                <a:solidFill>
                  <a:srgbClr val="1F4E9E"/>
                </a:solidFill>
                <a:latin typeface="Calibri"/>
              </a:rPr>
              <a:t>NFR-03, NFR-05, NFR-07</a:t>
            </a:r>
          </a:p>
        </p:txBody>
      </p:sp>
      <p:sp>
        <p:nvSpPr>
          <p:cNvPr id="34" name="Down Arrow 33"/>
          <p:cNvSpPr/>
          <p:nvPr/>
        </p:nvSpPr>
        <p:spPr>
          <a:xfrm>
            <a:off x="3657600" y="2761488"/>
            <a:ext cx="347472" cy="292608"/>
          </a:xfrm>
          <a:prstGeom prst="downArrow">
            <a:avLst/>
          </a:prstGeom>
          <a:solidFill>
            <a:srgbClr val="1F4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2788920" y="3108960"/>
            <a:ext cx="2084831" cy="1371600"/>
          </a:xfrm>
          <a:prstGeom prst="rect">
            <a:avLst/>
          </a:prstGeom>
          <a:solidFill>
            <a:srgbClr val="FFFFFF"/>
          </a:solidFill>
          <a:ln>
            <a:solidFill>
              <a:srgbClr val="CCD4DF"/>
            </a:solidFill>
          </a:ln>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lnSpc>
                <a:spcPct val="100000"/>
              </a:lnSpc>
              <a:spcBef>
                <a:spcPts val="0"/>
              </a:spcBef>
              <a:spcAft>
                <a:spcPts val="300"/>
              </a:spcAft>
            </a:pPr>
            <a:r>
              <a:rPr sz="1200" b="0">
                <a:solidFill>
                  <a:srgbClr val="222222"/>
                </a:solidFill>
                <a:latin typeface="Calibri"/>
              </a:rPr>
              <a:t>Key-value indexing, average O(1) lookup, O(1) LRU eviction, O(log N) Min-Heap TTL sweep, dynamic remaining TTL, snapshot persistence.</a:t>
            </a:r>
          </a:p>
        </p:txBody>
      </p:sp>
      <p:sp>
        <p:nvSpPr>
          <p:cNvPr id="36" name="Rounded Rectangle 35"/>
          <p:cNvSpPr/>
          <p:nvPr/>
        </p:nvSpPr>
        <p:spPr>
          <a:xfrm>
            <a:off x="2788920" y="4553712"/>
            <a:ext cx="2084831" cy="777240"/>
          </a:xfrm>
          <a:prstGeom prst="roundRect">
            <a:avLst/>
          </a:prstGeom>
          <a:solidFill>
            <a:srgbClr val="2B4C7E"/>
          </a:solidFill>
          <a:ln>
            <a:solidFill>
              <a:srgbClr val="2B4C7E"/>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lnSpc>
                <a:spcPct val="100000"/>
              </a:lnSpc>
              <a:spcBef>
                <a:spcPts val="0"/>
              </a:spcBef>
              <a:spcAft>
                <a:spcPts val="300"/>
              </a:spcAft>
            </a:pPr>
            <a:r>
              <a:rPr sz="1200" b="1">
                <a:solidFill>
                  <a:srgbClr val="FFFFFF"/>
                </a:solidFill>
                <a:latin typeface="Calibri"/>
              </a:rPr>
              <a:t>Engine E2: In-Memory Cache</a:t>
            </a:r>
          </a:p>
          <a:p>
            <a:pPr algn="ctr">
              <a:spcAft>
                <a:spcPts val="300"/>
              </a:spcAft>
            </a:pPr>
            <a:r>
              <a:rPr sz="1100" b="0">
                <a:solidFill>
                  <a:srgbClr val="FFFFFF"/>
                </a:solidFill>
                <a:latin typeface="Calibri"/>
              </a:rPr>
              <a:t>Owner: Mehak Sayed Yusuf (01fe24bci012)</a:t>
            </a:r>
          </a:p>
        </p:txBody>
      </p:sp>
      <p:sp>
        <p:nvSpPr>
          <p:cNvPr id="37" name="Rounded Rectangle 36"/>
          <p:cNvSpPr/>
          <p:nvPr/>
        </p:nvSpPr>
        <p:spPr>
          <a:xfrm>
            <a:off x="5029200" y="1417320"/>
            <a:ext cx="2084831" cy="640080"/>
          </a:xfrm>
          <a:prstGeom prst="roundRect">
            <a:avLst/>
          </a:prstGeom>
          <a:solidFill>
            <a:srgbClr val="1B2B4B"/>
          </a:solidFill>
          <a:ln>
            <a:solidFill>
              <a:srgbClr val="1B2B4B"/>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lnSpc>
                <a:spcPct val="100000"/>
              </a:lnSpc>
              <a:spcBef>
                <a:spcPts val="0"/>
              </a:spcBef>
              <a:spcAft>
                <a:spcPts val="300"/>
              </a:spcAft>
            </a:pPr>
            <a:r>
              <a:rPr sz="1200" b="1">
                <a:solidFill>
                  <a:srgbClr val="FFFFFF"/>
                </a:solidFill>
                <a:latin typeface="Calibri"/>
              </a:rPr>
              <a:t>C3  Upstream Resolution &amp; Network Forwarding</a:t>
            </a:r>
          </a:p>
        </p:txBody>
      </p:sp>
      <p:sp>
        <p:nvSpPr>
          <p:cNvPr id="38" name="Rectangle 37"/>
          <p:cNvSpPr/>
          <p:nvPr/>
        </p:nvSpPr>
        <p:spPr>
          <a:xfrm>
            <a:off x="5029200" y="2121408"/>
            <a:ext cx="2084831" cy="594360"/>
          </a:xfrm>
          <a:prstGeom prst="rect">
            <a:avLst/>
          </a:prstGeom>
          <a:solidFill>
            <a:srgbClr val="EEF2F7"/>
          </a:solidFill>
          <a:ln>
            <a:solidFill>
              <a:srgbClr val="CCD4DF"/>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lnSpc>
                <a:spcPct val="100000"/>
              </a:lnSpc>
              <a:spcBef>
                <a:spcPts val="0"/>
              </a:spcBef>
              <a:spcAft>
                <a:spcPts val="300"/>
              </a:spcAft>
            </a:pPr>
            <a:r>
              <a:rPr sz="1200" b="1">
                <a:solidFill>
                  <a:srgbClr val="1F4E9E"/>
                </a:solidFill>
                <a:latin typeface="Calibri"/>
              </a:rPr>
              <a:t>FR-06</a:t>
            </a:r>
          </a:p>
          <a:p>
            <a:pPr algn="ctr">
              <a:spcAft>
                <a:spcPts val="300"/>
              </a:spcAft>
            </a:pPr>
            <a:r>
              <a:rPr sz="1200" b="0">
                <a:solidFill>
                  <a:srgbClr val="1F4E9E"/>
                </a:solidFill>
                <a:latin typeface="Calibri"/>
              </a:rPr>
              <a:t>NFR-04</a:t>
            </a:r>
          </a:p>
        </p:txBody>
      </p:sp>
      <p:sp>
        <p:nvSpPr>
          <p:cNvPr id="39" name="Down Arrow 38"/>
          <p:cNvSpPr/>
          <p:nvPr/>
        </p:nvSpPr>
        <p:spPr>
          <a:xfrm>
            <a:off x="5897880" y="2761488"/>
            <a:ext cx="347472" cy="292608"/>
          </a:xfrm>
          <a:prstGeom prst="downArrow">
            <a:avLst/>
          </a:prstGeom>
          <a:solidFill>
            <a:srgbClr val="1F4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5029200" y="3108960"/>
            <a:ext cx="2084831" cy="1371600"/>
          </a:xfrm>
          <a:prstGeom prst="rect">
            <a:avLst/>
          </a:prstGeom>
          <a:solidFill>
            <a:srgbClr val="FFFFFF"/>
          </a:solidFill>
          <a:ln>
            <a:solidFill>
              <a:srgbClr val="CCD4DF"/>
            </a:solidFill>
          </a:ln>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lnSpc>
                <a:spcPct val="100000"/>
              </a:lnSpc>
              <a:spcBef>
                <a:spcPts val="0"/>
              </a:spcBef>
              <a:spcAft>
                <a:spcPts val="300"/>
              </a:spcAft>
            </a:pPr>
            <a:r>
              <a:rPr sz="1200" b="0">
                <a:solidFill>
                  <a:srgbClr val="222222"/>
                </a:solidFill>
                <a:latin typeface="Calibri"/>
              </a:rPr>
              <a:t>Forwarding of cache misses to upstream resolvers, 2.0s deadline, per-attempt timeouts, failover, randomized transaction IDs (spoofing mitigation).</a:t>
            </a:r>
          </a:p>
        </p:txBody>
      </p:sp>
      <p:sp>
        <p:nvSpPr>
          <p:cNvPr id="41" name="Rounded Rectangle 40"/>
          <p:cNvSpPr/>
          <p:nvPr/>
        </p:nvSpPr>
        <p:spPr>
          <a:xfrm>
            <a:off x="5029200" y="4553712"/>
            <a:ext cx="2084831" cy="777240"/>
          </a:xfrm>
          <a:prstGeom prst="roundRect">
            <a:avLst/>
          </a:prstGeom>
          <a:solidFill>
            <a:srgbClr val="2B4C7E"/>
          </a:solidFill>
          <a:ln>
            <a:solidFill>
              <a:srgbClr val="2B4C7E"/>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lnSpc>
                <a:spcPct val="100000"/>
              </a:lnSpc>
              <a:spcBef>
                <a:spcPts val="0"/>
              </a:spcBef>
              <a:spcAft>
                <a:spcPts val="300"/>
              </a:spcAft>
            </a:pPr>
            <a:r>
              <a:rPr sz="1200" b="1">
                <a:solidFill>
                  <a:srgbClr val="FFFFFF"/>
                </a:solidFill>
                <a:latin typeface="Calibri"/>
              </a:rPr>
              <a:t>Engine E3: Upstream Resolution</a:t>
            </a:r>
          </a:p>
          <a:p>
            <a:pPr algn="ctr">
              <a:spcAft>
                <a:spcPts val="300"/>
              </a:spcAft>
            </a:pPr>
            <a:r>
              <a:rPr sz="1100" b="0">
                <a:solidFill>
                  <a:srgbClr val="FFFFFF"/>
                </a:solidFill>
                <a:latin typeface="Calibri"/>
              </a:rPr>
              <a:t>Owner: Ishani G (01fe22bci009)</a:t>
            </a:r>
          </a:p>
        </p:txBody>
      </p:sp>
      <p:sp>
        <p:nvSpPr>
          <p:cNvPr id="42" name="Rounded Rectangle 41"/>
          <p:cNvSpPr/>
          <p:nvPr/>
        </p:nvSpPr>
        <p:spPr>
          <a:xfrm>
            <a:off x="7269480" y="1417320"/>
            <a:ext cx="2084831" cy="640080"/>
          </a:xfrm>
          <a:prstGeom prst="roundRect">
            <a:avLst/>
          </a:prstGeom>
          <a:solidFill>
            <a:srgbClr val="1B2B4B"/>
          </a:solidFill>
          <a:ln>
            <a:solidFill>
              <a:srgbClr val="1B2B4B"/>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lnSpc>
                <a:spcPct val="100000"/>
              </a:lnSpc>
              <a:spcBef>
                <a:spcPts val="0"/>
              </a:spcBef>
              <a:spcAft>
                <a:spcPts val="300"/>
              </a:spcAft>
            </a:pPr>
            <a:r>
              <a:rPr sz="1200" b="1">
                <a:solidFill>
                  <a:srgbClr val="FFFFFF"/>
                </a:solidFill>
                <a:latin typeface="Calibri"/>
              </a:rPr>
              <a:t>C4  Query Execution Virtual Machine &amp; Policy Dispatch</a:t>
            </a:r>
          </a:p>
        </p:txBody>
      </p:sp>
      <p:sp>
        <p:nvSpPr>
          <p:cNvPr id="43" name="Rectangle 42"/>
          <p:cNvSpPr/>
          <p:nvPr/>
        </p:nvSpPr>
        <p:spPr>
          <a:xfrm>
            <a:off x="7269480" y="2121408"/>
            <a:ext cx="2084831" cy="594360"/>
          </a:xfrm>
          <a:prstGeom prst="rect">
            <a:avLst/>
          </a:prstGeom>
          <a:solidFill>
            <a:srgbClr val="EEF2F7"/>
          </a:solidFill>
          <a:ln>
            <a:solidFill>
              <a:srgbClr val="CCD4DF"/>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lnSpc>
                <a:spcPct val="100000"/>
              </a:lnSpc>
              <a:spcBef>
                <a:spcPts val="0"/>
              </a:spcBef>
              <a:spcAft>
                <a:spcPts val="300"/>
              </a:spcAft>
            </a:pPr>
            <a:r>
              <a:rPr sz="1200" b="1">
                <a:solidFill>
                  <a:srgbClr val="1F4E9E"/>
                </a:solidFill>
                <a:latin typeface="Calibri"/>
              </a:rPr>
              <a:t>FR-07*, FR-08</a:t>
            </a:r>
          </a:p>
          <a:p>
            <a:pPr algn="ctr">
              <a:spcAft>
                <a:spcPts val="300"/>
              </a:spcAft>
            </a:pPr>
            <a:r>
              <a:rPr sz="1200" b="0">
                <a:solidFill>
                  <a:srgbClr val="1F4E9E"/>
                </a:solidFill>
                <a:latin typeface="Calibri"/>
              </a:rPr>
              <a:t>NFR-02</a:t>
            </a:r>
          </a:p>
        </p:txBody>
      </p:sp>
      <p:sp>
        <p:nvSpPr>
          <p:cNvPr id="44" name="Down Arrow 43"/>
          <p:cNvSpPr/>
          <p:nvPr/>
        </p:nvSpPr>
        <p:spPr>
          <a:xfrm>
            <a:off x="8138160" y="2761488"/>
            <a:ext cx="347472" cy="292608"/>
          </a:xfrm>
          <a:prstGeom prst="downArrow">
            <a:avLst/>
          </a:prstGeom>
          <a:solidFill>
            <a:srgbClr val="1F4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7269480" y="3108960"/>
            <a:ext cx="2084831" cy="1371600"/>
          </a:xfrm>
          <a:prstGeom prst="rect">
            <a:avLst/>
          </a:prstGeom>
          <a:solidFill>
            <a:srgbClr val="FFFFFF"/>
          </a:solidFill>
          <a:ln>
            <a:solidFill>
              <a:srgbClr val="CCD4DF"/>
            </a:solidFill>
          </a:ln>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lnSpc>
                <a:spcPct val="100000"/>
              </a:lnSpc>
              <a:spcBef>
                <a:spcPts val="0"/>
              </a:spcBef>
              <a:spcAft>
                <a:spcPts val="300"/>
              </a:spcAft>
            </a:pPr>
            <a:r>
              <a:rPr sz="1200" b="0">
                <a:solidFill>
                  <a:srgbClr val="222222"/>
                </a:solidFill>
                <a:latin typeface="Calibri"/>
              </a:rPr>
              <a:t>Request pipeline FETCH → DECODE → LOOKUP → RESOLVE → COMMIT → EMIT, edge-condition mapping (NXDOMAIN, SERVFAIL, FORMERR), multi-threaded worker dispatch.</a:t>
            </a:r>
          </a:p>
        </p:txBody>
      </p:sp>
      <p:sp>
        <p:nvSpPr>
          <p:cNvPr id="46" name="Rounded Rectangle 45"/>
          <p:cNvSpPr/>
          <p:nvPr/>
        </p:nvSpPr>
        <p:spPr>
          <a:xfrm>
            <a:off x="7269480" y="4553712"/>
            <a:ext cx="2084831" cy="777240"/>
          </a:xfrm>
          <a:prstGeom prst="roundRect">
            <a:avLst/>
          </a:prstGeom>
          <a:solidFill>
            <a:srgbClr val="2B4C7E"/>
          </a:solidFill>
          <a:ln>
            <a:solidFill>
              <a:srgbClr val="2B4C7E"/>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lnSpc>
                <a:spcPct val="100000"/>
              </a:lnSpc>
              <a:spcBef>
                <a:spcPts val="0"/>
              </a:spcBef>
              <a:spcAft>
                <a:spcPts val="300"/>
              </a:spcAft>
            </a:pPr>
            <a:r>
              <a:rPr sz="1200" b="1">
                <a:solidFill>
                  <a:srgbClr val="FFFFFF"/>
                </a:solidFill>
                <a:latin typeface="Calibri"/>
              </a:rPr>
              <a:t>Engine E4: Query Execution VM</a:t>
            </a:r>
          </a:p>
          <a:p>
            <a:pPr algn="ctr">
              <a:spcAft>
                <a:spcPts val="300"/>
              </a:spcAft>
            </a:pPr>
            <a:r>
              <a:rPr sz="1100" b="0">
                <a:solidFill>
                  <a:srgbClr val="FFFFFF"/>
                </a:solidFill>
                <a:latin typeface="Calibri"/>
              </a:rPr>
              <a:t>Owner: Joel Biju (01fe24bci021)</a:t>
            </a:r>
          </a:p>
        </p:txBody>
      </p:sp>
      <p:sp>
        <p:nvSpPr>
          <p:cNvPr id="47" name="Rounded Rectangle 46"/>
          <p:cNvSpPr/>
          <p:nvPr/>
        </p:nvSpPr>
        <p:spPr>
          <a:xfrm>
            <a:off x="9509760" y="1417320"/>
            <a:ext cx="2084831" cy="640080"/>
          </a:xfrm>
          <a:prstGeom prst="roundRect">
            <a:avLst/>
          </a:prstGeom>
          <a:solidFill>
            <a:srgbClr val="1B2B4B"/>
          </a:solidFill>
          <a:ln>
            <a:solidFill>
              <a:srgbClr val="1B2B4B"/>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lnSpc>
                <a:spcPct val="100000"/>
              </a:lnSpc>
              <a:spcBef>
                <a:spcPts val="0"/>
              </a:spcBef>
              <a:spcAft>
                <a:spcPts val="300"/>
              </a:spcAft>
            </a:pPr>
            <a:r>
              <a:rPr sz="1200" b="1">
                <a:solidFill>
                  <a:srgbClr val="FFFFFF"/>
                </a:solidFill>
                <a:latin typeface="Calibri"/>
              </a:rPr>
              <a:t>C5  Telemetry, Benchmarking &amp; Performance Analytics</a:t>
            </a:r>
          </a:p>
        </p:txBody>
      </p:sp>
      <p:sp>
        <p:nvSpPr>
          <p:cNvPr id="48" name="Rectangle 47"/>
          <p:cNvSpPr/>
          <p:nvPr/>
        </p:nvSpPr>
        <p:spPr>
          <a:xfrm>
            <a:off x="9509760" y="2121408"/>
            <a:ext cx="2084831" cy="594360"/>
          </a:xfrm>
          <a:prstGeom prst="rect">
            <a:avLst/>
          </a:prstGeom>
          <a:solidFill>
            <a:srgbClr val="EEF2F7"/>
          </a:solidFill>
          <a:ln>
            <a:solidFill>
              <a:srgbClr val="CCD4DF"/>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lnSpc>
                <a:spcPct val="100000"/>
              </a:lnSpc>
              <a:spcBef>
                <a:spcPts val="0"/>
              </a:spcBef>
              <a:spcAft>
                <a:spcPts val="300"/>
              </a:spcAft>
            </a:pPr>
            <a:r>
              <a:rPr sz="1200" b="1">
                <a:solidFill>
                  <a:srgbClr val="1F4E9E"/>
                </a:solidFill>
                <a:latin typeface="Calibri"/>
              </a:rPr>
              <a:t>FR-09</a:t>
            </a:r>
          </a:p>
          <a:p>
            <a:pPr algn="ctr">
              <a:spcAft>
                <a:spcPts val="300"/>
              </a:spcAft>
            </a:pPr>
            <a:r>
              <a:rPr sz="1200" b="0">
                <a:solidFill>
                  <a:srgbClr val="1F4E9E"/>
                </a:solidFill>
                <a:latin typeface="Calibri"/>
              </a:rPr>
              <a:t>NFR-01</a:t>
            </a:r>
          </a:p>
        </p:txBody>
      </p:sp>
      <p:sp>
        <p:nvSpPr>
          <p:cNvPr id="49" name="Down Arrow 48"/>
          <p:cNvSpPr/>
          <p:nvPr/>
        </p:nvSpPr>
        <p:spPr>
          <a:xfrm>
            <a:off x="10378440" y="2761488"/>
            <a:ext cx="347472" cy="292608"/>
          </a:xfrm>
          <a:prstGeom prst="downArrow">
            <a:avLst/>
          </a:prstGeom>
          <a:solidFill>
            <a:srgbClr val="1F4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9509760" y="3108960"/>
            <a:ext cx="2084831" cy="1371600"/>
          </a:xfrm>
          <a:prstGeom prst="rect">
            <a:avLst/>
          </a:prstGeom>
          <a:solidFill>
            <a:srgbClr val="FFFFFF"/>
          </a:solidFill>
          <a:ln>
            <a:solidFill>
              <a:srgbClr val="CCD4DF"/>
            </a:solidFill>
          </a:ln>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lnSpc>
                <a:spcPct val="100000"/>
              </a:lnSpc>
              <a:spcBef>
                <a:spcPts val="0"/>
              </a:spcBef>
              <a:spcAft>
                <a:spcPts val="300"/>
              </a:spcAft>
            </a:pPr>
            <a:r>
              <a:rPr sz="1200" b="0">
                <a:solidFill>
                  <a:srgbClr val="222222"/>
                </a:solidFill>
                <a:latin typeface="Calibri"/>
              </a:rPr>
              <a:t>Real-time tracking of hit/miss counts, hit ratio %, and monotonic steady_clock latency distributions; evaluation reporting.</a:t>
            </a:r>
          </a:p>
        </p:txBody>
      </p:sp>
      <p:sp>
        <p:nvSpPr>
          <p:cNvPr id="51" name="Rounded Rectangle 50"/>
          <p:cNvSpPr/>
          <p:nvPr/>
        </p:nvSpPr>
        <p:spPr>
          <a:xfrm>
            <a:off x="9509760" y="4553712"/>
            <a:ext cx="2084831" cy="777240"/>
          </a:xfrm>
          <a:prstGeom prst="roundRect">
            <a:avLst/>
          </a:prstGeom>
          <a:solidFill>
            <a:srgbClr val="2B4C7E"/>
          </a:solidFill>
          <a:ln>
            <a:solidFill>
              <a:srgbClr val="2B4C7E"/>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lnSpc>
                <a:spcPct val="100000"/>
              </a:lnSpc>
              <a:spcBef>
                <a:spcPts val="0"/>
              </a:spcBef>
              <a:spcAft>
                <a:spcPts val="300"/>
              </a:spcAft>
            </a:pPr>
            <a:r>
              <a:rPr sz="1200" b="1">
                <a:solidFill>
                  <a:srgbClr val="FFFFFF"/>
                </a:solidFill>
                <a:latin typeface="Calibri"/>
              </a:rPr>
              <a:t>Engine E4: Telemetry Subsystem</a:t>
            </a:r>
          </a:p>
          <a:p>
            <a:pPr algn="ctr">
              <a:spcAft>
                <a:spcPts val="300"/>
              </a:spcAft>
            </a:pPr>
            <a:r>
              <a:rPr sz="1100" b="0">
                <a:solidFill>
                  <a:srgbClr val="FFFFFF"/>
                </a:solidFill>
                <a:latin typeface="Calibri"/>
              </a:rPr>
              <a:t>Owner: Joel Biju (01fe24bci021)</a:t>
            </a:r>
          </a:p>
        </p:txBody>
      </p:sp>
      <p:sp>
        <p:nvSpPr>
          <p:cNvPr id="52" name="Footnote"/>
          <p:cNvSpPr txBox="1"/>
          <p:nvPr/>
        </p:nvSpPr>
        <p:spPr>
          <a:xfrm>
            <a:off x="548640" y="5897880"/>
            <a:ext cx="11155680" cy="365760"/>
          </a:xfrm>
          <a:prstGeom prst="rect">
            <a:avLst/>
          </a:prstGeom>
          <a:noFill/>
        </p:spPr>
        <p:txBody>
          <a:bodyPr wrap="square" lIns="0" rIns="0">
            <a:spAutoFit/>
          </a:bodyPr>
          <a:lstStyle/>
          <a:p>
            <a:pPr algn="ctr"/>
            <a:r>
              <a:rPr sz="1200" i="1">
                <a:solidFill>
                  <a:srgbClr val="5B6475"/>
                </a:solidFill>
                <a:latin typeface="Calibri"/>
              </a:rPr>
              <a:t>* FR-07: the atomic cache commit is performed by E2 (per traceability matrix); E4 sequences the COMMIT pipeline stage.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0">
            <a:extLst>
              <a:ext uri="{FF2B5EF4-FFF2-40B4-BE49-F238E27FC236}">
                <a16:creationId xmlns:a16="http://schemas.microsoft.com/office/drawing/2014/main" id="{95406EDD-6E2B-19FE-05C0-227AEE753554}"/>
              </a:ext>
            </a:extLst>
          </p:cNvPr>
          <p:cNvSpPr txBox="1"/>
          <p:nvPr/>
        </p:nvSpPr>
        <p:spPr>
          <a:xfrm>
            <a:off x="1706880" y="3031285"/>
            <a:ext cx="8778240" cy="201168"/>
          </a:xfrm>
          <a:prstGeom prst="rect">
            <a:avLst/>
          </a:prstGeom>
          <a:noFill/>
          <a:ln/>
        </p:spPr>
        <p:txBody>
          <a:bodyPr wrap="square" lIns="0" tIns="0" rIns="0" bIns="0" rtlCol="0" anchor="ctr"/>
          <a:lstStyle/>
          <a:p>
            <a:pPr marL="0" indent="0" algn="ctr">
              <a:lnSpc>
                <a:spcPct val="100000"/>
              </a:lnSpc>
              <a:spcBef>
                <a:spcPts val="0"/>
              </a:spcBef>
              <a:spcAft>
                <a:spcPts val="0"/>
              </a:spcAft>
              <a:buNone/>
            </a:pPr>
            <a:r>
              <a:rPr sz="3600" b="1">
                <a:solidFill>
                  <a:srgbClr val="1B2B4B"/>
                </a:solidFill>
                <a:latin typeface="Cambria"/>
              </a:rPr>
              <a:t>DETAILED ENGINE SPECIFICATIONS</a:t>
            </a:r>
            <a:endParaRPr lang="en-US" sz="11500" dirty="0">
              <a:solidFill>
                <a:schemeClr val="tx2"/>
              </a:solidFill>
            </a:endParaRPr>
          </a:p>
          <a:p>
            <a:pPr algn="ctr">
              <a:lnSpc>
                <a:spcPct val="100000"/>
              </a:lnSpc>
              <a:spcBef>
                <a:spcPts val="1200"/>
              </a:spcBef>
              <a:spcAft>
                <a:spcPts val="0"/>
              </a:spcAft>
            </a:pPr>
            <a:r>
              <a:rPr sz="1600" b="0">
                <a:solidFill>
                  <a:srgbClr val="555555"/>
                </a:solidFill>
                <a:latin typeface="Calibri"/>
              </a:rPr>
              <a:t>Responsibility Boundaries, Core Algorithms, Failure Handling, and Foundational Course Integration</a:t>
            </a:r>
          </a:p>
        </p:txBody>
      </p:sp>
      <p:sp>
        <p:nvSpPr>
          <p:cNvPr id="14" name="Status note"/>
          <p:cNvSpPr txBox="1"/>
          <p:nvPr/>
        </p:nvSpPr>
        <p:spPr>
          <a:xfrm>
            <a:off x="1709928" y="3977639"/>
            <a:ext cx="8778240" cy="640080"/>
          </a:xfrm>
          <a:prstGeom prst="rect">
            <a:avLst/>
          </a:prstGeom>
          <a:noFill/>
        </p:spPr>
        <p:txBody>
          <a:bodyPr wrap="square">
            <a:spAutoFit/>
          </a:bodyPr>
          <a:lstStyle/>
          <a:p>
            <a:pPr algn="ctr"/>
            <a:r>
              <a:rPr sz="1400" i="1">
                <a:solidFill>
                  <a:srgbClr val="5B6475"/>
                </a:solidFill>
                <a:latin typeface="Calibri"/>
              </a:rPr>
              <a:t>S1 baseline: engine designs and performance figures are requirements and targets. Implementation and measured results follow in later stages.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3"/>
          </p:nvPr>
        </p:nvSpPr>
        <p:spPr/>
        <p:txBody>
          <a:bodyPr lIns="0"/>
          <a:lstStyle/>
          <a:p>
            <a:r>
              <a:rPr sz="2600"/>
              <a:t>Protocol Parsing &amp; Wire Message Engine</a:t>
            </a:r>
          </a:p>
        </p:txBody>
      </p:sp>
      <p:sp>
        <p:nvSpPr>
          <p:cNvPr id="3" name="Section tag"/>
          <p:cNvSpPr txBox="1"/>
          <p:nvPr/>
        </p:nvSpPr>
        <p:spPr>
          <a:xfrm>
            <a:off x="548640" y="91440"/>
            <a:ext cx="8778240" cy="201168"/>
          </a:xfrm>
          <a:prstGeom prst="rect">
            <a:avLst/>
          </a:prstGeom>
          <a:noFill/>
        </p:spPr>
        <p:txBody>
          <a:bodyPr wrap="square" lIns="0" tIns="0" rIns="0" bIns="0" anchor="t">
            <a:spAutoFit/>
          </a:bodyPr>
          <a:lstStyle/>
          <a:p>
            <a:pPr algn="l">
              <a:lnSpc>
                <a:spcPct val="100000"/>
              </a:lnSpc>
              <a:spcAft>
                <a:spcPts val="0"/>
              </a:spcAft>
            </a:pPr>
            <a:r>
              <a:rPr sz="1000" b="1" i="0">
                <a:solidFill>
                  <a:srgbClr val="B3282D"/>
                </a:solidFill>
                <a:latin typeface="Calibri"/>
              </a:rPr>
              <a:t>C · ENGINE 01</a:t>
            </a:r>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475"/>
                </a:solidFill>
                <a:latin typeface="Calibri"/>
                <a:ea typeface="Calibri"/>
                <a:cs typeface="Calibri"/>
              </a:defRPr>
            </a:lvl1pPr>
          </a:lstStyle>
          <a:p>
            <a:pPr algn="r"/>
            <a:fld id="{F7021451-1387-4CA6-816F-3879F97B5CBC}" type="slidenum">
              <a:rPr lang="en-US" b="0"/>
              <a:t>9</a:t>
            </a:fld>
            <a:endParaRPr lang="en-US"/>
          </a:p>
        </p:txBody>
      </p:sp>
      <p:sp>
        <p:nvSpPr>
          <p:cNvPr id="26" name="Subtitle"/>
          <p:cNvSpPr txBox="1"/>
          <p:nvPr/>
        </p:nvSpPr>
        <p:spPr>
          <a:xfrm>
            <a:off x="548640" y="932688"/>
            <a:ext cx="10972800" cy="320040"/>
          </a:xfrm>
          <a:prstGeom prst="rect">
            <a:avLst/>
          </a:prstGeom>
          <a:noFill/>
        </p:spPr>
        <p:txBody>
          <a:bodyPr wrap="square" lIns="0" tIns="0" rIns="0" bIns="0" anchor="t">
            <a:spAutoFit/>
          </a:bodyPr>
          <a:lstStyle/>
          <a:p>
            <a:pPr algn="l">
              <a:lnSpc>
                <a:spcPct val="100000"/>
              </a:lnSpc>
              <a:spcAft>
                <a:spcPts val="0"/>
              </a:spcAft>
            </a:pPr>
            <a:r>
              <a:rPr sz="1200" b="1" i="0">
                <a:solidFill>
                  <a:srgbClr val="1F4E9E"/>
                </a:solidFill>
                <a:latin typeface="Calibri"/>
              </a:rPr>
              <a:t>COMPUTER NETWORKS ENGINE   |   Owner: Vageesh Mathad (01fe24bci008)   |   Cluster C1: FR-01, FR-02, NFR-06</a:t>
            </a:r>
          </a:p>
        </p:txBody>
      </p:sp>
      <p:sp>
        <p:nvSpPr>
          <p:cNvPr id="27" name="Left card"/>
          <p:cNvSpPr/>
          <p:nvPr/>
        </p:nvSpPr>
        <p:spPr>
          <a:xfrm>
            <a:off x="548640" y="1371600"/>
            <a:ext cx="5394960" cy="2926080"/>
          </a:xfrm>
          <a:prstGeom prst="roundRect">
            <a:avLst>
              <a:gd name="adj" fmla="val 4000"/>
            </a:avLst>
          </a:prstGeom>
          <a:solidFill>
            <a:srgbClr val="EEF1FA"/>
          </a:solidFill>
          <a:ln w="9525">
            <a:solidFill>
              <a:srgbClr val="D5DB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sponsibility and requirements"/>
          <p:cNvSpPr txBox="1"/>
          <p:nvPr/>
        </p:nvSpPr>
        <p:spPr>
          <a:xfrm>
            <a:off x="731520" y="1481328"/>
            <a:ext cx="5029200" cy="2743200"/>
          </a:xfrm>
          <a:prstGeom prst="rect">
            <a:avLst/>
          </a:prstGeom>
          <a:noFill/>
        </p:spPr>
        <p:txBody>
          <a:bodyPr wrap="square" lIns="0" tIns="0" rIns="0" bIns="0" anchor="t">
            <a:spAutoFit/>
          </a:bodyPr>
          <a:lstStyle/>
          <a:p>
            <a:pPr algn="l">
              <a:lnSpc>
                <a:spcPct val="100000"/>
              </a:lnSpc>
              <a:spcAft>
                <a:spcPts val="300"/>
              </a:spcAft>
            </a:pPr>
            <a:r>
              <a:rPr sz="1100" b="1" i="0">
                <a:solidFill>
                  <a:srgbClr val="B3282D"/>
                </a:solidFill>
                <a:latin typeface="Calibri"/>
              </a:rPr>
              <a:t>RESPONSIBILITY</a:t>
            </a:r>
          </a:p>
          <a:p>
            <a:pPr algn="l">
              <a:lnSpc>
                <a:spcPct val="100000"/>
              </a:lnSpc>
              <a:spcAft>
                <a:spcPts val="800"/>
              </a:spcAft>
            </a:pPr>
            <a:r>
              <a:rPr sz="1200" b="0" i="0">
                <a:solidFill>
                  <a:srgbClr val="222222"/>
                </a:solidFill>
                <a:latin typeface="Calibri"/>
              </a:rPr>
              <a:t>Parses raw UDP datagrams into structured DNS request messages and serializes DNS response structures into RFC 1035 wire-format datagrams. It owns header and question parsing, domain-name decompression, packet-boundary validation, and response serialization. It does not own the client UDP listener or upstream network communication.</a:t>
            </a:r>
          </a:p>
          <a:p>
            <a:pPr algn="l">
              <a:lnSpc>
                <a:spcPct val="100000"/>
              </a:lnSpc>
              <a:spcAft>
                <a:spcPts val="300"/>
              </a:spcAft>
            </a:pPr>
            <a:r>
              <a:rPr sz="1100" b="1" i="0">
                <a:solidFill>
                  <a:srgbClr val="B3282D"/>
                </a:solidFill>
                <a:latin typeface="Calibri"/>
              </a:rPr>
              <a:t>REQUIREMENTS COVERED</a:t>
            </a:r>
          </a:p>
          <a:p>
            <a:pPr algn="l">
              <a:lnSpc>
                <a:spcPct val="100000"/>
              </a:lnSpc>
              <a:spcAft>
                <a:spcPts val="200"/>
              </a:spcAft>
            </a:pPr>
            <a:r>
              <a:rPr sz="1200" b="1" i="0">
                <a:solidFill>
                  <a:srgbClr val="1B2B4B"/>
                </a:solidFill>
                <a:latin typeface="Calibri"/>
              </a:rPr>
              <a:t>FR-01   </a:t>
            </a:r>
            <a:r>
              <a:rPr sz="1200" b="0" i="0">
                <a:solidFill>
                  <a:srgbClr val="222222"/>
                </a:solidFill>
                <a:latin typeface="Calibri"/>
              </a:rPr>
              <a:t>Datagram validation (the UDP listener is owned by E4)</a:t>
            </a:r>
          </a:p>
          <a:p>
            <a:pPr algn="l">
              <a:lnSpc>
                <a:spcPct val="100000"/>
              </a:lnSpc>
              <a:spcAft>
                <a:spcPts val="200"/>
              </a:spcAft>
            </a:pPr>
            <a:r>
              <a:rPr sz="1200" b="1" i="0">
                <a:solidFill>
                  <a:srgbClr val="1B2B4B"/>
                </a:solidFill>
                <a:latin typeface="Calibri"/>
              </a:rPr>
              <a:t>FR-02   </a:t>
            </a:r>
            <a:r>
              <a:rPr sz="1200" b="0" i="0">
                <a:solidFill>
                  <a:srgbClr val="222222"/>
                </a:solidFill>
                <a:latin typeface="Calibri"/>
              </a:rPr>
              <a:t>Header parsing and label decompression (depth limit 16)</a:t>
            </a:r>
          </a:p>
          <a:p>
            <a:pPr algn="l">
              <a:lnSpc>
                <a:spcPct val="100000"/>
              </a:lnSpc>
              <a:spcAft>
                <a:spcPts val="0"/>
              </a:spcAft>
            </a:pPr>
            <a:r>
              <a:rPr sz="1200" b="0" i="0">
                <a:solidFill>
                  <a:srgbClr val="5B6475"/>
                </a:solidFill>
                <a:latin typeface="Calibri"/>
              </a:rPr>
              <a:t>NFR-06  RFC 1035 UDP wire-format compatibility with dig and nslookup (target)</a:t>
            </a:r>
          </a:p>
        </p:txBody>
      </p:sp>
      <p:sp>
        <p:nvSpPr>
          <p:cNvPr id="29" name="Right card"/>
          <p:cNvSpPr/>
          <p:nvPr/>
        </p:nvSpPr>
        <p:spPr>
          <a:xfrm>
            <a:off x="6126480" y="1371600"/>
            <a:ext cx="5486400" cy="2926080"/>
          </a:xfrm>
          <a:prstGeom prst="roundRect">
            <a:avLst>
              <a:gd name="adj" fmla="val 4000"/>
            </a:avLst>
          </a:prstGeom>
          <a:solidFill>
            <a:srgbClr val="FFFFFF"/>
          </a:solidFill>
          <a:ln w="9525">
            <a:solidFill>
              <a:srgbClr val="D5DB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Input label"/>
          <p:cNvSpPr txBox="1"/>
          <p:nvPr/>
        </p:nvSpPr>
        <p:spPr>
          <a:xfrm>
            <a:off x="6309360" y="1490472"/>
            <a:ext cx="1325880" cy="274320"/>
          </a:xfrm>
          <a:prstGeom prst="rect">
            <a:avLst/>
          </a:prstGeom>
          <a:noFill/>
        </p:spPr>
        <p:txBody>
          <a:bodyPr wrap="square" lIns="0" tIns="0" rIns="0" bIns="0" anchor="t">
            <a:spAutoFit/>
          </a:bodyPr>
          <a:lstStyle/>
          <a:p>
            <a:pPr algn="l">
              <a:lnSpc>
                <a:spcPct val="100000"/>
              </a:lnSpc>
              <a:spcAft>
                <a:spcPts val="0"/>
              </a:spcAft>
            </a:pPr>
            <a:r>
              <a:rPr sz="1100" b="1" i="0">
                <a:solidFill>
                  <a:srgbClr val="B3282D"/>
                </a:solidFill>
                <a:latin typeface="Calibri"/>
              </a:rPr>
              <a:t>INPUT</a:t>
            </a:r>
          </a:p>
        </p:txBody>
      </p:sp>
      <p:sp>
        <p:nvSpPr>
          <p:cNvPr id="31" name="Input text"/>
          <p:cNvSpPr txBox="1"/>
          <p:nvPr/>
        </p:nvSpPr>
        <p:spPr>
          <a:xfrm>
            <a:off x="7635240" y="1490472"/>
            <a:ext cx="3840480" cy="491490"/>
          </a:xfrm>
          <a:prstGeom prst="rect">
            <a:avLst/>
          </a:prstGeom>
          <a:noFill/>
        </p:spPr>
        <p:txBody>
          <a:bodyPr wrap="square" lIns="0" tIns="0" rIns="0" bIns="0" anchor="t">
            <a:spAutoFit/>
          </a:bodyPr>
          <a:lstStyle/>
          <a:p>
            <a:pPr algn="l">
              <a:lnSpc>
                <a:spcPct val="100000"/>
              </a:lnSpc>
              <a:spcAft>
                <a:spcPts val="200"/>
              </a:spcAft>
            </a:pPr>
            <a:r>
              <a:rPr sz="1200" b="0" i="0">
                <a:solidFill>
                  <a:srgbClr val="222222"/>
                </a:solidFill>
                <a:latin typeface="Calibri"/>
              </a:rPr>
              <a:t>Raw UDP datagram buffer (up to 512 bytes) and its byte length.</a:t>
            </a:r>
          </a:p>
        </p:txBody>
      </p:sp>
      <p:cxnSp>
        <p:nvCxnSpPr>
          <p:cNvPr id="32" name="Divider 1"/>
          <p:cNvCxnSpPr/>
          <p:nvPr/>
        </p:nvCxnSpPr>
        <p:spPr>
          <a:xfrm>
            <a:off x="6309360" y="2000250"/>
            <a:ext cx="5120640" cy="0"/>
          </a:xfrm>
          <a:prstGeom prst="line">
            <a:avLst/>
          </a:prstGeom>
          <a:ln w="9525">
            <a:solidFill>
              <a:srgbClr val="D5DBE6"/>
            </a:solidFill>
          </a:ln>
        </p:spPr>
        <p:style>
          <a:lnRef idx="2">
            <a:schemeClr val="accent1"/>
          </a:lnRef>
          <a:fillRef idx="0">
            <a:schemeClr val="accent1"/>
          </a:fillRef>
          <a:effectRef idx="1">
            <a:schemeClr val="accent1"/>
          </a:effectRef>
          <a:fontRef idx="minor">
            <a:schemeClr val="tx1"/>
          </a:fontRef>
        </p:style>
      </p:cxnSp>
      <p:sp>
        <p:nvSpPr>
          <p:cNvPr id="33" name="Output label"/>
          <p:cNvSpPr txBox="1"/>
          <p:nvPr/>
        </p:nvSpPr>
        <p:spPr>
          <a:xfrm>
            <a:off x="6309360" y="2073402"/>
            <a:ext cx="1325880" cy="274320"/>
          </a:xfrm>
          <a:prstGeom prst="rect">
            <a:avLst/>
          </a:prstGeom>
          <a:noFill/>
        </p:spPr>
        <p:txBody>
          <a:bodyPr wrap="square" lIns="0" tIns="0" rIns="0" bIns="0" anchor="t">
            <a:spAutoFit/>
          </a:bodyPr>
          <a:lstStyle/>
          <a:p>
            <a:pPr algn="l">
              <a:lnSpc>
                <a:spcPct val="100000"/>
              </a:lnSpc>
              <a:spcAft>
                <a:spcPts val="0"/>
              </a:spcAft>
            </a:pPr>
            <a:r>
              <a:rPr sz="1100" b="1" i="0">
                <a:solidFill>
                  <a:srgbClr val="B3282D"/>
                </a:solidFill>
                <a:latin typeface="Calibri"/>
              </a:rPr>
              <a:t>OUTPUT</a:t>
            </a:r>
          </a:p>
        </p:txBody>
      </p:sp>
      <p:sp>
        <p:nvSpPr>
          <p:cNvPr id="34" name="Output text"/>
          <p:cNvSpPr txBox="1"/>
          <p:nvPr/>
        </p:nvSpPr>
        <p:spPr>
          <a:xfrm>
            <a:off x="7635240" y="2073402"/>
            <a:ext cx="3840480" cy="491490"/>
          </a:xfrm>
          <a:prstGeom prst="rect">
            <a:avLst/>
          </a:prstGeom>
          <a:noFill/>
        </p:spPr>
        <p:txBody>
          <a:bodyPr wrap="square" lIns="0" tIns="0" rIns="0" bIns="0" anchor="t">
            <a:spAutoFit/>
          </a:bodyPr>
          <a:lstStyle/>
          <a:p>
            <a:pPr algn="l">
              <a:lnSpc>
                <a:spcPct val="100000"/>
              </a:lnSpc>
              <a:spcAft>
                <a:spcPts val="200"/>
              </a:spcAft>
            </a:pPr>
            <a:r>
              <a:rPr sz="1200" b="0" i="0">
                <a:solidFill>
                  <a:srgbClr val="222222"/>
                </a:solidFill>
                <a:latin typeface="Calibri"/>
              </a:rPr>
              <a:t>Decoded DNS message (or FORMERR status) for the E4 pipeline; serialized wire-format response for E4 to send.</a:t>
            </a:r>
          </a:p>
        </p:txBody>
      </p:sp>
      <p:cxnSp>
        <p:nvCxnSpPr>
          <p:cNvPr id="35" name="Divider 2"/>
          <p:cNvCxnSpPr/>
          <p:nvPr/>
        </p:nvCxnSpPr>
        <p:spPr>
          <a:xfrm>
            <a:off x="6309360" y="2583180"/>
            <a:ext cx="5120640" cy="0"/>
          </a:xfrm>
          <a:prstGeom prst="line">
            <a:avLst/>
          </a:prstGeom>
          <a:ln w="9525">
            <a:solidFill>
              <a:srgbClr val="D5DBE6"/>
            </a:solidFill>
          </a:ln>
        </p:spPr>
        <p:style>
          <a:lnRef idx="2">
            <a:schemeClr val="accent1"/>
          </a:lnRef>
          <a:fillRef idx="0">
            <a:schemeClr val="accent1"/>
          </a:fillRef>
          <a:effectRef idx="1">
            <a:schemeClr val="accent1"/>
          </a:effectRef>
          <a:fontRef idx="minor">
            <a:schemeClr val="tx1"/>
          </a:fontRef>
        </p:style>
      </p:cxnSp>
      <p:sp>
        <p:nvSpPr>
          <p:cNvPr id="36" name="Core Mechanism label"/>
          <p:cNvSpPr txBox="1"/>
          <p:nvPr/>
        </p:nvSpPr>
        <p:spPr>
          <a:xfrm>
            <a:off x="6309360" y="2656332"/>
            <a:ext cx="1325880" cy="274320"/>
          </a:xfrm>
          <a:prstGeom prst="rect">
            <a:avLst/>
          </a:prstGeom>
          <a:noFill/>
        </p:spPr>
        <p:txBody>
          <a:bodyPr wrap="square" lIns="0" tIns="0" rIns="0" bIns="0" anchor="t">
            <a:spAutoFit/>
          </a:bodyPr>
          <a:lstStyle/>
          <a:p>
            <a:pPr algn="l">
              <a:lnSpc>
                <a:spcPct val="100000"/>
              </a:lnSpc>
              <a:spcAft>
                <a:spcPts val="0"/>
              </a:spcAft>
            </a:pPr>
            <a:r>
              <a:rPr sz="1100" b="1" i="0">
                <a:solidFill>
                  <a:srgbClr val="B3282D"/>
                </a:solidFill>
                <a:latin typeface="Calibri"/>
              </a:rPr>
              <a:t>CORE MECHANISM</a:t>
            </a:r>
          </a:p>
        </p:txBody>
      </p:sp>
      <p:sp>
        <p:nvSpPr>
          <p:cNvPr id="37" name="Core Mechanism text"/>
          <p:cNvSpPr txBox="1"/>
          <p:nvPr/>
        </p:nvSpPr>
        <p:spPr>
          <a:xfrm>
            <a:off x="7635240" y="2656332"/>
            <a:ext cx="3840480" cy="765810"/>
          </a:xfrm>
          <a:prstGeom prst="rect">
            <a:avLst/>
          </a:prstGeom>
          <a:noFill/>
        </p:spPr>
        <p:txBody>
          <a:bodyPr wrap="square" lIns="0" tIns="0" rIns="0" bIns="0" anchor="t">
            <a:spAutoFit/>
          </a:bodyPr>
          <a:lstStyle/>
          <a:p>
            <a:pPr algn="l">
              <a:lnSpc>
                <a:spcPct val="100000"/>
              </a:lnSpc>
              <a:spcAft>
                <a:spcPts val="200"/>
              </a:spcAft>
            </a:pPr>
            <a:r>
              <a:rPr sz="1200" b="0" i="0">
                <a:solidFill>
                  <a:srgbClr val="222222"/>
                </a:solidFill>
                <a:latin typeface="Calibri"/>
              </a:rPr>
              <a:t>RFC 1035 wire parser with bounds checking and depth-bounded label decompression (max jump depth = 16); zero-copy ByteStream marshalling with ntohs/htons byte-order conversion.</a:t>
            </a:r>
          </a:p>
        </p:txBody>
      </p:sp>
      <p:cxnSp>
        <p:nvCxnSpPr>
          <p:cNvPr id="38" name="Divider 3"/>
          <p:cNvCxnSpPr/>
          <p:nvPr/>
        </p:nvCxnSpPr>
        <p:spPr>
          <a:xfrm>
            <a:off x="6309360" y="3440430"/>
            <a:ext cx="5120640" cy="0"/>
          </a:xfrm>
          <a:prstGeom prst="line">
            <a:avLst/>
          </a:prstGeom>
          <a:ln w="9525">
            <a:solidFill>
              <a:srgbClr val="D5DBE6"/>
            </a:solidFill>
          </a:ln>
        </p:spPr>
        <p:style>
          <a:lnRef idx="2">
            <a:schemeClr val="accent1"/>
          </a:lnRef>
          <a:fillRef idx="0">
            <a:schemeClr val="accent1"/>
          </a:fillRef>
          <a:effectRef idx="1">
            <a:schemeClr val="accent1"/>
          </a:effectRef>
          <a:fontRef idx="minor">
            <a:schemeClr val="tx1"/>
          </a:fontRef>
        </p:style>
      </p:cxnSp>
      <p:sp>
        <p:nvSpPr>
          <p:cNvPr id="39" name="If It Fails label"/>
          <p:cNvSpPr txBox="1"/>
          <p:nvPr/>
        </p:nvSpPr>
        <p:spPr>
          <a:xfrm>
            <a:off x="6309360" y="3513582"/>
            <a:ext cx="1325880" cy="274320"/>
          </a:xfrm>
          <a:prstGeom prst="rect">
            <a:avLst/>
          </a:prstGeom>
          <a:noFill/>
        </p:spPr>
        <p:txBody>
          <a:bodyPr wrap="square" lIns="0" tIns="0" rIns="0" bIns="0" anchor="t">
            <a:spAutoFit/>
          </a:bodyPr>
          <a:lstStyle/>
          <a:p>
            <a:pPr algn="l">
              <a:lnSpc>
                <a:spcPct val="100000"/>
              </a:lnSpc>
              <a:spcAft>
                <a:spcPts val="0"/>
              </a:spcAft>
            </a:pPr>
            <a:r>
              <a:rPr sz="1100" b="1" i="0">
                <a:solidFill>
                  <a:srgbClr val="B3282D"/>
                </a:solidFill>
                <a:latin typeface="Calibri"/>
              </a:rPr>
              <a:t>IF IT FAILS</a:t>
            </a:r>
          </a:p>
        </p:txBody>
      </p:sp>
      <p:sp>
        <p:nvSpPr>
          <p:cNvPr id="40" name="If It Fails text"/>
          <p:cNvSpPr txBox="1"/>
          <p:nvPr/>
        </p:nvSpPr>
        <p:spPr>
          <a:xfrm>
            <a:off x="7635240" y="3513582"/>
            <a:ext cx="3840480" cy="720090"/>
          </a:xfrm>
          <a:prstGeom prst="rect">
            <a:avLst/>
          </a:prstGeom>
          <a:noFill/>
        </p:spPr>
        <p:txBody>
          <a:bodyPr wrap="square" lIns="0" tIns="0" rIns="0" bIns="0" anchor="t">
            <a:spAutoFit/>
          </a:bodyPr>
          <a:lstStyle/>
          <a:p>
            <a:pPr algn="l">
              <a:lnSpc>
                <a:spcPct val="100000"/>
              </a:lnSpc>
              <a:spcAft>
                <a:spcPts val="200"/>
              </a:spcAft>
            </a:pPr>
            <a:r>
              <a:rPr sz="1200" b="0" i="0">
                <a:solidFill>
                  <a:srgbClr val="222222"/>
                </a:solidFill>
                <a:latin typeface="Calibri"/>
              </a:rPr>
              <a:t>• Datagram &lt; 12 B: drop silently</a:t>
            </a:r>
          </a:p>
          <a:p>
            <a:pPr algn="l">
              <a:lnSpc>
                <a:spcPct val="100000"/>
              </a:lnSpc>
              <a:spcAft>
                <a:spcPts val="200"/>
              </a:spcAft>
            </a:pPr>
            <a:r>
              <a:rPr sz="1200" b="0" i="0">
                <a:solidFill>
                  <a:srgbClr val="222222"/>
                </a:solidFill>
                <a:latin typeface="Calibri"/>
              </a:rPr>
              <a:t>• Malformed ≥ 12 B or cyclic pointer: abort and emit FORMERR</a:t>
            </a:r>
          </a:p>
        </p:txBody>
      </p:sp>
      <p:sp>
        <p:nvSpPr>
          <p:cNvPr id="41" name="Academic heading"/>
          <p:cNvSpPr txBox="1"/>
          <p:nvPr/>
        </p:nvSpPr>
        <p:spPr>
          <a:xfrm>
            <a:off x="548640" y="4480560"/>
            <a:ext cx="7315200" cy="256032"/>
          </a:xfrm>
          <a:prstGeom prst="rect">
            <a:avLst/>
          </a:prstGeom>
          <a:noFill/>
        </p:spPr>
        <p:txBody>
          <a:bodyPr wrap="square" lIns="0" tIns="0" rIns="0" bIns="0" anchor="t">
            <a:spAutoFit/>
          </a:bodyPr>
          <a:lstStyle/>
          <a:p>
            <a:pPr algn="l">
              <a:lnSpc>
                <a:spcPct val="100000"/>
              </a:lnSpc>
              <a:spcAft>
                <a:spcPts val="0"/>
              </a:spcAft>
            </a:pPr>
            <a:r>
              <a:rPr sz="1200" b="1" i="0">
                <a:solidFill>
                  <a:srgbClr val="1B2B4B"/>
                </a:solidFill>
                <a:latin typeface="Calibri"/>
              </a:rPr>
              <a:t>ACADEMIC FOCUS &amp; FOUNDATIONAL LINK  —  concepts we will use from each course</a:t>
            </a:r>
          </a:p>
        </p:txBody>
      </p:sp>
      <p:graphicFrame>
        <p:nvGraphicFramePr>
          <p:cNvPr id="42" name="Academic focus table"/>
          <p:cNvGraphicFramePr>
            <a:graphicFrameLocks noGrp="1"/>
          </p:cNvGraphicFramePr>
          <p:nvPr/>
        </p:nvGraphicFramePr>
        <p:xfrm>
          <a:off x="548640" y="4800600"/>
          <a:ext cx="11064240" cy="1371600"/>
        </p:xfrm>
        <a:graphic>
          <a:graphicData uri="http://schemas.openxmlformats.org/drawingml/2006/table">
            <a:tbl>
              <a:tblPr>
                <a:tableStyleId>{2D5ABB26-0587-4C30-8999-92F81FD0307C}</a:tableStyleId>
              </a:tblPr>
              <a:tblGrid>
                <a:gridCol w="2926080">
                  <a:extLst>
                    <a:ext uri="{9D8B030D-6E8A-4147-A177-3AD203B41FA5}">
                      <a16:colId xmlns:a16="http://schemas.microsoft.com/office/drawing/2014/main" val="20000"/>
                    </a:ext>
                  </a:extLst>
                </a:gridCol>
                <a:gridCol w="8138160">
                  <a:extLst>
                    <a:ext uri="{9D8B030D-6E8A-4147-A177-3AD203B41FA5}">
                      <a16:colId xmlns:a16="http://schemas.microsoft.com/office/drawing/2014/main" val="20001"/>
                    </a:ext>
                  </a:extLst>
                </a:gridCol>
              </a:tblGrid>
              <a:tr h="457200">
                <a:tc>
                  <a:txBody>
                    <a:bodyPr/>
                    <a:lstStyle/>
                    <a:p>
                      <a:r>
                        <a:rPr sz="1200" b="1" i="0">
                          <a:solidFill>
                            <a:srgbClr val="1B2B4B"/>
                          </a:solidFill>
                          <a:latin typeface="Calibri"/>
                        </a:rPr>
                        <a:t>Computer Networks (Dominant)</a:t>
                      </a:r>
                    </a:p>
                  </a:txBody>
                  <a:tcPr marT="27432" marB="27432" anchor="ctr">
                    <a:solidFill>
                      <a:srgbClr val="F4F6F9"/>
                    </a:solidFill>
                  </a:tcPr>
                </a:tc>
                <a:tc>
                  <a:txBody>
                    <a:bodyPr/>
                    <a:lstStyle/>
                    <a:p>
                      <a:r>
                        <a:rPr sz="1200" b="0" i="0">
                          <a:solidFill>
                            <a:srgbClr val="222222"/>
                          </a:solidFill>
                          <a:latin typeface="Calibri"/>
                        </a:rPr>
                        <a:t>RFC 1035 wire format  ·  UDP datagrams (up to 512 bytes)  ·  DNS header bitfields  ·  Name compression (0xC0 prefix, 14-bit offsets)  ·  Endianness (ntohs/htons)</a:t>
                      </a:r>
                    </a:p>
                  </a:txBody>
                  <a:tcPr marT="27432" marB="27432" anchor="ctr">
                    <a:solidFill>
                      <a:srgbClr val="FFFFFF"/>
                    </a:solidFill>
                  </a:tcPr>
                </a:tc>
                <a:extLst>
                  <a:ext uri="{0D108BD9-81ED-4DB2-BD59-A6C34878D82A}">
                    <a16:rowId xmlns:a16="http://schemas.microsoft.com/office/drawing/2014/main" val="10000"/>
                  </a:ext>
                </a:extLst>
              </a:tr>
              <a:tr h="457200">
                <a:tc>
                  <a:txBody>
                    <a:bodyPr/>
                    <a:lstStyle/>
                    <a:p>
                      <a:r>
                        <a:rPr sz="1200" b="1" i="0">
                          <a:solidFill>
                            <a:srgbClr val="1B2B4B"/>
                          </a:solidFill>
                          <a:latin typeface="Calibri"/>
                        </a:rPr>
                        <a:t>Operating System Principles</a:t>
                      </a:r>
                    </a:p>
                  </a:txBody>
                  <a:tcPr marT="27432" marB="27432" anchor="ctr">
                    <a:solidFill>
                      <a:srgbClr val="F4F6F9"/>
                    </a:solidFill>
                  </a:tcPr>
                </a:tc>
                <a:tc>
                  <a:txBody>
                    <a:bodyPr/>
                    <a:lstStyle/>
                    <a:p>
                      <a:r>
                        <a:rPr sz="1200" b="0" i="0">
                          <a:solidFill>
                            <a:srgbClr val="222222"/>
                          </a:solidFill>
                          <a:latin typeface="Calibri"/>
                        </a:rPr>
                        <a:t>Buffer boundary checks  ·  Pointer safety  ·  Avoiding stack overflow during decompression</a:t>
                      </a:r>
                    </a:p>
                  </a:txBody>
                  <a:tcPr marT="27432" marB="27432" anchor="ctr">
                    <a:solidFill>
                      <a:srgbClr val="FFFFFF"/>
                    </a:solidFill>
                  </a:tcPr>
                </a:tc>
                <a:extLst>
                  <a:ext uri="{0D108BD9-81ED-4DB2-BD59-A6C34878D82A}">
                    <a16:rowId xmlns:a16="http://schemas.microsoft.com/office/drawing/2014/main" val="10001"/>
                  </a:ext>
                </a:extLst>
              </a:tr>
              <a:tr h="457200">
                <a:tc>
                  <a:txBody>
                    <a:bodyPr/>
                    <a:lstStyle/>
                    <a:p>
                      <a:r>
                        <a:rPr sz="1200" b="1" i="0">
                          <a:solidFill>
                            <a:srgbClr val="1B2B4B"/>
                          </a:solidFill>
                          <a:latin typeface="Calibri"/>
                        </a:rPr>
                        <a:t>Design &amp; Analysis of Algorithms</a:t>
                      </a:r>
                    </a:p>
                  </a:txBody>
                  <a:tcPr marT="27432" marB="27432" anchor="ctr">
                    <a:solidFill>
                      <a:srgbClr val="F4F6F9"/>
                    </a:solidFill>
                  </a:tcPr>
                </a:tc>
                <a:tc>
                  <a:txBody>
                    <a:bodyPr/>
                    <a:lstStyle/>
                    <a:p>
                      <a:r>
                        <a:rPr sz="1200" b="0" i="0">
                          <a:solidFill>
                            <a:srgbClr val="222222"/>
                          </a:solidFill>
                          <a:latin typeface="Calibri"/>
                        </a:rPr>
                        <a:t>Recursion-depth bounding (limit 16)  ·  Label pointer offset indexing  ·  Stream cursor parsing</a:t>
                      </a:r>
                    </a:p>
                  </a:txBody>
                  <a:tcPr marT="27432" marB="27432" anchor="ctr">
                    <a:solidFill>
                      <a:srgbClr val="FFFFFF"/>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3"/>
          </p:nvPr>
        </p:nvSpPr>
        <p:spPr/>
        <p:txBody>
          <a:bodyPr lIns="0"/>
          <a:lstStyle/>
          <a:p>
            <a:r>
              <a:rPr sz="2600"/>
              <a:t>In-Memory DNS Storage &amp; Cache Engine</a:t>
            </a:r>
          </a:p>
        </p:txBody>
      </p:sp>
      <p:sp>
        <p:nvSpPr>
          <p:cNvPr id="3" name="Section tag"/>
          <p:cNvSpPr txBox="1"/>
          <p:nvPr/>
        </p:nvSpPr>
        <p:spPr>
          <a:xfrm>
            <a:off x="548640" y="91440"/>
            <a:ext cx="8778240" cy="201168"/>
          </a:xfrm>
          <a:prstGeom prst="rect">
            <a:avLst/>
          </a:prstGeom>
          <a:noFill/>
        </p:spPr>
        <p:txBody>
          <a:bodyPr wrap="square" lIns="0" tIns="0" rIns="0" bIns="0" anchor="t">
            <a:spAutoFit/>
          </a:bodyPr>
          <a:lstStyle/>
          <a:p>
            <a:pPr algn="l">
              <a:lnSpc>
                <a:spcPct val="100000"/>
              </a:lnSpc>
              <a:spcAft>
                <a:spcPts val="0"/>
              </a:spcAft>
            </a:pPr>
            <a:r>
              <a:rPr sz="1000" b="1" i="0">
                <a:solidFill>
                  <a:srgbClr val="B3282D"/>
                </a:solidFill>
                <a:latin typeface="Calibri"/>
              </a:rPr>
              <a:t>C · ENGINE 02</a:t>
            </a:r>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475"/>
                </a:solidFill>
                <a:latin typeface="Calibri"/>
                <a:ea typeface="Calibri"/>
                <a:cs typeface="Calibri"/>
              </a:defRPr>
            </a:lvl1pPr>
          </a:lstStyle>
          <a:p>
            <a:pPr algn="r"/>
            <a:fld id="{F7021451-1387-4CA6-816F-3879F97B5CBC}" type="slidenum">
              <a:rPr lang="en-US" b="0"/>
              <a:t>10</a:t>
            </a:fld>
            <a:endParaRPr lang="en-US"/>
          </a:p>
        </p:txBody>
      </p:sp>
      <p:sp>
        <p:nvSpPr>
          <p:cNvPr id="26" name="Subtitle"/>
          <p:cNvSpPr txBox="1"/>
          <p:nvPr/>
        </p:nvSpPr>
        <p:spPr>
          <a:xfrm>
            <a:off x="548640" y="932688"/>
            <a:ext cx="10972800" cy="320040"/>
          </a:xfrm>
          <a:prstGeom prst="rect">
            <a:avLst/>
          </a:prstGeom>
          <a:noFill/>
        </p:spPr>
        <p:txBody>
          <a:bodyPr wrap="square" lIns="0" tIns="0" rIns="0" bIns="0" anchor="t">
            <a:spAutoFit/>
          </a:bodyPr>
          <a:lstStyle/>
          <a:p>
            <a:pPr algn="l">
              <a:lnSpc>
                <a:spcPct val="100000"/>
              </a:lnSpc>
              <a:spcAft>
                <a:spcPts val="0"/>
              </a:spcAft>
            </a:pPr>
            <a:r>
              <a:rPr sz="1200" b="1" i="0">
                <a:solidFill>
                  <a:srgbClr val="1F4E9E"/>
                </a:solidFill>
                <a:latin typeface="Calibri"/>
              </a:rPr>
              <a:t>DAA AND DBMS ENGINE   |   Owner: Mehak Sayed Yusuf (01fe24bci012)   |   Cluster C2: FR-03, FR-04, FR-05, NFR-03, NFR-05, NFR-07</a:t>
            </a:r>
          </a:p>
        </p:txBody>
      </p:sp>
      <p:sp>
        <p:nvSpPr>
          <p:cNvPr id="27" name="Left card"/>
          <p:cNvSpPr/>
          <p:nvPr/>
        </p:nvSpPr>
        <p:spPr>
          <a:xfrm>
            <a:off x="548640" y="1371600"/>
            <a:ext cx="5394960" cy="2926080"/>
          </a:xfrm>
          <a:prstGeom prst="roundRect">
            <a:avLst>
              <a:gd name="adj" fmla="val 4000"/>
            </a:avLst>
          </a:prstGeom>
          <a:solidFill>
            <a:srgbClr val="EEF1FA"/>
          </a:solidFill>
          <a:ln w="9525">
            <a:solidFill>
              <a:srgbClr val="D5DB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sponsibility and requirements"/>
          <p:cNvSpPr txBox="1"/>
          <p:nvPr/>
        </p:nvSpPr>
        <p:spPr>
          <a:xfrm>
            <a:off x="731520" y="1481328"/>
            <a:ext cx="5029200" cy="2743200"/>
          </a:xfrm>
          <a:prstGeom prst="rect">
            <a:avLst/>
          </a:prstGeom>
          <a:noFill/>
        </p:spPr>
        <p:txBody>
          <a:bodyPr wrap="square" lIns="0" tIns="0" rIns="0" bIns="0" anchor="t">
            <a:spAutoFit/>
          </a:bodyPr>
          <a:lstStyle/>
          <a:p>
            <a:pPr algn="l">
              <a:lnSpc>
                <a:spcPct val="100000"/>
              </a:lnSpc>
              <a:spcAft>
                <a:spcPts val="300"/>
              </a:spcAft>
            </a:pPr>
            <a:r>
              <a:rPr sz="1100" b="1" i="0">
                <a:solidFill>
                  <a:srgbClr val="B3282D"/>
                </a:solidFill>
                <a:latin typeface="Calibri"/>
              </a:rPr>
              <a:t>RESPONSIBILITY</a:t>
            </a:r>
          </a:p>
          <a:p>
            <a:pPr algn="l">
              <a:lnSpc>
                <a:spcPct val="100000"/>
              </a:lnSpc>
              <a:spcAft>
                <a:spcPts val="800"/>
              </a:spcAft>
            </a:pPr>
            <a:r>
              <a:rPr sz="1200" b="0" i="0">
                <a:solidFill>
                  <a:srgbClr val="222222"/>
                </a:solidFill>
                <a:latin typeface="Calibri"/>
              </a:rPr>
              <a:t>Maintains the in-memory DNS cache: performs lookups and updates, validates remaining TTLs, removes expired entries, enforces LRU capacity eviction, synchronizes concurrent cache access, and persists cache snapshots. E4 coordinates the query pipeline; E2 performs the cache operations.</a:t>
            </a:r>
          </a:p>
          <a:p>
            <a:pPr algn="l">
              <a:lnSpc>
                <a:spcPct val="100000"/>
              </a:lnSpc>
              <a:spcAft>
                <a:spcPts val="300"/>
              </a:spcAft>
            </a:pPr>
            <a:r>
              <a:rPr sz="1100" b="1" i="0">
                <a:solidFill>
                  <a:srgbClr val="B3282D"/>
                </a:solidFill>
                <a:latin typeface="Calibri"/>
              </a:rPr>
              <a:t>REQUIREMENTS COVERED</a:t>
            </a:r>
          </a:p>
          <a:p>
            <a:pPr algn="l">
              <a:lnSpc>
                <a:spcPct val="100000"/>
              </a:lnSpc>
              <a:spcAft>
                <a:spcPts val="200"/>
              </a:spcAft>
            </a:pPr>
            <a:r>
              <a:rPr sz="1200" b="1" i="0">
                <a:solidFill>
                  <a:srgbClr val="1B2B4B"/>
                </a:solidFill>
                <a:latin typeface="Calibri"/>
              </a:rPr>
              <a:t>FR-03   </a:t>
            </a:r>
            <a:r>
              <a:rPr sz="1200" b="0" i="0">
                <a:solidFill>
                  <a:srgbClr val="222222"/>
                </a:solidFill>
                <a:latin typeface="Calibri"/>
              </a:rPr>
              <a:t>Cache lookup by (domain, qtype, qclass)</a:t>
            </a:r>
          </a:p>
          <a:p>
            <a:pPr algn="l">
              <a:lnSpc>
                <a:spcPct val="100000"/>
              </a:lnSpc>
              <a:spcAft>
                <a:spcPts val="200"/>
              </a:spcAft>
            </a:pPr>
            <a:r>
              <a:rPr sz="1200" b="1" i="0">
                <a:solidFill>
                  <a:srgbClr val="1B2B4B"/>
                </a:solidFill>
                <a:latin typeface="Calibri"/>
              </a:rPr>
              <a:t>FR-04   </a:t>
            </a:r>
            <a:r>
              <a:rPr sz="1200" b="0" i="0">
                <a:solidFill>
                  <a:srgbClr val="222222"/>
                </a:solidFill>
                <a:latin typeface="Calibri"/>
              </a:rPr>
              <a:t>Dynamic remaining-TTL evaluation</a:t>
            </a:r>
          </a:p>
          <a:p>
            <a:pPr algn="l">
              <a:lnSpc>
                <a:spcPct val="100000"/>
              </a:lnSpc>
              <a:spcAft>
                <a:spcPts val="200"/>
              </a:spcAft>
            </a:pPr>
            <a:r>
              <a:rPr sz="1200" b="1" i="0">
                <a:solidFill>
                  <a:srgbClr val="1B2B4B"/>
                </a:solidFill>
                <a:latin typeface="Calibri"/>
              </a:rPr>
              <a:t>FR-05   </a:t>
            </a:r>
            <a:r>
              <a:rPr sz="1200" b="0" i="0">
                <a:solidFill>
                  <a:srgbClr val="222222"/>
                </a:solidFill>
                <a:latin typeface="Calibri"/>
              </a:rPr>
              <a:t>Min-Heap TTL sweep and LRU capacity eviction</a:t>
            </a:r>
          </a:p>
          <a:p>
            <a:pPr algn="l">
              <a:lnSpc>
                <a:spcPct val="100000"/>
              </a:lnSpc>
              <a:spcAft>
                <a:spcPts val="200"/>
              </a:spcAft>
            </a:pPr>
            <a:r>
              <a:rPr sz="1200" b="1" i="0">
                <a:solidFill>
                  <a:srgbClr val="1B2B4B"/>
                </a:solidFill>
                <a:latin typeface="Calibri"/>
              </a:rPr>
              <a:t>FR-07   </a:t>
            </a:r>
            <a:r>
              <a:rPr sz="1200" b="0" i="0">
                <a:solidFill>
                  <a:srgbClr val="222222"/>
                </a:solidFill>
                <a:latin typeface="Calibri"/>
              </a:rPr>
              <a:t>Atomic cache commit (E4 sequences the COMMIT stage)</a:t>
            </a:r>
          </a:p>
          <a:p>
            <a:pPr algn="l">
              <a:lnSpc>
                <a:spcPct val="100000"/>
              </a:lnSpc>
              <a:spcAft>
                <a:spcPts val="0"/>
              </a:spcAft>
            </a:pPr>
            <a:r>
              <a:rPr sz="1200" b="0" i="0">
                <a:solidFill>
                  <a:srgbClr val="5B6475"/>
                </a:solidFill>
                <a:latin typeface="Calibri"/>
              </a:rPr>
              <a:t>NFR-03 Memory bound  ·  NFR-05 Thread safety  ·  NFR-07 Durability</a:t>
            </a:r>
          </a:p>
        </p:txBody>
      </p:sp>
      <p:sp>
        <p:nvSpPr>
          <p:cNvPr id="29" name="Right card"/>
          <p:cNvSpPr/>
          <p:nvPr/>
        </p:nvSpPr>
        <p:spPr>
          <a:xfrm>
            <a:off x="6126480" y="1371600"/>
            <a:ext cx="5486400" cy="2926080"/>
          </a:xfrm>
          <a:prstGeom prst="roundRect">
            <a:avLst>
              <a:gd name="adj" fmla="val 4000"/>
            </a:avLst>
          </a:prstGeom>
          <a:solidFill>
            <a:srgbClr val="FFFFFF"/>
          </a:solidFill>
          <a:ln w="9525">
            <a:solidFill>
              <a:srgbClr val="D5DB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Input label"/>
          <p:cNvSpPr txBox="1"/>
          <p:nvPr/>
        </p:nvSpPr>
        <p:spPr>
          <a:xfrm>
            <a:off x="6309360" y="1490472"/>
            <a:ext cx="1325880" cy="274320"/>
          </a:xfrm>
          <a:prstGeom prst="rect">
            <a:avLst/>
          </a:prstGeom>
          <a:noFill/>
        </p:spPr>
        <p:txBody>
          <a:bodyPr wrap="square" lIns="0" tIns="0" rIns="0" bIns="0" anchor="t">
            <a:spAutoFit/>
          </a:bodyPr>
          <a:lstStyle/>
          <a:p>
            <a:pPr algn="l">
              <a:lnSpc>
                <a:spcPct val="100000"/>
              </a:lnSpc>
              <a:spcAft>
                <a:spcPts val="0"/>
              </a:spcAft>
            </a:pPr>
            <a:r>
              <a:rPr sz="1100" b="1" i="0">
                <a:solidFill>
                  <a:srgbClr val="B3282D"/>
                </a:solidFill>
                <a:latin typeface="Calibri"/>
              </a:rPr>
              <a:t>INPUT</a:t>
            </a:r>
          </a:p>
        </p:txBody>
      </p:sp>
      <p:sp>
        <p:nvSpPr>
          <p:cNvPr id="31" name="Input text"/>
          <p:cNvSpPr txBox="1"/>
          <p:nvPr/>
        </p:nvSpPr>
        <p:spPr>
          <a:xfrm>
            <a:off x="7635240" y="1490472"/>
            <a:ext cx="3840480" cy="422910"/>
          </a:xfrm>
          <a:prstGeom prst="rect">
            <a:avLst/>
          </a:prstGeom>
          <a:noFill/>
        </p:spPr>
        <p:txBody>
          <a:bodyPr wrap="square" lIns="0" tIns="0" rIns="0" bIns="0" anchor="t">
            <a:spAutoFit/>
          </a:bodyPr>
          <a:lstStyle/>
          <a:p>
            <a:pPr algn="l">
              <a:lnSpc>
                <a:spcPct val="100000"/>
              </a:lnSpc>
              <a:spcAft>
                <a:spcPts val="200"/>
              </a:spcAft>
            </a:pPr>
            <a:r>
              <a:rPr sz="1200" b="0" i="0">
                <a:solidFill>
                  <a:srgbClr val="222222"/>
                </a:solidFill>
                <a:latin typeface="Calibri"/>
              </a:rPr>
              <a:t>Query key (domain, query type, class); resolved record set; eviction sweep timer tick.</a:t>
            </a:r>
          </a:p>
        </p:txBody>
      </p:sp>
      <p:cxnSp>
        <p:nvCxnSpPr>
          <p:cNvPr id="32" name="Divider 1"/>
          <p:cNvCxnSpPr/>
          <p:nvPr/>
        </p:nvCxnSpPr>
        <p:spPr>
          <a:xfrm>
            <a:off x="6309360" y="1931669"/>
            <a:ext cx="5120640" cy="0"/>
          </a:xfrm>
          <a:prstGeom prst="line">
            <a:avLst/>
          </a:prstGeom>
          <a:ln w="9525">
            <a:solidFill>
              <a:srgbClr val="D5DBE6"/>
            </a:solidFill>
          </a:ln>
        </p:spPr>
        <p:style>
          <a:lnRef idx="2">
            <a:schemeClr val="accent1"/>
          </a:lnRef>
          <a:fillRef idx="0">
            <a:schemeClr val="accent1"/>
          </a:fillRef>
          <a:effectRef idx="1">
            <a:schemeClr val="accent1"/>
          </a:effectRef>
          <a:fontRef idx="minor">
            <a:schemeClr val="tx1"/>
          </a:fontRef>
        </p:style>
      </p:cxnSp>
      <p:sp>
        <p:nvSpPr>
          <p:cNvPr id="33" name="Output label"/>
          <p:cNvSpPr txBox="1"/>
          <p:nvPr/>
        </p:nvSpPr>
        <p:spPr>
          <a:xfrm>
            <a:off x="6309360" y="2004822"/>
            <a:ext cx="1325880" cy="274320"/>
          </a:xfrm>
          <a:prstGeom prst="rect">
            <a:avLst/>
          </a:prstGeom>
          <a:noFill/>
        </p:spPr>
        <p:txBody>
          <a:bodyPr wrap="square" lIns="0" tIns="0" rIns="0" bIns="0" anchor="t">
            <a:spAutoFit/>
          </a:bodyPr>
          <a:lstStyle/>
          <a:p>
            <a:pPr algn="l">
              <a:lnSpc>
                <a:spcPct val="100000"/>
              </a:lnSpc>
              <a:spcAft>
                <a:spcPts val="0"/>
              </a:spcAft>
            </a:pPr>
            <a:r>
              <a:rPr sz="1100" b="1" i="0">
                <a:solidFill>
                  <a:srgbClr val="B3282D"/>
                </a:solidFill>
                <a:latin typeface="Calibri"/>
              </a:rPr>
              <a:t>OUTPUT</a:t>
            </a:r>
          </a:p>
        </p:txBody>
      </p:sp>
      <p:sp>
        <p:nvSpPr>
          <p:cNvPr id="34" name="Output text"/>
          <p:cNvSpPr txBox="1"/>
          <p:nvPr/>
        </p:nvSpPr>
        <p:spPr>
          <a:xfrm>
            <a:off x="7635240" y="2004822"/>
            <a:ext cx="3840480" cy="422910"/>
          </a:xfrm>
          <a:prstGeom prst="rect">
            <a:avLst/>
          </a:prstGeom>
          <a:noFill/>
        </p:spPr>
        <p:txBody>
          <a:bodyPr wrap="square" lIns="0" tIns="0" rIns="0" bIns="0" anchor="t">
            <a:spAutoFit/>
          </a:bodyPr>
          <a:lstStyle/>
          <a:p>
            <a:pPr algn="l">
              <a:lnSpc>
                <a:spcPct val="100000"/>
              </a:lnSpc>
              <a:spcAft>
                <a:spcPts val="200"/>
              </a:spcAft>
            </a:pPr>
            <a:r>
              <a:rPr sz="1200" b="0" i="0">
                <a:solidFill>
                  <a:srgbClr val="222222"/>
                </a:solidFill>
                <a:latin typeface="Calibri"/>
              </a:rPr>
              <a:t>Cache verdict: HIT with remaining TTL, or MISS if absent or expired (expired entries are removed, never served).</a:t>
            </a:r>
          </a:p>
        </p:txBody>
      </p:sp>
      <p:cxnSp>
        <p:nvCxnSpPr>
          <p:cNvPr id="35" name="Divider 2"/>
          <p:cNvCxnSpPr/>
          <p:nvPr/>
        </p:nvCxnSpPr>
        <p:spPr>
          <a:xfrm>
            <a:off x="6309360" y="2446020"/>
            <a:ext cx="5120640" cy="0"/>
          </a:xfrm>
          <a:prstGeom prst="line">
            <a:avLst/>
          </a:prstGeom>
          <a:ln w="9525">
            <a:solidFill>
              <a:srgbClr val="D5DBE6"/>
            </a:solidFill>
          </a:ln>
        </p:spPr>
        <p:style>
          <a:lnRef idx="2">
            <a:schemeClr val="accent1"/>
          </a:lnRef>
          <a:fillRef idx="0">
            <a:schemeClr val="accent1"/>
          </a:fillRef>
          <a:effectRef idx="1">
            <a:schemeClr val="accent1"/>
          </a:effectRef>
          <a:fontRef idx="minor">
            <a:schemeClr val="tx1"/>
          </a:fontRef>
        </p:style>
      </p:cxnSp>
      <p:sp>
        <p:nvSpPr>
          <p:cNvPr id="36" name="Core Mechanism label"/>
          <p:cNvSpPr txBox="1"/>
          <p:nvPr/>
        </p:nvSpPr>
        <p:spPr>
          <a:xfrm>
            <a:off x="6309360" y="2519172"/>
            <a:ext cx="1325880" cy="274320"/>
          </a:xfrm>
          <a:prstGeom prst="rect">
            <a:avLst/>
          </a:prstGeom>
          <a:noFill/>
        </p:spPr>
        <p:txBody>
          <a:bodyPr wrap="square" lIns="0" tIns="0" rIns="0" bIns="0" anchor="t">
            <a:spAutoFit/>
          </a:bodyPr>
          <a:lstStyle/>
          <a:p>
            <a:pPr algn="l">
              <a:lnSpc>
                <a:spcPct val="100000"/>
              </a:lnSpc>
              <a:spcAft>
                <a:spcPts val="0"/>
              </a:spcAft>
            </a:pPr>
            <a:r>
              <a:rPr sz="1100" b="1" i="0">
                <a:solidFill>
                  <a:srgbClr val="B3282D"/>
                </a:solidFill>
                <a:latin typeface="Calibri"/>
              </a:rPr>
              <a:t>CORE MECHANISM</a:t>
            </a:r>
          </a:p>
        </p:txBody>
      </p:sp>
      <p:sp>
        <p:nvSpPr>
          <p:cNvPr id="37" name="Core Mechanism text"/>
          <p:cNvSpPr txBox="1"/>
          <p:nvPr/>
        </p:nvSpPr>
        <p:spPr>
          <a:xfrm>
            <a:off x="7635240" y="2519172"/>
            <a:ext cx="3840480" cy="697230"/>
          </a:xfrm>
          <a:prstGeom prst="rect">
            <a:avLst/>
          </a:prstGeom>
          <a:noFill/>
        </p:spPr>
        <p:txBody>
          <a:bodyPr wrap="square" lIns="0" tIns="0" rIns="0" bIns="0" anchor="t">
            <a:spAutoFit/>
          </a:bodyPr>
          <a:lstStyle/>
          <a:p>
            <a:pPr algn="l">
              <a:lnSpc>
                <a:spcPct val="100000"/>
              </a:lnSpc>
              <a:spcAft>
                <a:spcPts val="200"/>
              </a:spcAft>
            </a:pPr>
            <a:r>
              <a:rPr sz="1200" b="0" i="0">
                <a:solidFill>
                  <a:srgbClr val="222222"/>
                </a:solidFill>
                <a:latin typeface="Calibri"/>
              </a:rPr>
              <a:t>Hash table (average O(1) lookup) + doubly-linked list (O(1) LRU update/eviction); Min-Heap (O(log N) insert/remove) for proactive TTL sweep.</a:t>
            </a:r>
          </a:p>
        </p:txBody>
      </p:sp>
      <p:cxnSp>
        <p:nvCxnSpPr>
          <p:cNvPr id="38" name="Divider 3"/>
          <p:cNvCxnSpPr/>
          <p:nvPr/>
        </p:nvCxnSpPr>
        <p:spPr>
          <a:xfrm>
            <a:off x="6309360" y="3234689"/>
            <a:ext cx="5120640" cy="0"/>
          </a:xfrm>
          <a:prstGeom prst="line">
            <a:avLst/>
          </a:prstGeom>
          <a:ln w="9525">
            <a:solidFill>
              <a:srgbClr val="D5DBE6"/>
            </a:solidFill>
          </a:ln>
        </p:spPr>
        <p:style>
          <a:lnRef idx="2">
            <a:schemeClr val="accent1"/>
          </a:lnRef>
          <a:fillRef idx="0">
            <a:schemeClr val="accent1"/>
          </a:fillRef>
          <a:effectRef idx="1">
            <a:schemeClr val="accent1"/>
          </a:effectRef>
          <a:fontRef idx="minor">
            <a:schemeClr val="tx1"/>
          </a:fontRef>
        </p:style>
      </p:cxnSp>
      <p:sp>
        <p:nvSpPr>
          <p:cNvPr id="39" name="If It Fails label"/>
          <p:cNvSpPr txBox="1"/>
          <p:nvPr/>
        </p:nvSpPr>
        <p:spPr>
          <a:xfrm>
            <a:off x="6309360" y="3307841"/>
            <a:ext cx="1325880" cy="274320"/>
          </a:xfrm>
          <a:prstGeom prst="rect">
            <a:avLst/>
          </a:prstGeom>
          <a:noFill/>
        </p:spPr>
        <p:txBody>
          <a:bodyPr wrap="square" lIns="0" tIns="0" rIns="0" bIns="0" anchor="t">
            <a:spAutoFit/>
          </a:bodyPr>
          <a:lstStyle/>
          <a:p>
            <a:pPr algn="l">
              <a:lnSpc>
                <a:spcPct val="100000"/>
              </a:lnSpc>
              <a:spcAft>
                <a:spcPts val="0"/>
              </a:spcAft>
            </a:pPr>
            <a:r>
              <a:rPr sz="1100" b="1" i="0">
                <a:solidFill>
                  <a:srgbClr val="B3282D"/>
                </a:solidFill>
                <a:latin typeface="Calibri"/>
              </a:rPr>
              <a:t>IF IT FAILS</a:t>
            </a:r>
          </a:p>
        </p:txBody>
      </p:sp>
      <p:sp>
        <p:nvSpPr>
          <p:cNvPr id="40" name="If It Fails text"/>
          <p:cNvSpPr txBox="1"/>
          <p:nvPr/>
        </p:nvSpPr>
        <p:spPr>
          <a:xfrm>
            <a:off x="7635240" y="3307841"/>
            <a:ext cx="3840480" cy="925830"/>
          </a:xfrm>
          <a:prstGeom prst="rect">
            <a:avLst/>
          </a:prstGeom>
          <a:noFill/>
        </p:spPr>
        <p:txBody>
          <a:bodyPr wrap="square" lIns="0" tIns="0" rIns="0" bIns="0" anchor="t">
            <a:spAutoFit/>
          </a:bodyPr>
          <a:lstStyle/>
          <a:p>
            <a:pPr algn="l">
              <a:lnSpc>
                <a:spcPct val="100000"/>
              </a:lnSpc>
              <a:spcAft>
                <a:spcPts val="200"/>
              </a:spcAft>
            </a:pPr>
            <a:r>
              <a:rPr sz="1200" b="0" i="0">
                <a:solidFill>
                  <a:srgbClr val="222222"/>
                </a:solidFill>
                <a:latin typeface="Calibri"/>
              </a:rPr>
              <a:t>• Capacity reached: evict LRU tail</a:t>
            </a:r>
          </a:p>
          <a:p>
            <a:pPr algn="l">
              <a:lnSpc>
                <a:spcPct val="100000"/>
              </a:lnSpc>
              <a:spcAft>
                <a:spcPts val="200"/>
              </a:spcAft>
            </a:pPr>
            <a:r>
              <a:rPr sz="1200" b="0" i="0">
                <a:solidFill>
                  <a:srgbClr val="222222"/>
                </a:solidFill>
                <a:latin typeface="Calibri"/>
              </a:rPr>
              <a:t>• TTL expired ((TTL − elapsed) ≤ 0): evict entry, return MISS</a:t>
            </a:r>
          </a:p>
          <a:p>
            <a:pPr algn="l">
              <a:lnSpc>
                <a:spcPct val="100000"/>
              </a:lnSpc>
              <a:spcAft>
                <a:spcPts val="200"/>
              </a:spcAft>
            </a:pPr>
            <a:r>
              <a:rPr sz="1200" b="0" i="0">
                <a:solidFill>
                  <a:srgbClr val="222222"/>
                </a:solidFill>
                <a:latin typeface="Calibri"/>
              </a:rPr>
              <a:t>• Corrupt snapshot file: initialize empty cache</a:t>
            </a:r>
          </a:p>
        </p:txBody>
      </p:sp>
      <p:sp>
        <p:nvSpPr>
          <p:cNvPr id="41" name="Academic heading"/>
          <p:cNvSpPr txBox="1"/>
          <p:nvPr/>
        </p:nvSpPr>
        <p:spPr>
          <a:xfrm>
            <a:off x="548640" y="4480560"/>
            <a:ext cx="7315200" cy="256032"/>
          </a:xfrm>
          <a:prstGeom prst="rect">
            <a:avLst/>
          </a:prstGeom>
          <a:noFill/>
        </p:spPr>
        <p:txBody>
          <a:bodyPr wrap="square" lIns="0" tIns="0" rIns="0" bIns="0" anchor="t">
            <a:spAutoFit/>
          </a:bodyPr>
          <a:lstStyle/>
          <a:p>
            <a:pPr algn="l">
              <a:lnSpc>
                <a:spcPct val="100000"/>
              </a:lnSpc>
              <a:spcAft>
                <a:spcPts val="0"/>
              </a:spcAft>
            </a:pPr>
            <a:r>
              <a:rPr sz="1200" b="1" i="0">
                <a:solidFill>
                  <a:srgbClr val="1B2B4B"/>
                </a:solidFill>
                <a:latin typeface="Calibri"/>
              </a:rPr>
              <a:t>ACADEMIC FOCUS &amp; FOUNDATIONAL LINK  —  concepts we will use from each course</a:t>
            </a:r>
          </a:p>
        </p:txBody>
      </p:sp>
      <p:graphicFrame>
        <p:nvGraphicFramePr>
          <p:cNvPr id="42" name="Academic focus table"/>
          <p:cNvGraphicFramePr>
            <a:graphicFrameLocks noGrp="1"/>
          </p:cNvGraphicFramePr>
          <p:nvPr/>
        </p:nvGraphicFramePr>
        <p:xfrm>
          <a:off x="548640" y="4800600"/>
          <a:ext cx="11064240" cy="1371600"/>
        </p:xfrm>
        <a:graphic>
          <a:graphicData uri="http://schemas.openxmlformats.org/drawingml/2006/table">
            <a:tbl>
              <a:tblPr>
                <a:tableStyleId>{2D5ABB26-0587-4C30-8999-92F81FD0307C}</a:tableStyleId>
              </a:tblPr>
              <a:tblGrid>
                <a:gridCol w="2926080">
                  <a:extLst>
                    <a:ext uri="{9D8B030D-6E8A-4147-A177-3AD203B41FA5}">
                      <a16:colId xmlns:a16="http://schemas.microsoft.com/office/drawing/2014/main" val="20000"/>
                    </a:ext>
                  </a:extLst>
                </a:gridCol>
                <a:gridCol w="8138160">
                  <a:extLst>
                    <a:ext uri="{9D8B030D-6E8A-4147-A177-3AD203B41FA5}">
                      <a16:colId xmlns:a16="http://schemas.microsoft.com/office/drawing/2014/main" val="20001"/>
                    </a:ext>
                  </a:extLst>
                </a:gridCol>
              </a:tblGrid>
              <a:tr h="457200">
                <a:tc>
                  <a:txBody>
                    <a:bodyPr/>
                    <a:lstStyle/>
                    <a:p>
                      <a:r>
                        <a:rPr sz="1200" b="1" i="0">
                          <a:solidFill>
                            <a:srgbClr val="1B2B4B"/>
                          </a:solidFill>
                          <a:latin typeface="Calibri"/>
                        </a:rPr>
                        <a:t>Design &amp; Analysis of Algorithms</a:t>
                      </a:r>
                    </a:p>
                  </a:txBody>
                  <a:tcPr marT="27432" marB="27432" anchor="ctr">
                    <a:solidFill>
                      <a:srgbClr val="F4F6F9"/>
                    </a:solidFill>
                  </a:tcPr>
                </a:tc>
                <a:tc>
                  <a:txBody>
                    <a:bodyPr/>
                    <a:lstStyle/>
                    <a:p>
                      <a:r>
                        <a:rPr sz="1200" b="0" i="0">
                          <a:solidFill>
                            <a:srgbClr val="222222"/>
                          </a:solidFill>
                          <a:latin typeface="Calibri"/>
                        </a:rPr>
                        <a:t>Hash table (average O(1) lookup)  ·  Doubly-linked list (O(1) LRU update/eviction)  ·  Min-Heap (O(log N) insert/remove for TTL sweep)</a:t>
                      </a:r>
                    </a:p>
                  </a:txBody>
                  <a:tcPr marT="27432" marB="27432" anchor="ctr">
                    <a:solidFill>
                      <a:srgbClr val="FFFFFF"/>
                    </a:solidFill>
                  </a:tcPr>
                </a:tc>
                <a:extLst>
                  <a:ext uri="{0D108BD9-81ED-4DB2-BD59-A6C34878D82A}">
                    <a16:rowId xmlns:a16="http://schemas.microsoft.com/office/drawing/2014/main" val="10000"/>
                  </a:ext>
                </a:extLst>
              </a:tr>
              <a:tr h="457200">
                <a:tc>
                  <a:txBody>
                    <a:bodyPr/>
                    <a:lstStyle/>
                    <a:p>
                      <a:r>
                        <a:rPr sz="1200" b="1" i="0">
                          <a:solidFill>
                            <a:srgbClr val="1B2B4B"/>
                          </a:solidFill>
                          <a:latin typeface="Calibri"/>
                        </a:rPr>
                        <a:t>Database Management Systems</a:t>
                      </a:r>
                    </a:p>
                  </a:txBody>
                  <a:tcPr marT="27432" marB="27432" anchor="ctr">
                    <a:solidFill>
                      <a:srgbClr val="F4F6F9"/>
                    </a:solidFill>
                  </a:tcPr>
                </a:tc>
                <a:tc>
                  <a:txBody>
                    <a:bodyPr/>
                    <a:lstStyle/>
                    <a:p>
                      <a:r>
                        <a:rPr sz="1200" b="0" i="0">
                          <a:solidFill>
                            <a:srgbClr val="222222"/>
                          </a:solidFill>
                          <a:latin typeface="Calibri"/>
                        </a:rPr>
                        <a:t>Key-value indexing  ·  Atomic commit of multi-record answers  ·  Snapshot serialization (dns_cache.db)  ·  Data consistency</a:t>
                      </a:r>
                    </a:p>
                  </a:txBody>
                  <a:tcPr marT="27432" marB="27432" anchor="ctr">
                    <a:solidFill>
                      <a:srgbClr val="FFFFFF"/>
                    </a:solidFill>
                  </a:tcPr>
                </a:tc>
                <a:extLst>
                  <a:ext uri="{0D108BD9-81ED-4DB2-BD59-A6C34878D82A}">
                    <a16:rowId xmlns:a16="http://schemas.microsoft.com/office/drawing/2014/main" val="10001"/>
                  </a:ext>
                </a:extLst>
              </a:tr>
              <a:tr h="457200">
                <a:tc>
                  <a:txBody>
                    <a:bodyPr/>
                    <a:lstStyle/>
                    <a:p>
                      <a:r>
                        <a:rPr sz="1200" b="1" i="0">
                          <a:solidFill>
                            <a:srgbClr val="1B2B4B"/>
                          </a:solidFill>
                          <a:latin typeface="Calibri"/>
                        </a:rPr>
                        <a:t>Operating System Principles</a:t>
                      </a:r>
                    </a:p>
                  </a:txBody>
                  <a:tcPr marT="27432" marB="27432" anchor="ctr">
                    <a:solidFill>
                      <a:srgbClr val="F4F6F9"/>
                    </a:solidFill>
                  </a:tcPr>
                </a:tc>
                <a:tc>
                  <a:txBody>
                    <a:bodyPr/>
                    <a:lstStyle/>
                    <a:p>
                      <a:r>
                        <a:rPr sz="1200" b="0" i="0">
                          <a:solidFill>
                            <a:srgbClr val="222222"/>
                          </a:solidFill>
                          <a:latin typeface="Calibri"/>
                        </a:rPr>
                        <a:t>Reader-Writer lock (SharedMutex)  ·  Multi-reader concurrency  ·  Bounded resident memory (target ≤ 30 MB)</a:t>
                      </a:r>
                    </a:p>
                  </a:txBody>
                  <a:tcPr marT="27432" marB="27432" anchor="ctr">
                    <a:solidFill>
                      <a:srgbClr val="FFFFFF"/>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3"/>
          </p:nvPr>
        </p:nvSpPr>
        <p:spPr/>
        <p:txBody>
          <a:bodyPr lIns="0"/>
          <a:lstStyle/>
          <a:p>
            <a:r>
              <a:rPr sz="2600"/>
              <a:t>Upstream Resolution &amp; Network Forwarding Engine</a:t>
            </a:r>
          </a:p>
        </p:txBody>
      </p:sp>
      <p:sp>
        <p:nvSpPr>
          <p:cNvPr id="3" name="Section tag"/>
          <p:cNvSpPr txBox="1"/>
          <p:nvPr/>
        </p:nvSpPr>
        <p:spPr>
          <a:xfrm>
            <a:off x="548640" y="91440"/>
            <a:ext cx="8778240" cy="201168"/>
          </a:xfrm>
          <a:prstGeom prst="rect">
            <a:avLst/>
          </a:prstGeom>
          <a:noFill/>
        </p:spPr>
        <p:txBody>
          <a:bodyPr wrap="square" lIns="0" tIns="0" rIns="0" bIns="0" anchor="t">
            <a:spAutoFit/>
          </a:bodyPr>
          <a:lstStyle/>
          <a:p>
            <a:pPr algn="l">
              <a:lnSpc>
                <a:spcPct val="100000"/>
              </a:lnSpc>
              <a:spcAft>
                <a:spcPts val="0"/>
              </a:spcAft>
            </a:pPr>
            <a:r>
              <a:rPr sz="1000" b="1" i="0">
                <a:solidFill>
                  <a:srgbClr val="B3282D"/>
                </a:solidFill>
                <a:latin typeface="Calibri"/>
              </a:rPr>
              <a:t>C · ENGINE 03</a:t>
            </a:r>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475"/>
                </a:solidFill>
                <a:latin typeface="Calibri"/>
                <a:ea typeface="Calibri"/>
                <a:cs typeface="Calibri"/>
              </a:defRPr>
            </a:lvl1pPr>
          </a:lstStyle>
          <a:p>
            <a:pPr algn="r"/>
            <a:fld id="{F7021451-1387-4CA6-816F-3879F97B5CBC}" type="slidenum">
              <a:rPr lang="en-US" b="0"/>
              <a:t>11</a:t>
            </a:fld>
            <a:endParaRPr lang="en-US"/>
          </a:p>
        </p:txBody>
      </p:sp>
      <p:sp>
        <p:nvSpPr>
          <p:cNvPr id="26" name="Subtitle"/>
          <p:cNvSpPr txBox="1"/>
          <p:nvPr/>
        </p:nvSpPr>
        <p:spPr>
          <a:xfrm>
            <a:off x="548640" y="932688"/>
            <a:ext cx="10972800" cy="320040"/>
          </a:xfrm>
          <a:prstGeom prst="rect">
            <a:avLst/>
          </a:prstGeom>
          <a:noFill/>
        </p:spPr>
        <p:txBody>
          <a:bodyPr wrap="square" lIns="0" tIns="0" rIns="0" bIns="0" anchor="t">
            <a:spAutoFit/>
          </a:bodyPr>
          <a:lstStyle/>
          <a:p>
            <a:pPr algn="l">
              <a:lnSpc>
                <a:spcPct val="100000"/>
              </a:lnSpc>
              <a:spcAft>
                <a:spcPts val="0"/>
              </a:spcAft>
            </a:pPr>
            <a:r>
              <a:rPr sz="1200" b="1" i="0">
                <a:solidFill>
                  <a:srgbClr val="1F4E9E"/>
                </a:solidFill>
                <a:latin typeface="Calibri"/>
              </a:rPr>
              <a:t>COMPUTER NETWORKS / OPERATING SYSTEMS ENGINE   |   Owner: Ishani G (01fe22bci009)   |   Cluster C3: FR-06, NFR-04</a:t>
            </a:r>
          </a:p>
        </p:txBody>
      </p:sp>
      <p:sp>
        <p:nvSpPr>
          <p:cNvPr id="27" name="Left card"/>
          <p:cNvSpPr/>
          <p:nvPr/>
        </p:nvSpPr>
        <p:spPr>
          <a:xfrm>
            <a:off x="548640" y="1371600"/>
            <a:ext cx="5394960" cy="2926080"/>
          </a:xfrm>
          <a:prstGeom prst="roundRect">
            <a:avLst>
              <a:gd name="adj" fmla="val 4000"/>
            </a:avLst>
          </a:prstGeom>
          <a:solidFill>
            <a:srgbClr val="EEF1FA"/>
          </a:solidFill>
          <a:ln w="9525">
            <a:solidFill>
              <a:srgbClr val="D5DB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sponsibility and requirements"/>
          <p:cNvSpPr txBox="1"/>
          <p:nvPr/>
        </p:nvSpPr>
        <p:spPr>
          <a:xfrm>
            <a:off x="731520" y="1481328"/>
            <a:ext cx="5029200" cy="2743200"/>
          </a:xfrm>
          <a:prstGeom prst="rect">
            <a:avLst/>
          </a:prstGeom>
          <a:noFill/>
        </p:spPr>
        <p:txBody>
          <a:bodyPr wrap="square" lIns="0" tIns="0" rIns="0" bIns="0" anchor="t">
            <a:spAutoFit/>
          </a:bodyPr>
          <a:lstStyle/>
          <a:p>
            <a:pPr algn="l">
              <a:lnSpc>
                <a:spcPct val="100000"/>
              </a:lnSpc>
              <a:spcAft>
                <a:spcPts val="300"/>
              </a:spcAft>
            </a:pPr>
            <a:r>
              <a:rPr sz="1100" b="1" i="0">
                <a:solidFill>
                  <a:srgbClr val="B3282D"/>
                </a:solidFill>
                <a:latin typeface="Calibri"/>
              </a:rPr>
              <a:t>RESPONSIBILITY</a:t>
            </a:r>
          </a:p>
          <a:p>
            <a:pPr algn="l">
              <a:lnSpc>
                <a:spcPct val="100000"/>
              </a:lnSpc>
              <a:spcAft>
                <a:spcPts val="800"/>
              </a:spcAft>
            </a:pPr>
            <a:r>
              <a:rPr sz="1200" b="0" i="0">
                <a:solidFill>
                  <a:srgbClr val="222222"/>
                </a:solidFill>
                <a:latin typeface="Calibri"/>
              </a:rPr>
              <a:t>Sends unresolved DNS queries to configured upstream DNS servers. It owns outbound socket communication, timeouts, retry and failover policy, and validation of upstream responses. It does not own the inbound client UDP listener or cache data structures.</a:t>
            </a:r>
          </a:p>
          <a:p>
            <a:pPr algn="l">
              <a:lnSpc>
                <a:spcPct val="100000"/>
              </a:lnSpc>
              <a:spcAft>
                <a:spcPts val="300"/>
              </a:spcAft>
            </a:pPr>
            <a:r>
              <a:rPr sz="1100" b="1" i="0">
                <a:solidFill>
                  <a:srgbClr val="B3282D"/>
                </a:solidFill>
                <a:latin typeface="Calibri"/>
              </a:rPr>
              <a:t>REQUIREMENTS COVERED</a:t>
            </a:r>
          </a:p>
          <a:p>
            <a:pPr algn="l">
              <a:lnSpc>
                <a:spcPct val="100000"/>
              </a:lnSpc>
              <a:spcAft>
                <a:spcPts val="200"/>
              </a:spcAft>
            </a:pPr>
            <a:r>
              <a:rPr sz="1200" b="1" i="0">
                <a:solidFill>
                  <a:srgbClr val="1B2B4B"/>
                </a:solidFill>
                <a:latin typeface="Calibri"/>
              </a:rPr>
              <a:t>FR-06   </a:t>
            </a:r>
            <a:r>
              <a:rPr sz="1200" b="0" i="0">
                <a:solidFill>
                  <a:srgbClr val="222222"/>
                </a:solidFill>
                <a:latin typeface="Calibri"/>
              </a:rPr>
              <a:t>Forward cache misses upstream within the 2.0 s deadline, with timeouts and failover</a:t>
            </a:r>
          </a:p>
          <a:p>
            <a:pPr algn="l">
              <a:lnSpc>
                <a:spcPct val="100000"/>
              </a:lnSpc>
              <a:spcAft>
                <a:spcPts val="0"/>
              </a:spcAft>
            </a:pPr>
            <a:r>
              <a:rPr sz="1200" b="0" i="0">
                <a:solidFill>
                  <a:srgbClr val="5B6475"/>
                </a:solidFill>
                <a:latin typeface="Calibri"/>
              </a:rPr>
              <a:t>NFR-04  Upstream resolution deadline</a:t>
            </a:r>
          </a:p>
          <a:p>
            <a:pPr algn="l">
              <a:lnSpc>
                <a:spcPct val="100000"/>
              </a:lnSpc>
              <a:spcBef>
                <a:spcPts val="800"/>
              </a:spcBef>
              <a:spcAft>
                <a:spcPts val="0"/>
              </a:spcAft>
            </a:pPr>
            <a:r>
              <a:rPr sz="1200" b="0" i="0">
                <a:solidFill>
                  <a:srgbClr val="5B6475"/>
                </a:solidFill>
                <a:latin typeface="Calibri"/>
              </a:rPr>
              <a:t>Response validation: transaction ID checked against the pending-query map.</a:t>
            </a:r>
          </a:p>
        </p:txBody>
      </p:sp>
      <p:sp>
        <p:nvSpPr>
          <p:cNvPr id="29" name="Right card"/>
          <p:cNvSpPr/>
          <p:nvPr/>
        </p:nvSpPr>
        <p:spPr>
          <a:xfrm>
            <a:off x="6126480" y="1371600"/>
            <a:ext cx="5486400" cy="2926080"/>
          </a:xfrm>
          <a:prstGeom prst="roundRect">
            <a:avLst>
              <a:gd name="adj" fmla="val 4000"/>
            </a:avLst>
          </a:prstGeom>
          <a:solidFill>
            <a:srgbClr val="FFFFFF"/>
          </a:solidFill>
          <a:ln w="9525">
            <a:solidFill>
              <a:srgbClr val="D5DB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Input label"/>
          <p:cNvSpPr txBox="1"/>
          <p:nvPr/>
        </p:nvSpPr>
        <p:spPr>
          <a:xfrm>
            <a:off x="6309360" y="1490472"/>
            <a:ext cx="1325880" cy="274320"/>
          </a:xfrm>
          <a:prstGeom prst="rect">
            <a:avLst/>
          </a:prstGeom>
          <a:noFill/>
        </p:spPr>
        <p:txBody>
          <a:bodyPr wrap="square" lIns="0" tIns="0" rIns="0" bIns="0" anchor="t">
            <a:spAutoFit/>
          </a:bodyPr>
          <a:lstStyle/>
          <a:p>
            <a:pPr algn="l">
              <a:lnSpc>
                <a:spcPct val="100000"/>
              </a:lnSpc>
              <a:spcAft>
                <a:spcPts val="0"/>
              </a:spcAft>
            </a:pPr>
            <a:r>
              <a:rPr sz="1100" b="1" i="0">
                <a:solidFill>
                  <a:srgbClr val="B3282D"/>
                </a:solidFill>
                <a:latin typeface="Calibri"/>
              </a:rPr>
              <a:t>INPUT</a:t>
            </a:r>
          </a:p>
        </p:txBody>
      </p:sp>
      <p:sp>
        <p:nvSpPr>
          <p:cNvPr id="31" name="Input text"/>
          <p:cNvSpPr txBox="1"/>
          <p:nvPr/>
        </p:nvSpPr>
        <p:spPr>
          <a:xfrm>
            <a:off x="7635240" y="1490472"/>
            <a:ext cx="3840480" cy="491490"/>
          </a:xfrm>
          <a:prstGeom prst="rect">
            <a:avLst/>
          </a:prstGeom>
          <a:noFill/>
        </p:spPr>
        <p:txBody>
          <a:bodyPr wrap="square" lIns="0" tIns="0" rIns="0" bIns="0" anchor="t">
            <a:spAutoFit/>
          </a:bodyPr>
          <a:lstStyle/>
          <a:p>
            <a:pPr algn="l">
              <a:lnSpc>
                <a:spcPct val="100000"/>
              </a:lnSpc>
              <a:spcAft>
                <a:spcPts val="200"/>
              </a:spcAft>
            </a:pPr>
            <a:r>
              <a:rPr sz="1200" b="0" i="0">
                <a:solidFill>
                  <a:srgbClr val="222222"/>
                </a:solidFill>
                <a:latin typeface="Calibri"/>
              </a:rPr>
              <a:t>Uncached DNS query from the VM pipeline; upstream servers (8.8.8.8, 1.1.1.1).</a:t>
            </a:r>
          </a:p>
        </p:txBody>
      </p:sp>
      <p:cxnSp>
        <p:nvCxnSpPr>
          <p:cNvPr id="32" name="Divider 1"/>
          <p:cNvCxnSpPr/>
          <p:nvPr/>
        </p:nvCxnSpPr>
        <p:spPr>
          <a:xfrm>
            <a:off x="6309360" y="2000250"/>
            <a:ext cx="5120640" cy="0"/>
          </a:xfrm>
          <a:prstGeom prst="line">
            <a:avLst/>
          </a:prstGeom>
          <a:ln w="9525">
            <a:solidFill>
              <a:srgbClr val="D5DBE6"/>
            </a:solidFill>
          </a:ln>
        </p:spPr>
        <p:style>
          <a:lnRef idx="2">
            <a:schemeClr val="accent1"/>
          </a:lnRef>
          <a:fillRef idx="0">
            <a:schemeClr val="accent1"/>
          </a:fillRef>
          <a:effectRef idx="1">
            <a:schemeClr val="accent1"/>
          </a:effectRef>
          <a:fontRef idx="minor">
            <a:schemeClr val="tx1"/>
          </a:fontRef>
        </p:style>
      </p:cxnSp>
      <p:sp>
        <p:nvSpPr>
          <p:cNvPr id="33" name="Output label"/>
          <p:cNvSpPr txBox="1"/>
          <p:nvPr/>
        </p:nvSpPr>
        <p:spPr>
          <a:xfrm>
            <a:off x="6309360" y="2073402"/>
            <a:ext cx="1325880" cy="274320"/>
          </a:xfrm>
          <a:prstGeom prst="rect">
            <a:avLst/>
          </a:prstGeom>
          <a:noFill/>
        </p:spPr>
        <p:txBody>
          <a:bodyPr wrap="square" lIns="0" tIns="0" rIns="0" bIns="0" anchor="t">
            <a:spAutoFit/>
          </a:bodyPr>
          <a:lstStyle/>
          <a:p>
            <a:pPr algn="l">
              <a:lnSpc>
                <a:spcPct val="100000"/>
              </a:lnSpc>
              <a:spcAft>
                <a:spcPts val="0"/>
              </a:spcAft>
            </a:pPr>
            <a:r>
              <a:rPr sz="1100" b="1" i="0">
                <a:solidFill>
                  <a:srgbClr val="B3282D"/>
                </a:solidFill>
                <a:latin typeface="Calibri"/>
              </a:rPr>
              <a:t>OUTPUT</a:t>
            </a:r>
          </a:p>
        </p:txBody>
      </p:sp>
      <p:sp>
        <p:nvSpPr>
          <p:cNvPr id="34" name="Output text"/>
          <p:cNvSpPr txBox="1"/>
          <p:nvPr/>
        </p:nvSpPr>
        <p:spPr>
          <a:xfrm>
            <a:off x="7635240" y="2073402"/>
            <a:ext cx="3840480" cy="491490"/>
          </a:xfrm>
          <a:prstGeom prst="rect">
            <a:avLst/>
          </a:prstGeom>
          <a:noFill/>
        </p:spPr>
        <p:txBody>
          <a:bodyPr wrap="square" lIns="0" tIns="0" rIns="0" bIns="0" anchor="t">
            <a:spAutoFit/>
          </a:bodyPr>
          <a:lstStyle/>
          <a:p>
            <a:pPr algn="l">
              <a:lnSpc>
                <a:spcPct val="100000"/>
              </a:lnSpc>
              <a:spcAft>
                <a:spcPts val="200"/>
              </a:spcAft>
            </a:pPr>
            <a:r>
              <a:rPr sz="1200" b="0" i="0">
                <a:solidFill>
                  <a:srgbClr val="222222"/>
                </a:solidFill>
                <a:latin typeface="Calibri"/>
              </a:rPr>
              <a:t>Raw upstream response datagram and status (SUCCESS, TIMEOUT, UNREACHABLE).</a:t>
            </a:r>
          </a:p>
        </p:txBody>
      </p:sp>
      <p:cxnSp>
        <p:nvCxnSpPr>
          <p:cNvPr id="35" name="Divider 2"/>
          <p:cNvCxnSpPr/>
          <p:nvPr/>
        </p:nvCxnSpPr>
        <p:spPr>
          <a:xfrm>
            <a:off x="6309360" y="2583180"/>
            <a:ext cx="5120640" cy="0"/>
          </a:xfrm>
          <a:prstGeom prst="line">
            <a:avLst/>
          </a:prstGeom>
          <a:ln w="9525">
            <a:solidFill>
              <a:srgbClr val="D5DBE6"/>
            </a:solidFill>
          </a:ln>
        </p:spPr>
        <p:style>
          <a:lnRef idx="2">
            <a:schemeClr val="accent1"/>
          </a:lnRef>
          <a:fillRef idx="0">
            <a:schemeClr val="accent1"/>
          </a:fillRef>
          <a:effectRef idx="1">
            <a:schemeClr val="accent1"/>
          </a:effectRef>
          <a:fontRef idx="minor">
            <a:schemeClr val="tx1"/>
          </a:fontRef>
        </p:style>
      </p:cxnSp>
      <p:sp>
        <p:nvSpPr>
          <p:cNvPr id="36" name="Core Mechanism label"/>
          <p:cNvSpPr txBox="1"/>
          <p:nvPr/>
        </p:nvSpPr>
        <p:spPr>
          <a:xfrm>
            <a:off x="6309360" y="2656332"/>
            <a:ext cx="1325880" cy="274320"/>
          </a:xfrm>
          <a:prstGeom prst="rect">
            <a:avLst/>
          </a:prstGeom>
          <a:noFill/>
        </p:spPr>
        <p:txBody>
          <a:bodyPr wrap="square" lIns="0" tIns="0" rIns="0" bIns="0" anchor="t">
            <a:spAutoFit/>
          </a:bodyPr>
          <a:lstStyle/>
          <a:p>
            <a:pPr algn="l">
              <a:lnSpc>
                <a:spcPct val="100000"/>
              </a:lnSpc>
              <a:spcAft>
                <a:spcPts val="0"/>
              </a:spcAft>
            </a:pPr>
            <a:r>
              <a:rPr sz="1100" b="1" i="0">
                <a:solidFill>
                  <a:srgbClr val="B3282D"/>
                </a:solidFill>
                <a:latin typeface="Calibri"/>
              </a:rPr>
              <a:t>CORE MECHANISM</a:t>
            </a:r>
          </a:p>
        </p:txBody>
      </p:sp>
      <p:sp>
        <p:nvSpPr>
          <p:cNvPr id="37" name="Core Mechanism text"/>
          <p:cNvSpPr txBox="1"/>
          <p:nvPr/>
        </p:nvSpPr>
        <p:spPr>
          <a:xfrm>
            <a:off x="7635240" y="2656332"/>
            <a:ext cx="3840480" cy="765810"/>
          </a:xfrm>
          <a:prstGeom prst="rect">
            <a:avLst/>
          </a:prstGeom>
          <a:noFill/>
        </p:spPr>
        <p:txBody>
          <a:bodyPr wrap="square" lIns="0" tIns="0" rIns="0" bIns="0" anchor="t">
            <a:spAutoFit/>
          </a:bodyPr>
          <a:lstStyle/>
          <a:p>
            <a:pPr algn="l">
              <a:lnSpc>
                <a:spcPct val="100000"/>
              </a:lnSpc>
              <a:spcAft>
                <a:spcPts val="200"/>
              </a:spcAft>
            </a:pPr>
            <a:r>
              <a:rPr sz="1200" b="0" i="0">
                <a:solidFill>
                  <a:srgbClr val="222222"/>
                </a:solidFill>
                <a:latin typeface="Calibri"/>
              </a:rPr>
              <a:t>Non-blocking UDP socket polling within a 2.0 s deadline budget; sequential failover; randomized 16-bit transaction IDs and ports (spoofing mitigation).</a:t>
            </a:r>
          </a:p>
        </p:txBody>
      </p:sp>
      <p:cxnSp>
        <p:nvCxnSpPr>
          <p:cNvPr id="38" name="Divider 3"/>
          <p:cNvCxnSpPr/>
          <p:nvPr/>
        </p:nvCxnSpPr>
        <p:spPr>
          <a:xfrm>
            <a:off x="6309360" y="3440430"/>
            <a:ext cx="5120640" cy="0"/>
          </a:xfrm>
          <a:prstGeom prst="line">
            <a:avLst/>
          </a:prstGeom>
          <a:ln w="9525">
            <a:solidFill>
              <a:srgbClr val="D5DBE6"/>
            </a:solidFill>
          </a:ln>
        </p:spPr>
        <p:style>
          <a:lnRef idx="2">
            <a:schemeClr val="accent1"/>
          </a:lnRef>
          <a:fillRef idx="0">
            <a:schemeClr val="accent1"/>
          </a:fillRef>
          <a:effectRef idx="1">
            <a:schemeClr val="accent1"/>
          </a:effectRef>
          <a:fontRef idx="minor">
            <a:schemeClr val="tx1"/>
          </a:fontRef>
        </p:style>
      </p:cxnSp>
      <p:sp>
        <p:nvSpPr>
          <p:cNvPr id="39" name="If It Fails label"/>
          <p:cNvSpPr txBox="1"/>
          <p:nvPr/>
        </p:nvSpPr>
        <p:spPr>
          <a:xfrm>
            <a:off x="6309360" y="3513582"/>
            <a:ext cx="1325880" cy="274320"/>
          </a:xfrm>
          <a:prstGeom prst="rect">
            <a:avLst/>
          </a:prstGeom>
          <a:noFill/>
        </p:spPr>
        <p:txBody>
          <a:bodyPr wrap="square" lIns="0" tIns="0" rIns="0" bIns="0" anchor="t">
            <a:spAutoFit/>
          </a:bodyPr>
          <a:lstStyle/>
          <a:p>
            <a:pPr algn="l">
              <a:lnSpc>
                <a:spcPct val="100000"/>
              </a:lnSpc>
              <a:spcAft>
                <a:spcPts val="0"/>
              </a:spcAft>
            </a:pPr>
            <a:r>
              <a:rPr sz="1100" b="1" i="0">
                <a:solidFill>
                  <a:srgbClr val="B3282D"/>
                </a:solidFill>
                <a:latin typeface="Calibri"/>
              </a:rPr>
              <a:t>IF IT FAILS</a:t>
            </a:r>
          </a:p>
        </p:txBody>
      </p:sp>
      <p:sp>
        <p:nvSpPr>
          <p:cNvPr id="40" name="If It Fails text"/>
          <p:cNvSpPr txBox="1"/>
          <p:nvPr/>
        </p:nvSpPr>
        <p:spPr>
          <a:xfrm>
            <a:off x="7635240" y="3513582"/>
            <a:ext cx="3840480" cy="720090"/>
          </a:xfrm>
          <a:prstGeom prst="rect">
            <a:avLst/>
          </a:prstGeom>
          <a:noFill/>
        </p:spPr>
        <p:txBody>
          <a:bodyPr wrap="square" lIns="0" tIns="0" rIns="0" bIns="0" anchor="t">
            <a:spAutoFit/>
          </a:bodyPr>
          <a:lstStyle/>
          <a:p>
            <a:pPr algn="l">
              <a:lnSpc>
                <a:spcPct val="100000"/>
              </a:lnSpc>
              <a:spcAft>
                <a:spcPts val="200"/>
              </a:spcAft>
            </a:pPr>
            <a:r>
              <a:rPr sz="1200" b="0" i="0">
                <a:solidFill>
                  <a:srgbClr val="222222"/>
                </a:solidFill>
                <a:latin typeface="Calibri"/>
              </a:rPr>
              <a:t>• Primary upstream timeout: fail over to secondary</a:t>
            </a:r>
          </a:p>
          <a:p>
            <a:pPr algn="l">
              <a:lnSpc>
                <a:spcPct val="100000"/>
              </a:lnSpc>
              <a:spcAft>
                <a:spcPts val="200"/>
              </a:spcAft>
            </a:pPr>
            <a:r>
              <a:rPr sz="1200" b="0" i="0">
                <a:solidFill>
                  <a:srgbClr val="222222"/>
                </a:solidFill>
                <a:latin typeface="Calibri"/>
              </a:rPr>
              <a:t>• Deadline expires: return SERVFAIL, close sockets (target: 0 leaks)</a:t>
            </a:r>
          </a:p>
        </p:txBody>
      </p:sp>
      <p:sp>
        <p:nvSpPr>
          <p:cNvPr id="41" name="Academic heading"/>
          <p:cNvSpPr txBox="1"/>
          <p:nvPr/>
        </p:nvSpPr>
        <p:spPr>
          <a:xfrm>
            <a:off x="548640" y="4480560"/>
            <a:ext cx="7315200" cy="256032"/>
          </a:xfrm>
          <a:prstGeom prst="rect">
            <a:avLst/>
          </a:prstGeom>
          <a:noFill/>
        </p:spPr>
        <p:txBody>
          <a:bodyPr wrap="square" lIns="0" tIns="0" rIns="0" bIns="0" anchor="t">
            <a:spAutoFit/>
          </a:bodyPr>
          <a:lstStyle/>
          <a:p>
            <a:pPr algn="l">
              <a:lnSpc>
                <a:spcPct val="100000"/>
              </a:lnSpc>
              <a:spcAft>
                <a:spcPts val="0"/>
              </a:spcAft>
            </a:pPr>
            <a:r>
              <a:rPr sz="1200" b="1" i="0">
                <a:solidFill>
                  <a:srgbClr val="1B2B4B"/>
                </a:solidFill>
                <a:latin typeface="Calibri"/>
              </a:rPr>
              <a:t>ACADEMIC FOCUS &amp; FOUNDATIONAL LINK  —  concepts we will use from each course</a:t>
            </a:r>
          </a:p>
        </p:txBody>
      </p:sp>
      <p:graphicFrame>
        <p:nvGraphicFramePr>
          <p:cNvPr id="42" name="Academic focus table"/>
          <p:cNvGraphicFramePr>
            <a:graphicFrameLocks noGrp="1"/>
          </p:cNvGraphicFramePr>
          <p:nvPr/>
        </p:nvGraphicFramePr>
        <p:xfrm>
          <a:off x="548640" y="4800600"/>
          <a:ext cx="11064240" cy="1371600"/>
        </p:xfrm>
        <a:graphic>
          <a:graphicData uri="http://schemas.openxmlformats.org/drawingml/2006/table">
            <a:tbl>
              <a:tblPr>
                <a:tableStyleId>{2D5ABB26-0587-4C30-8999-92F81FD0307C}</a:tableStyleId>
              </a:tblPr>
              <a:tblGrid>
                <a:gridCol w="2926080">
                  <a:extLst>
                    <a:ext uri="{9D8B030D-6E8A-4147-A177-3AD203B41FA5}">
                      <a16:colId xmlns:a16="http://schemas.microsoft.com/office/drawing/2014/main" val="20000"/>
                    </a:ext>
                  </a:extLst>
                </a:gridCol>
                <a:gridCol w="8138160">
                  <a:extLst>
                    <a:ext uri="{9D8B030D-6E8A-4147-A177-3AD203B41FA5}">
                      <a16:colId xmlns:a16="http://schemas.microsoft.com/office/drawing/2014/main" val="20001"/>
                    </a:ext>
                  </a:extLst>
                </a:gridCol>
              </a:tblGrid>
              <a:tr h="457200">
                <a:tc>
                  <a:txBody>
                    <a:bodyPr/>
                    <a:lstStyle/>
                    <a:p>
                      <a:r>
                        <a:rPr sz="1200" b="1" i="0">
                          <a:solidFill>
                            <a:srgbClr val="1B2B4B"/>
                          </a:solidFill>
                          <a:latin typeface="Calibri"/>
                        </a:rPr>
                        <a:t>Computer Networks</a:t>
                      </a:r>
                    </a:p>
                  </a:txBody>
                  <a:tcPr marT="27432" marB="27432" anchor="ctr">
                    <a:solidFill>
                      <a:srgbClr val="F4F6F9"/>
                    </a:solidFill>
                  </a:tcPr>
                </a:tc>
                <a:tc>
                  <a:txBody>
                    <a:bodyPr/>
                    <a:lstStyle/>
                    <a:p>
                      <a:r>
                        <a:rPr sz="1200" b="0" i="0">
                          <a:solidFill>
                            <a:srgbClr val="222222"/>
                          </a:solidFill>
                          <a:latin typeface="Calibri"/>
                        </a:rPr>
                        <a:t>Forwarding to recursive upstream resolvers  ·  UDP client sockets  ·  Spoofing mitigation: random 16-bit IDs and port randomization (Kaminsky)</a:t>
                      </a:r>
                    </a:p>
                  </a:txBody>
                  <a:tcPr marT="27432" marB="27432" anchor="ctr">
                    <a:solidFill>
                      <a:srgbClr val="FFFFFF"/>
                    </a:solidFill>
                  </a:tcPr>
                </a:tc>
                <a:extLst>
                  <a:ext uri="{0D108BD9-81ED-4DB2-BD59-A6C34878D82A}">
                    <a16:rowId xmlns:a16="http://schemas.microsoft.com/office/drawing/2014/main" val="10000"/>
                  </a:ext>
                </a:extLst>
              </a:tr>
              <a:tr h="457200">
                <a:tc>
                  <a:txBody>
                    <a:bodyPr/>
                    <a:lstStyle/>
                    <a:p>
                      <a:r>
                        <a:rPr sz="1200" b="1" i="0">
                          <a:solidFill>
                            <a:srgbClr val="1B2B4B"/>
                          </a:solidFill>
                          <a:latin typeface="Calibri"/>
                        </a:rPr>
                        <a:t>Operating System Principles</a:t>
                      </a:r>
                    </a:p>
                  </a:txBody>
                  <a:tcPr marT="27432" marB="27432" anchor="ctr">
                    <a:solidFill>
                      <a:srgbClr val="F4F6F9"/>
                    </a:solidFill>
                  </a:tcPr>
                </a:tc>
                <a:tc>
                  <a:txBody>
                    <a:bodyPr/>
                    <a:lstStyle/>
                    <a:p>
                      <a:r>
                        <a:rPr sz="1200" b="0" i="0">
                          <a:solidFill>
                            <a:srgbClr val="222222"/>
                          </a:solidFill>
                          <a:latin typeface="Calibri"/>
                        </a:rPr>
                        <a:t>Non-blocking socket I/O (poll/select)  ·  2.0 s deadline budget  ·  Socket cleanup with 0 leaks</a:t>
                      </a:r>
                    </a:p>
                  </a:txBody>
                  <a:tcPr marT="27432" marB="27432" anchor="ctr">
                    <a:solidFill>
                      <a:srgbClr val="FFFFFF"/>
                    </a:solidFill>
                  </a:tcPr>
                </a:tc>
                <a:extLst>
                  <a:ext uri="{0D108BD9-81ED-4DB2-BD59-A6C34878D82A}">
                    <a16:rowId xmlns:a16="http://schemas.microsoft.com/office/drawing/2014/main" val="10001"/>
                  </a:ext>
                </a:extLst>
              </a:tr>
              <a:tr h="457200">
                <a:tc>
                  <a:txBody>
                    <a:bodyPr/>
                    <a:lstStyle/>
                    <a:p>
                      <a:r>
                        <a:rPr sz="1200" b="1" i="0">
                          <a:solidFill>
                            <a:srgbClr val="1B2B4B"/>
                          </a:solidFill>
                          <a:latin typeface="Calibri"/>
                        </a:rPr>
                        <a:t>Design &amp; Analysis of Algorithms</a:t>
                      </a:r>
                    </a:p>
                  </a:txBody>
                  <a:tcPr marT="27432" marB="27432" anchor="ctr">
                    <a:solidFill>
                      <a:srgbClr val="F4F6F9"/>
                    </a:solidFill>
                  </a:tcPr>
                </a:tc>
                <a:tc>
                  <a:txBody>
                    <a:bodyPr/>
                    <a:lstStyle/>
                    <a:p>
                      <a:r>
                        <a:rPr sz="1200" b="0" i="0">
                          <a:solidFill>
                            <a:srgbClr val="222222"/>
                          </a:solidFill>
                          <a:latin typeface="Calibri"/>
                        </a:rPr>
                        <a:t>Timeout retry backoff  ·  Transaction ID verification map lookup</a:t>
                      </a:r>
                    </a:p>
                  </a:txBody>
                  <a:tcPr marT="27432" marB="27432" anchor="ctr">
                    <a:solidFill>
                      <a:srgbClr val="FFFFFF"/>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3"/>
          </p:nvPr>
        </p:nvSpPr>
        <p:spPr/>
        <p:txBody>
          <a:bodyPr lIns="0"/>
          <a:lstStyle/>
          <a:p>
            <a:r>
              <a:rPr sz="2600"/>
              <a:t>Query Execution VM &amp; Performance Telemetry Engine</a:t>
            </a:r>
          </a:p>
        </p:txBody>
      </p:sp>
      <p:sp>
        <p:nvSpPr>
          <p:cNvPr id="3" name="Section tag"/>
          <p:cNvSpPr txBox="1"/>
          <p:nvPr/>
        </p:nvSpPr>
        <p:spPr>
          <a:xfrm>
            <a:off x="548640" y="91440"/>
            <a:ext cx="8778240" cy="201168"/>
          </a:xfrm>
          <a:prstGeom prst="rect">
            <a:avLst/>
          </a:prstGeom>
          <a:noFill/>
        </p:spPr>
        <p:txBody>
          <a:bodyPr wrap="square" lIns="0" tIns="0" rIns="0" bIns="0" anchor="t">
            <a:spAutoFit/>
          </a:bodyPr>
          <a:lstStyle/>
          <a:p>
            <a:pPr algn="l">
              <a:lnSpc>
                <a:spcPct val="100000"/>
              </a:lnSpc>
              <a:spcAft>
                <a:spcPts val="0"/>
              </a:spcAft>
            </a:pPr>
            <a:r>
              <a:rPr sz="1000" b="1" i="0">
                <a:solidFill>
                  <a:srgbClr val="B3282D"/>
                </a:solidFill>
                <a:latin typeface="Calibri"/>
              </a:rPr>
              <a:t>C · ENGINE 04</a:t>
            </a:r>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475"/>
                </a:solidFill>
                <a:latin typeface="Calibri"/>
                <a:ea typeface="Calibri"/>
                <a:cs typeface="Calibri"/>
              </a:defRPr>
            </a:lvl1pPr>
          </a:lstStyle>
          <a:p>
            <a:pPr algn="r"/>
            <a:fld id="{F7021451-1387-4CA6-816F-3879F97B5CBC}" type="slidenum">
              <a:rPr lang="en-US" b="0"/>
              <a:t>12</a:t>
            </a:fld>
            <a:endParaRPr lang="en-US"/>
          </a:p>
        </p:txBody>
      </p:sp>
      <p:sp>
        <p:nvSpPr>
          <p:cNvPr id="26" name="Subtitle"/>
          <p:cNvSpPr txBox="1"/>
          <p:nvPr/>
        </p:nvSpPr>
        <p:spPr>
          <a:xfrm>
            <a:off x="548640" y="932688"/>
            <a:ext cx="10972800" cy="320040"/>
          </a:xfrm>
          <a:prstGeom prst="rect">
            <a:avLst/>
          </a:prstGeom>
          <a:noFill/>
        </p:spPr>
        <p:txBody>
          <a:bodyPr wrap="square" lIns="0" tIns="0" rIns="0" bIns="0" anchor="t">
            <a:spAutoFit/>
          </a:bodyPr>
          <a:lstStyle/>
          <a:p>
            <a:pPr algn="l">
              <a:lnSpc>
                <a:spcPct val="100000"/>
              </a:lnSpc>
              <a:spcAft>
                <a:spcPts val="0"/>
              </a:spcAft>
            </a:pPr>
            <a:r>
              <a:rPr sz="1200" b="1" i="0">
                <a:solidFill>
                  <a:srgbClr val="1F4E9E"/>
                </a:solidFill>
                <a:latin typeface="Calibri"/>
              </a:rPr>
              <a:t>OPERATING SYSTEMS PRINCIPLES AND PROGRAMMING ENGINE   |   Owner: Joel Biju (01fe24bci021)   |   Cluster C4, C5: FR-07, FR-08, FR-09, NFR-01, NFR-02</a:t>
            </a:r>
          </a:p>
        </p:txBody>
      </p:sp>
      <p:sp>
        <p:nvSpPr>
          <p:cNvPr id="27" name="Left card"/>
          <p:cNvSpPr/>
          <p:nvPr/>
        </p:nvSpPr>
        <p:spPr>
          <a:xfrm>
            <a:off x="548640" y="1371600"/>
            <a:ext cx="5394960" cy="2926080"/>
          </a:xfrm>
          <a:prstGeom prst="roundRect">
            <a:avLst>
              <a:gd name="adj" fmla="val 4000"/>
            </a:avLst>
          </a:prstGeom>
          <a:solidFill>
            <a:srgbClr val="EEF1FA"/>
          </a:solidFill>
          <a:ln w="9525">
            <a:solidFill>
              <a:srgbClr val="D5DB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sponsibility and requirements"/>
          <p:cNvSpPr txBox="1"/>
          <p:nvPr/>
        </p:nvSpPr>
        <p:spPr>
          <a:xfrm>
            <a:off x="731520" y="1481328"/>
            <a:ext cx="5029200" cy="2743200"/>
          </a:xfrm>
          <a:prstGeom prst="rect">
            <a:avLst/>
          </a:prstGeom>
          <a:noFill/>
        </p:spPr>
        <p:txBody>
          <a:bodyPr wrap="square" lIns="0" tIns="0" rIns="0" bIns="0" anchor="t">
            <a:spAutoFit/>
          </a:bodyPr>
          <a:lstStyle/>
          <a:p>
            <a:pPr algn="l">
              <a:lnSpc>
                <a:spcPct val="100000"/>
              </a:lnSpc>
              <a:spcAft>
                <a:spcPts val="300"/>
              </a:spcAft>
            </a:pPr>
            <a:r>
              <a:rPr sz="1100" b="1" i="0">
                <a:solidFill>
                  <a:srgbClr val="B3282D"/>
                </a:solidFill>
                <a:latin typeface="Calibri"/>
              </a:rPr>
              <a:t>RESPONSIBILITY</a:t>
            </a:r>
          </a:p>
          <a:p>
            <a:pPr algn="l">
              <a:lnSpc>
                <a:spcPct val="100000"/>
              </a:lnSpc>
              <a:spcAft>
                <a:spcPts val="800"/>
              </a:spcAft>
            </a:pPr>
            <a:r>
              <a:rPr sz="1200" b="0" i="0">
                <a:solidFill>
                  <a:srgbClr val="222222"/>
                </a:solidFill>
                <a:latin typeface="Calibri"/>
              </a:rPr>
              <a:t>Owns the inbound client UDP listener, coordinates the query execution pipeline and worker threads, handles query outcomes, and collects performance telemetry. It coordinates parsing through E1, cache operations through E2, and upstream resolution through E3.</a:t>
            </a:r>
          </a:p>
          <a:p>
            <a:pPr algn="l">
              <a:lnSpc>
                <a:spcPct val="100000"/>
              </a:lnSpc>
              <a:spcAft>
                <a:spcPts val="300"/>
              </a:spcAft>
            </a:pPr>
            <a:r>
              <a:rPr sz="1100" b="1" i="0">
                <a:solidFill>
                  <a:srgbClr val="B3282D"/>
                </a:solidFill>
                <a:latin typeface="Calibri"/>
              </a:rPr>
              <a:t>REQUIREMENTS COVERED</a:t>
            </a:r>
          </a:p>
          <a:p>
            <a:pPr algn="l">
              <a:lnSpc>
                <a:spcPct val="100000"/>
              </a:lnSpc>
              <a:spcAft>
                <a:spcPts val="200"/>
              </a:spcAft>
            </a:pPr>
            <a:r>
              <a:rPr sz="1200" b="1" i="0">
                <a:solidFill>
                  <a:srgbClr val="1B2B4B"/>
                </a:solidFill>
                <a:latin typeface="Calibri"/>
              </a:rPr>
              <a:t>FR-07   </a:t>
            </a:r>
            <a:r>
              <a:rPr sz="1200" b="0" i="0">
                <a:solidFill>
                  <a:srgbClr val="222222"/>
                </a:solidFill>
                <a:latin typeface="Calibri"/>
              </a:rPr>
              <a:t>Sequences the COMMIT stage (E2 performs the cache update)</a:t>
            </a:r>
          </a:p>
          <a:p>
            <a:pPr algn="l">
              <a:lnSpc>
                <a:spcPct val="100000"/>
              </a:lnSpc>
              <a:spcAft>
                <a:spcPts val="200"/>
              </a:spcAft>
            </a:pPr>
            <a:r>
              <a:rPr sz="1200" b="1" i="0">
                <a:solidFill>
                  <a:srgbClr val="1B2B4B"/>
                </a:solidFill>
                <a:latin typeface="Calibri"/>
              </a:rPr>
              <a:t>FR-08   </a:t>
            </a:r>
            <a:r>
              <a:rPr sz="1200" b="0" i="0">
                <a:solidFill>
                  <a:srgbClr val="222222"/>
                </a:solidFill>
                <a:latin typeface="Calibri"/>
              </a:rPr>
              <a:t>Edge conditions: NXDOMAIN, SERVFAIL, FORMERR</a:t>
            </a:r>
          </a:p>
          <a:p>
            <a:pPr algn="l">
              <a:lnSpc>
                <a:spcPct val="100000"/>
              </a:lnSpc>
              <a:spcAft>
                <a:spcPts val="200"/>
              </a:spcAft>
            </a:pPr>
            <a:r>
              <a:rPr sz="1200" b="1" i="0">
                <a:solidFill>
                  <a:srgbClr val="1B2B4B"/>
                </a:solidFill>
                <a:latin typeface="Calibri"/>
              </a:rPr>
              <a:t>FR-09   </a:t>
            </a:r>
            <a:r>
              <a:rPr sz="1200" b="0" i="0">
                <a:solidFill>
                  <a:srgbClr val="222222"/>
                </a:solidFill>
                <a:latin typeface="Calibri"/>
              </a:rPr>
              <a:t>Real-time telemetry using steady_clock</a:t>
            </a:r>
          </a:p>
          <a:p>
            <a:pPr algn="l">
              <a:lnSpc>
                <a:spcPct val="100000"/>
              </a:lnSpc>
              <a:spcAft>
                <a:spcPts val="0"/>
              </a:spcAft>
            </a:pPr>
            <a:r>
              <a:rPr sz="1200" b="0" i="0">
                <a:solidFill>
                  <a:srgbClr val="5B6475"/>
                </a:solidFill>
                <a:latin typeface="Calibri"/>
              </a:rPr>
              <a:t>NFR-01 Cache-hit latency  ·  NFR-02 Throughput</a:t>
            </a:r>
          </a:p>
        </p:txBody>
      </p:sp>
      <p:sp>
        <p:nvSpPr>
          <p:cNvPr id="29" name="Right card"/>
          <p:cNvSpPr/>
          <p:nvPr/>
        </p:nvSpPr>
        <p:spPr>
          <a:xfrm>
            <a:off x="6126480" y="1371600"/>
            <a:ext cx="5486400" cy="2926080"/>
          </a:xfrm>
          <a:prstGeom prst="roundRect">
            <a:avLst>
              <a:gd name="adj" fmla="val 4000"/>
            </a:avLst>
          </a:prstGeom>
          <a:solidFill>
            <a:srgbClr val="FFFFFF"/>
          </a:solidFill>
          <a:ln w="9525">
            <a:solidFill>
              <a:srgbClr val="D5DB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Input label"/>
          <p:cNvSpPr txBox="1"/>
          <p:nvPr/>
        </p:nvSpPr>
        <p:spPr>
          <a:xfrm>
            <a:off x="6309360" y="1490472"/>
            <a:ext cx="1325880" cy="274320"/>
          </a:xfrm>
          <a:prstGeom prst="rect">
            <a:avLst/>
          </a:prstGeom>
          <a:noFill/>
        </p:spPr>
        <p:txBody>
          <a:bodyPr wrap="square" lIns="0" tIns="0" rIns="0" bIns="0" anchor="t">
            <a:spAutoFit/>
          </a:bodyPr>
          <a:lstStyle/>
          <a:p>
            <a:pPr algn="l">
              <a:lnSpc>
                <a:spcPct val="100000"/>
              </a:lnSpc>
              <a:spcAft>
                <a:spcPts val="0"/>
              </a:spcAft>
            </a:pPr>
            <a:r>
              <a:rPr sz="1100" b="1" i="0">
                <a:solidFill>
                  <a:srgbClr val="B3282D"/>
                </a:solidFill>
                <a:latin typeface="Calibri"/>
              </a:rPr>
              <a:t>INPUT</a:t>
            </a:r>
          </a:p>
        </p:txBody>
      </p:sp>
      <p:sp>
        <p:nvSpPr>
          <p:cNvPr id="31" name="Input text"/>
          <p:cNvSpPr txBox="1"/>
          <p:nvPr/>
        </p:nvSpPr>
        <p:spPr>
          <a:xfrm>
            <a:off x="7635240" y="1490472"/>
            <a:ext cx="3840480" cy="422910"/>
          </a:xfrm>
          <a:prstGeom prst="rect">
            <a:avLst/>
          </a:prstGeom>
          <a:noFill/>
        </p:spPr>
        <p:txBody>
          <a:bodyPr wrap="square" lIns="0" tIns="0" rIns="0" bIns="0" anchor="t">
            <a:spAutoFit/>
          </a:bodyPr>
          <a:lstStyle/>
          <a:p>
            <a:pPr algn="l">
              <a:lnSpc>
                <a:spcPct val="100000"/>
              </a:lnSpc>
              <a:spcAft>
                <a:spcPts val="200"/>
              </a:spcAft>
            </a:pPr>
            <a:r>
              <a:rPr sz="1200" b="0" i="0">
                <a:solidFill>
                  <a:srgbClr val="222222"/>
                </a:solidFill>
                <a:latin typeface="Calibri"/>
              </a:rPr>
              <a:t>Inbound client datagram on the server port (default 53); periodic telemetry timer tick.</a:t>
            </a:r>
          </a:p>
        </p:txBody>
      </p:sp>
      <p:cxnSp>
        <p:nvCxnSpPr>
          <p:cNvPr id="32" name="Divider 1"/>
          <p:cNvCxnSpPr/>
          <p:nvPr/>
        </p:nvCxnSpPr>
        <p:spPr>
          <a:xfrm>
            <a:off x="6309360" y="1931669"/>
            <a:ext cx="5120640" cy="0"/>
          </a:xfrm>
          <a:prstGeom prst="line">
            <a:avLst/>
          </a:prstGeom>
          <a:ln w="9525">
            <a:solidFill>
              <a:srgbClr val="D5DBE6"/>
            </a:solidFill>
          </a:ln>
        </p:spPr>
        <p:style>
          <a:lnRef idx="2">
            <a:schemeClr val="accent1"/>
          </a:lnRef>
          <a:fillRef idx="0">
            <a:schemeClr val="accent1"/>
          </a:fillRef>
          <a:effectRef idx="1">
            <a:schemeClr val="accent1"/>
          </a:effectRef>
          <a:fontRef idx="minor">
            <a:schemeClr val="tx1"/>
          </a:fontRef>
        </p:style>
      </p:cxnSp>
      <p:sp>
        <p:nvSpPr>
          <p:cNvPr id="33" name="Output label"/>
          <p:cNvSpPr txBox="1"/>
          <p:nvPr/>
        </p:nvSpPr>
        <p:spPr>
          <a:xfrm>
            <a:off x="6309360" y="2004822"/>
            <a:ext cx="1325880" cy="274320"/>
          </a:xfrm>
          <a:prstGeom prst="rect">
            <a:avLst/>
          </a:prstGeom>
          <a:noFill/>
        </p:spPr>
        <p:txBody>
          <a:bodyPr wrap="square" lIns="0" tIns="0" rIns="0" bIns="0" anchor="t">
            <a:spAutoFit/>
          </a:bodyPr>
          <a:lstStyle/>
          <a:p>
            <a:pPr algn="l">
              <a:lnSpc>
                <a:spcPct val="100000"/>
              </a:lnSpc>
              <a:spcAft>
                <a:spcPts val="0"/>
              </a:spcAft>
            </a:pPr>
            <a:r>
              <a:rPr sz="1100" b="1" i="0">
                <a:solidFill>
                  <a:srgbClr val="B3282D"/>
                </a:solidFill>
                <a:latin typeface="Calibri"/>
              </a:rPr>
              <a:t>OUTPUT</a:t>
            </a:r>
          </a:p>
        </p:txBody>
      </p:sp>
      <p:sp>
        <p:nvSpPr>
          <p:cNvPr id="34" name="Output text"/>
          <p:cNvSpPr txBox="1"/>
          <p:nvPr/>
        </p:nvSpPr>
        <p:spPr>
          <a:xfrm>
            <a:off x="7635240" y="2004822"/>
            <a:ext cx="3840480" cy="422910"/>
          </a:xfrm>
          <a:prstGeom prst="rect">
            <a:avLst/>
          </a:prstGeom>
          <a:noFill/>
        </p:spPr>
        <p:txBody>
          <a:bodyPr wrap="square" lIns="0" tIns="0" rIns="0" bIns="0" anchor="t">
            <a:spAutoFit/>
          </a:bodyPr>
          <a:lstStyle/>
          <a:p>
            <a:pPr algn="l">
              <a:lnSpc>
                <a:spcPct val="100000"/>
              </a:lnSpc>
              <a:spcAft>
                <a:spcPts val="200"/>
              </a:spcAft>
            </a:pPr>
            <a:r>
              <a:rPr sz="1200" b="0" i="0">
                <a:solidFill>
                  <a:srgbClr val="222222"/>
                </a:solidFill>
                <a:latin typeface="Calibri"/>
              </a:rPr>
              <a:t>Final DNS response datagram to the client; live KPI dashboard (1 s timer tick).</a:t>
            </a:r>
          </a:p>
        </p:txBody>
      </p:sp>
      <p:cxnSp>
        <p:nvCxnSpPr>
          <p:cNvPr id="35" name="Divider 2"/>
          <p:cNvCxnSpPr/>
          <p:nvPr/>
        </p:nvCxnSpPr>
        <p:spPr>
          <a:xfrm>
            <a:off x="6309360" y="2446020"/>
            <a:ext cx="5120640" cy="0"/>
          </a:xfrm>
          <a:prstGeom prst="line">
            <a:avLst/>
          </a:prstGeom>
          <a:ln w="9525">
            <a:solidFill>
              <a:srgbClr val="D5DBE6"/>
            </a:solidFill>
          </a:ln>
        </p:spPr>
        <p:style>
          <a:lnRef idx="2">
            <a:schemeClr val="accent1"/>
          </a:lnRef>
          <a:fillRef idx="0">
            <a:schemeClr val="accent1"/>
          </a:fillRef>
          <a:effectRef idx="1">
            <a:schemeClr val="accent1"/>
          </a:effectRef>
          <a:fontRef idx="minor">
            <a:schemeClr val="tx1"/>
          </a:fontRef>
        </p:style>
      </p:cxnSp>
      <p:sp>
        <p:nvSpPr>
          <p:cNvPr id="36" name="Core Mechanism label"/>
          <p:cNvSpPr txBox="1"/>
          <p:nvPr/>
        </p:nvSpPr>
        <p:spPr>
          <a:xfrm>
            <a:off x="6309360" y="2519172"/>
            <a:ext cx="1325880" cy="274320"/>
          </a:xfrm>
          <a:prstGeom prst="rect">
            <a:avLst/>
          </a:prstGeom>
          <a:noFill/>
        </p:spPr>
        <p:txBody>
          <a:bodyPr wrap="square" lIns="0" tIns="0" rIns="0" bIns="0" anchor="t">
            <a:spAutoFit/>
          </a:bodyPr>
          <a:lstStyle/>
          <a:p>
            <a:pPr algn="l">
              <a:lnSpc>
                <a:spcPct val="100000"/>
              </a:lnSpc>
              <a:spcAft>
                <a:spcPts val="0"/>
              </a:spcAft>
            </a:pPr>
            <a:r>
              <a:rPr sz="1100" b="1" i="0">
                <a:solidFill>
                  <a:srgbClr val="B3282D"/>
                </a:solidFill>
                <a:latin typeface="Calibri"/>
              </a:rPr>
              <a:t>CORE MECHANISM</a:t>
            </a:r>
          </a:p>
        </p:txBody>
      </p:sp>
      <p:sp>
        <p:nvSpPr>
          <p:cNvPr id="37" name="Core Mechanism text"/>
          <p:cNvSpPr txBox="1"/>
          <p:nvPr/>
        </p:nvSpPr>
        <p:spPr>
          <a:xfrm>
            <a:off x="7635240" y="2519172"/>
            <a:ext cx="3840480" cy="697230"/>
          </a:xfrm>
          <a:prstGeom prst="rect">
            <a:avLst/>
          </a:prstGeom>
          <a:noFill/>
        </p:spPr>
        <p:txBody>
          <a:bodyPr wrap="square" lIns="0" tIns="0" rIns="0" bIns="0" anchor="t">
            <a:spAutoFit/>
          </a:bodyPr>
          <a:lstStyle/>
          <a:p>
            <a:pPr algn="l">
              <a:lnSpc>
                <a:spcPct val="100000"/>
              </a:lnSpc>
              <a:spcAft>
                <a:spcPts val="200"/>
              </a:spcAft>
            </a:pPr>
            <a:r>
              <a:rPr sz="1200" b="0" i="0">
                <a:solidFill>
                  <a:srgbClr val="222222"/>
                </a:solidFill>
                <a:latin typeface="Calibri"/>
              </a:rPr>
              <a:t>Pipeline state machine: FETCH → DECODE → LOOKUP → RESOLVE → COMMIT → EMIT, with worker pool dispatch and steady_clock telemetry.</a:t>
            </a:r>
          </a:p>
        </p:txBody>
      </p:sp>
      <p:cxnSp>
        <p:nvCxnSpPr>
          <p:cNvPr id="38" name="Divider 3"/>
          <p:cNvCxnSpPr/>
          <p:nvPr/>
        </p:nvCxnSpPr>
        <p:spPr>
          <a:xfrm>
            <a:off x="6309360" y="3234689"/>
            <a:ext cx="5120640" cy="0"/>
          </a:xfrm>
          <a:prstGeom prst="line">
            <a:avLst/>
          </a:prstGeom>
          <a:ln w="9525">
            <a:solidFill>
              <a:srgbClr val="D5DBE6"/>
            </a:solidFill>
          </a:ln>
        </p:spPr>
        <p:style>
          <a:lnRef idx="2">
            <a:schemeClr val="accent1"/>
          </a:lnRef>
          <a:fillRef idx="0">
            <a:schemeClr val="accent1"/>
          </a:fillRef>
          <a:effectRef idx="1">
            <a:schemeClr val="accent1"/>
          </a:effectRef>
          <a:fontRef idx="minor">
            <a:schemeClr val="tx1"/>
          </a:fontRef>
        </p:style>
      </p:cxnSp>
      <p:sp>
        <p:nvSpPr>
          <p:cNvPr id="39" name="If It Fails label"/>
          <p:cNvSpPr txBox="1"/>
          <p:nvPr/>
        </p:nvSpPr>
        <p:spPr>
          <a:xfrm>
            <a:off x="6309360" y="3307841"/>
            <a:ext cx="1325880" cy="274320"/>
          </a:xfrm>
          <a:prstGeom prst="rect">
            <a:avLst/>
          </a:prstGeom>
          <a:noFill/>
        </p:spPr>
        <p:txBody>
          <a:bodyPr wrap="square" lIns="0" tIns="0" rIns="0" bIns="0" anchor="t">
            <a:spAutoFit/>
          </a:bodyPr>
          <a:lstStyle/>
          <a:p>
            <a:pPr algn="l">
              <a:lnSpc>
                <a:spcPct val="100000"/>
              </a:lnSpc>
              <a:spcAft>
                <a:spcPts val="0"/>
              </a:spcAft>
            </a:pPr>
            <a:r>
              <a:rPr sz="1100" b="1" i="0">
                <a:solidFill>
                  <a:srgbClr val="B3282D"/>
                </a:solidFill>
                <a:latin typeface="Calibri"/>
              </a:rPr>
              <a:t>IF IT FAILS</a:t>
            </a:r>
          </a:p>
        </p:txBody>
      </p:sp>
      <p:sp>
        <p:nvSpPr>
          <p:cNvPr id="40" name="If It Fails text"/>
          <p:cNvSpPr txBox="1"/>
          <p:nvPr/>
        </p:nvSpPr>
        <p:spPr>
          <a:xfrm>
            <a:off x="7635240" y="3307841"/>
            <a:ext cx="3840480" cy="925830"/>
          </a:xfrm>
          <a:prstGeom prst="rect">
            <a:avLst/>
          </a:prstGeom>
          <a:noFill/>
        </p:spPr>
        <p:txBody>
          <a:bodyPr wrap="square" lIns="0" tIns="0" rIns="0" bIns="0" anchor="t">
            <a:spAutoFit/>
          </a:bodyPr>
          <a:lstStyle/>
          <a:p>
            <a:pPr algn="l">
              <a:lnSpc>
                <a:spcPct val="100000"/>
              </a:lnSpc>
              <a:spcAft>
                <a:spcPts val="200"/>
              </a:spcAft>
            </a:pPr>
            <a:r>
              <a:rPr sz="1200" b="0" i="0">
                <a:solidFill>
                  <a:srgbClr val="222222"/>
                </a:solidFill>
                <a:latin typeface="Calibri"/>
              </a:rPr>
              <a:t>• Port unavailable: report startup error (port 5353 only if explicitly configured)</a:t>
            </a:r>
          </a:p>
          <a:p>
            <a:pPr algn="l">
              <a:lnSpc>
                <a:spcPct val="100000"/>
              </a:lnSpc>
              <a:spcAft>
                <a:spcPts val="200"/>
              </a:spcAft>
            </a:pPr>
            <a:r>
              <a:rPr sz="1200" b="0" i="0">
                <a:solidFill>
                  <a:srgbClr val="222222"/>
                </a:solidFill>
                <a:latin typeface="Calibri"/>
              </a:rPr>
              <a:t>• Queue full: drop datagram</a:t>
            </a:r>
          </a:p>
          <a:p>
            <a:pPr algn="l">
              <a:lnSpc>
                <a:spcPct val="100000"/>
              </a:lnSpc>
              <a:spcAft>
                <a:spcPts val="200"/>
              </a:spcAft>
            </a:pPr>
            <a:r>
              <a:rPr sz="1200" b="0" i="0">
                <a:solidFill>
                  <a:srgbClr val="222222"/>
                </a:solidFill>
                <a:latin typeface="Calibri"/>
              </a:rPr>
              <a:t>• Deadline expired: return SERVFAIL (RCODE 2)</a:t>
            </a:r>
          </a:p>
        </p:txBody>
      </p:sp>
      <p:sp>
        <p:nvSpPr>
          <p:cNvPr id="41" name="Academic heading"/>
          <p:cNvSpPr txBox="1"/>
          <p:nvPr/>
        </p:nvSpPr>
        <p:spPr>
          <a:xfrm>
            <a:off x="548640" y="4480560"/>
            <a:ext cx="7315200" cy="256032"/>
          </a:xfrm>
          <a:prstGeom prst="rect">
            <a:avLst/>
          </a:prstGeom>
          <a:noFill/>
        </p:spPr>
        <p:txBody>
          <a:bodyPr wrap="square" lIns="0" tIns="0" rIns="0" bIns="0" anchor="t">
            <a:spAutoFit/>
          </a:bodyPr>
          <a:lstStyle/>
          <a:p>
            <a:pPr algn="l">
              <a:lnSpc>
                <a:spcPct val="100000"/>
              </a:lnSpc>
              <a:spcAft>
                <a:spcPts val="0"/>
              </a:spcAft>
            </a:pPr>
            <a:r>
              <a:rPr sz="1200" b="1" i="0">
                <a:solidFill>
                  <a:srgbClr val="1B2B4B"/>
                </a:solidFill>
                <a:latin typeface="Calibri"/>
              </a:rPr>
              <a:t>ACADEMIC FOCUS &amp; FOUNDATIONAL LINK  —  concepts we will use from each course</a:t>
            </a:r>
          </a:p>
        </p:txBody>
      </p:sp>
      <p:graphicFrame>
        <p:nvGraphicFramePr>
          <p:cNvPr id="42" name="Academic focus table"/>
          <p:cNvGraphicFramePr>
            <a:graphicFrameLocks noGrp="1"/>
          </p:cNvGraphicFramePr>
          <p:nvPr/>
        </p:nvGraphicFramePr>
        <p:xfrm>
          <a:off x="548640" y="4800600"/>
          <a:ext cx="11064240" cy="1371600"/>
        </p:xfrm>
        <a:graphic>
          <a:graphicData uri="http://schemas.openxmlformats.org/drawingml/2006/table">
            <a:tbl>
              <a:tblPr>
                <a:tableStyleId>{2D5ABB26-0587-4C30-8999-92F81FD0307C}</a:tableStyleId>
              </a:tblPr>
              <a:tblGrid>
                <a:gridCol w="2926080">
                  <a:extLst>
                    <a:ext uri="{9D8B030D-6E8A-4147-A177-3AD203B41FA5}">
                      <a16:colId xmlns:a16="http://schemas.microsoft.com/office/drawing/2014/main" val="20000"/>
                    </a:ext>
                  </a:extLst>
                </a:gridCol>
                <a:gridCol w="8138160">
                  <a:extLst>
                    <a:ext uri="{9D8B030D-6E8A-4147-A177-3AD203B41FA5}">
                      <a16:colId xmlns:a16="http://schemas.microsoft.com/office/drawing/2014/main" val="20001"/>
                    </a:ext>
                  </a:extLst>
                </a:gridCol>
              </a:tblGrid>
              <a:tr h="457200">
                <a:tc>
                  <a:txBody>
                    <a:bodyPr/>
                    <a:lstStyle/>
                    <a:p>
                      <a:r>
                        <a:rPr sz="1200" b="1" i="0">
                          <a:solidFill>
                            <a:srgbClr val="1B2B4B"/>
                          </a:solidFill>
                          <a:latin typeface="Calibri"/>
                        </a:rPr>
                        <a:t>Operating System Principles (Dominant)</a:t>
                      </a:r>
                    </a:p>
                  </a:txBody>
                  <a:tcPr marT="27432" marB="27432" anchor="ctr">
                    <a:solidFill>
                      <a:srgbClr val="F4F6F9"/>
                    </a:solidFill>
                  </a:tcPr>
                </a:tc>
                <a:tc>
                  <a:txBody>
                    <a:bodyPr/>
                    <a:lstStyle/>
                    <a:p>
                      <a:r>
                        <a:rPr sz="1200" b="0" i="0">
                          <a:solidFill>
                            <a:srgbClr val="222222"/>
                          </a:solidFill>
                          <a:latin typeface="Calibri"/>
                        </a:rPr>
                        <a:t>Thread-pool concurrency  ·  Pipeline VM state machine  ·  Non-blocking I/O  ·  steady_clock monotonic telemetry</a:t>
                      </a:r>
                    </a:p>
                  </a:txBody>
                  <a:tcPr marT="27432" marB="27432" anchor="ctr">
                    <a:solidFill>
                      <a:srgbClr val="FFFFFF"/>
                    </a:solidFill>
                  </a:tcPr>
                </a:tc>
                <a:extLst>
                  <a:ext uri="{0D108BD9-81ED-4DB2-BD59-A6C34878D82A}">
                    <a16:rowId xmlns:a16="http://schemas.microsoft.com/office/drawing/2014/main" val="10000"/>
                  </a:ext>
                </a:extLst>
              </a:tr>
              <a:tr h="457200">
                <a:tc>
                  <a:txBody>
                    <a:bodyPr/>
                    <a:lstStyle/>
                    <a:p>
                      <a:r>
                        <a:rPr sz="1200" b="1" i="0">
                          <a:solidFill>
                            <a:srgbClr val="1B2B4B"/>
                          </a:solidFill>
                          <a:latin typeface="Calibri"/>
                        </a:rPr>
                        <a:t>Computer Networks</a:t>
                      </a:r>
                    </a:p>
                  </a:txBody>
                  <a:tcPr marT="27432" marB="27432" anchor="ctr">
                    <a:solidFill>
                      <a:srgbClr val="F4F6F9"/>
                    </a:solidFill>
                  </a:tcPr>
                </a:tc>
                <a:tc>
                  <a:txBody>
                    <a:bodyPr/>
                    <a:lstStyle/>
                    <a:p>
                      <a:r>
                        <a:rPr sz="1200" b="0" i="0">
                          <a:solidFill>
                            <a:srgbClr val="222222"/>
                          </a:solidFill>
                          <a:latin typeface="Calibri"/>
                        </a:rPr>
                        <a:t>DNS response codes (NOERROR, NXDOMAIN, SERVFAIL, FORMERR)  ·  UDP port binding (port 53)</a:t>
                      </a:r>
                    </a:p>
                  </a:txBody>
                  <a:tcPr marT="27432" marB="27432" anchor="ctr">
                    <a:solidFill>
                      <a:srgbClr val="FFFFFF"/>
                    </a:solidFill>
                  </a:tcPr>
                </a:tc>
                <a:extLst>
                  <a:ext uri="{0D108BD9-81ED-4DB2-BD59-A6C34878D82A}">
                    <a16:rowId xmlns:a16="http://schemas.microsoft.com/office/drawing/2014/main" val="10001"/>
                  </a:ext>
                </a:extLst>
              </a:tr>
              <a:tr h="457200">
                <a:tc>
                  <a:txBody>
                    <a:bodyPr/>
                    <a:lstStyle/>
                    <a:p>
                      <a:r>
                        <a:rPr sz="1200" b="1" i="0">
                          <a:solidFill>
                            <a:srgbClr val="1B2B4B"/>
                          </a:solidFill>
                          <a:latin typeface="Calibri"/>
                        </a:rPr>
                        <a:t>Design &amp; Analysis of Algorithms</a:t>
                      </a:r>
                    </a:p>
                  </a:txBody>
                  <a:tcPr marT="27432" marB="27432" anchor="ctr">
                    <a:solidFill>
                      <a:srgbClr val="F4F6F9"/>
                    </a:solidFill>
                  </a:tcPr>
                </a:tc>
                <a:tc>
                  <a:txBody>
                    <a:bodyPr/>
                    <a:lstStyle/>
                    <a:p>
                      <a:r>
                        <a:rPr sz="1200" b="0" i="0">
                          <a:solidFill>
                            <a:srgbClr val="222222"/>
                          </a:solidFill>
                          <a:latin typeface="Calibri"/>
                        </a:rPr>
                        <a:t>Telemetry metric aggregation  ·  Latency distribution evaluation</a:t>
                      </a:r>
                    </a:p>
                  </a:txBody>
                  <a:tcPr marT="27432" marB="27432" anchor="ctr">
                    <a:solidFill>
                      <a:srgbClr val="FFFFFF"/>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3"/>
          </p:nvPr>
        </p:nvSpPr>
        <p:spPr/>
        <p:txBody>
          <a:bodyPr lIns="0"/>
          <a:lstStyle/>
          <a:p>
            <a:r>
              <a:t>KPI and Measurement Sheet</a:t>
            </a:r>
          </a:p>
        </p:txBody>
      </p:sp>
      <p:sp>
        <p:nvSpPr>
          <p:cNvPr id="3" name="Section tag"/>
          <p:cNvSpPr txBox="1"/>
          <p:nvPr/>
        </p:nvSpPr>
        <p:spPr>
          <a:xfrm>
            <a:off x="548640" y="91440"/>
            <a:ext cx="8778240" cy="201168"/>
          </a:xfrm>
          <a:prstGeom prst="rect">
            <a:avLst/>
          </a:prstGeom>
          <a:noFill/>
        </p:spPr>
        <p:txBody>
          <a:bodyPr wrap="square" lIns="0" tIns="0" rIns="0" bIns="0" anchor="t">
            <a:spAutoFit/>
          </a:bodyPr>
          <a:lstStyle/>
          <a:p>
            <a:pPr algn="l">
              <a:lnSpc>
                <a:spcPct val="100000"/>
              </a:lnSpc>
              <a:spcAft>
                <a:spcPts val="0"/>
              </a:spcAft>
            </a:pPr>
            <a:r>
              <a:rPr sz="1000" b="1" i="0">
                <a:solidFill>
                  <a:srgbClr val="B3282D"/>
                </a:solidFill>
                <a:latin typeface="Calibri"/>
              </a:rPr>
              <a:t>C · CLUSTERING, ENGINES AND OWNERSHIP</a:t>
            </a:r>
          </a:p>
        </p:txBody>
      </p:sp>
      <p:sp>
        <p:nvSpPr>
          <p:cNvPr id="4" name="Subtitle"/>
          <p:cNvSpPr txBox="1"/>
          <p:nvPr/>
        </p:nvSpPr>
        <p:spPr>
          <a:xfrm>
            <a:off x="548640" y="932688"/>
            <a:ext cx="10515600" cy="320040"/>
          </a:xfrm>
          <a:prstGeom prst="rect">
            <a:avLst/>
          </a:prstGeom>
          <a:noFill/>
        </p:spPr>
        <p:txBody>
          <a:bodyPr wrap="square" lIns="0" tIns="0" rIns="0" bIns="0" anchor="t">
            <a:spAutoFit/>
          </a:bodyPr>
          <a:lstStyle/>
          <a:p>
            <a:pPr algn="l">
              <a:lnSpc>
                <a:spcPct val="100000"/>
              </a:lnSpc>
              <a:spcAft>
                <a:spcPts val="0"/>
              </a:spcAft>
            </a:pPr>
            <a:r>
              <a:rPr sz="1300" b="1" i="0">
                <a:solidFill>
                  <a:srgbClr val="1F4E9E"/>
                </a:solidFill>
                <a:latin typeface="Calibri"/>
              </a:rPr>
              <a:t>Targets and planned verification methods per engine; results to be reported after testing</a:t>
            </a:r>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475"/>
                </a:solidFill>
                <a:latin typeface="Calibri"/>
                <a:ea typeface="Calibri"/>
                <a:cs typeface="Calibri"/>
              </a:defRPr>
            </a:lvl1pPr>
          </a:lstStyle>
          <a:p>
            <a:pPr algn="r"/>
            <a:fld id="{F7021451-1387-4CA6-816F-3879F97B5CBC}" type="slidenum">
              <a:rPr lang="en-US" b="0"/>
              <a:t>13</a:t>
            </a:fld>
            <a:endParaRPr lang="en-US"/>
          </a:p>
        </p:txBody>
      </p:sp>
      <p:graphicFrame>
        <p:nvGraphicFramePr>
          <p:cNvPr id="26" name="KPI table"/>
          <p:cNvGraphicFramePr>
            <a:graphicFrameLocks noGrp="1"/>
          </p:cNvGraphicFramePr>
          <p:nvPr>
            <p:extLst>
              <p:ext uri="{D42A27DB-BD31-4B8C-83A1-F6EECF244321}">
                <p14:modId xmlns:p14="http://schemas.microsoft.com/office/powerpoint/2010/main" val="385649827"/>
              </p:ext>
            </p:extLst>
          </p:nvPr>
        </p:nvGraphicFramePr>
        <p:xfrm>
          <a:off x="548640" y="1371600"/>
          <a:ext cx="11155680" cy="4736592"/>
        </p:xfrm>
        <a:graphic>
          <a:graphicData uri="http://schemas.openxmlformats.org/drawingml/2006/table">
            <a:tbl>
              <a:tblPr>
                <a:tableStyleId>{2D5ABB26-0587-4C30-8999-92F81FD0307C}</a:tableStyleId>
              </a:tblPr>
              <a:tblGrid>
                <a:gridCol w="210312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2468880">
                  <a:extLst>
                    <a:ext uri="{9D8B030D-6E8A-4147-A177-3AD203B41FA5}">
                      <a16:colId xmlns:a16="http://schemas.microsoft.com/office/drawing/2014/main" val="20003"/>
                    </a:ext>
                  </a:extLst>
                </a:gridCol>
                <a:gridCol w="3108960">
                  <a:extLst>
                    <a:ext uri="{9D8B030D-6E8A-4147-A177-3AD203B41FA5}">
                      <a16:colId xmlns:a16="http://schemas.microsoft.com/office/drawing/2014/main" val="20004"/>
                    </a:ext>
                  </a:extLst>
                </a:gridCol>
              </a:tblGrid>
              <a:tr h="384048">
                <a:tc>
                  <a:txBody>
                    <a:bodyPr/>
                    <a:lstStyle/>
                    <a:p>
                      <a:r>
                        <a:rPr sz="1200" b="1" i="0">
                          <a:solidFill>
                            <a:srgbClr val="FFFFFF"/>
                          </a:solidFill>
                          <a:latin typeface="Calibri"/>
                        </a:rPr>
                        <a:t>KPI Name</a:t>
                      </a:r>
                    </a:p>
                  </a:txBody>
                  <a:tcPr anchor="ctr">
                    <a:lnL w="0">
                      <a:noFill/>
                    </a:lnL>
                    <a:lnR w="0">
                      <a:noFill/>
                    </a:lnR>
                    <a:lnT w="0">
                      <a:noFill/>
                    </a:lnT>
                    <a:lnB w="6350">
                      <a:solidFill>
                        <a:srgbClr val="D5DBE6"/>
                      </a:solidFill>
                    </a:lnB>
                    <a:solidFill>
                      <a:srgbClr val="1B2B4B"/>
                    </a:solidFill>
                  </a:tcPr>
                </a:tc>
                <a:tc>
                  <a:txBody>
                    <a:bodyPr/>
                    <a:lstStyle/>
                    <a:p>
                      <a:r>
                        <a:rPr sz="1200" b="1" i="0">
                          <a:solidFill>
                            <a:srgbClr val="FFFFFF"/>
                          </a:solidFill>
                          <a:latin typeface="Calibri"/>
                        </a:rPr>
                        <a:t>Type</a:t>
                      </a:r>
                    </a:p>
                  </a:txBody>
                  <a:tcPr anchor="ctr">
                    <a:lnL w="0">
                      <a:noFill/>
                    </a:lnL>
                    <a:lnR w="0">
                      <a:noFill/>
                    </a:lnR>
                    <a:lnT w="0">
                      <a:noFill/>
                    </a:lnT>
                    <a:lnB w="6350">
                      <a:solidFill>
                        <a:srgbClr val="D5DBE6"/>
                      </a:solidFill>
                    </a:lnB>
                    <a:solidFill>
                      <a:srgbClr val="1B2B4B"/>
                    </a:solidFill>
                  </a:tcPr>
                </a:tc>
                <a:tc>
                  <a:txBody>
                    <a:bodyPr/>
                    <a:lstStyle/>
                    <a:p>
                      <a:r>
                        <a:rPr sz="1200" b="1" i="0">
                          <a:solidFill>
                            <a:srgbClr val="FFFFFF"/>
                          </a:solidFill>
                          <a:latin typeface="Calibri"/>
                        </a:rPr>
                        <a:t>Owning Engine &amp; Owner</a:t>
                      </a:r>
                    </a:p>
                  </a:txBody>
                  <a:tcPr anchor="ctr">
                    <a:lnL w="0">
                      <a:noFill/>
                    </a:lnL>
                    <a:lnR w="0">
                      <a:noFill/>
                    </a:lnR>
                    <a:lnT w="0">
                      <a:noFill/>
                    </a:lnT>
                    <a:lnB w="6350">
                      <a:solidFill>
                        <a:srgbClr val="D5DBE6"/>
                      </a:solidFill>
                    </a:lnB>
                    <a:solidFill>
                      <a:srgbClr val="1B2B4B"/>
                    </a:solidFill>
                  </a:tcPr>
                </a:tc>
                <a:tc>
                  <a:txBody>
                    <a:bodyPr/>
                    <a:lstStyle/>
                    <a:p>
                      <a:r>
                        <a:rPr sz="1200" b="1" i="0">
                          <a:solidFill>
                            <a:srgbClr val="FFFFFF"/>
                          </a:solidFill>
                          <a:latin typeface="Calibri"/>
                        </a:rPr>
                        <a:t>Workload / Test Scenario</a:t>
                      </a:r>
                    </a:p>
                  </a:txBody>
                  <a:tcPr anchor="ctr">
                    <a:lnL w="0">
                      <a:noFill/>
                    </a:lnL>
                    <a:lnR w="0">
                      <a:noFill/>
                    </a:lnR>
                    <a:lnT w="0">
                      <a:noFill/>
                    </a:lnT>
                    <a:lnB w="6350">
                      <a:solidFill>
                        <a:srgbClr val="D5DBE6"/>
                      </a:solidFill>
                    </a:lnB>
                    <a:solidFill>
                      <a:srgbClr val="1B2B4B"/>
                    </a:solidFill>
                  </a:tcPr>
                </a:tc>
                <a:tc>
                  <a:txBody>
                    <a:bodyPr/>
                    <a:lstStyle/>
                    <a:p>
                      <a:r>
                        <a:rPr sz="1200" b="1" i="0">
                          <a:solidFill>
                            <a:srgbClr val="FFFFFF"/>
                          </a:solidFill>
                          <a:latin typeface="Calibri"/>
                        </a:rPr>
                        <a:t>Target &amp; Verification Method</a:t>
                      </a:r>
                    </a:p>
                  </a:txBody>
                  <a:tcPr anchor="ctr">
                    <a:lnL w="0">
                      <a:noFill/>
                    </a:lnL>
                    <a:lnR w="0">
                      <a:noFill/>
                    </a:lnR>
                    <a:lnT w="0">
                      <a:noFill/>
                    </a:lnT>
                    <a:lnB w="6350">
                      <a:solidFill>
                        <a:srgbClr val="D5DBE6"/>
                      </a:solidFill>
                    </a:lnB>
                    <a:solidFill>
                      <a:srgbClr val="1B2B4B"/>
                    </a:solidFill>
                  </a:tcPr>
                </a:tc>
                <a:extLst>
                  <a:ext uri="{0D108BD9-81ED-4DB2-BD59-A6C34878D82A}">
                    <a16:rowId xmlns:a16="http://schemas.microsoft.com/office/drawing/2014/main" val="10000"/>
                  </a:ext>
                </a:extLst>
              </a:tr>
              <a:tr h="713232">
                <a:tc>
                  <a:txBody>
                    <a:bodyPr/>
                    <a:lstStyle/>
                    <a:p>
                      <a:r>
                        <a:rPr sz="1200" b="1" i="0">
                          <a:solidFill>
                            <a:srgbClr val="1B2B4B"/>
                          </a:solidFill>
                          <a:latin typeface="Calibri"/>
                        </a:rPr>
                        <a:t>Wire Parsing Latency &amp; Interoperability</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tc>
                  <a:txBody>
                    <a:bodyPr/>
                    <a:lstStyle/>
                    <a:p>
                      <a:r>
                        <a:rPr sz="1200" b="1" i="0">
                          <a:solidFill>
                            <a:srgbClr val="1B2B4B"/>
                          </a:solidFill>
                          <a:latin typeface="Calibri"/>
                        </a:rPr>
                        <a:t>Mandatory</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tc>
                  <a:txBody>
                    <a:bodyPr/>
                    <a:lstStyle/>
                    <a:p>
                      <a:r>
                        <a:rPr sz="1200" b="0" i="0">
                          <a:solidFill>
                            <a:srgbClr val="222222"/>
                          </a:solidFill>
                          <a:latin typeface="Calibri"/>
                        </a:rPr>
                        <a:t>E1: Vageesh Mathad</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tc>
                  <a:txBody>
                    <a:bodyPr/>
                    <a:lstStyle/>
                    <a:p>
                      <a:r>
                        <a:rPr sz="1200" b="0" i="0">
                          <a:solidFill>
                            <a:srgbClr val="222222"/>
                          </a:solidFill>
                          <a:latin typeface="Calibri"/>
                        </a:rPr>
                        <a:t>Sub-12B, 512B and cyclic-pointer datagrams; dig and nslookup queries.</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tc>
                  <a:txBody>
                    <a:bodyPr/>
                    <a:lstStyle/>
                    <a:p>
                      <a:r>
                        <a:rPr sz="1200" b="0" i="0">
                          <a:solidFill>
                            <a:srgbClr val="222222"/>
                          </a:solidFill>
                          <a:latin typeface="Calibri"/>
                        </a:rPr>
                        <a:t>Targets: parsing &lt; 20 µs; no crash on malformed packets; 100% interoperability with dig and nslookup.</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extLst>
                  <a:ext uri="{0D108BD9-81ED-4DB2-BD59-A6C34878D82A}">
                    <a16:rowId xmlns:a16="http://schemas.microsoft.com/office/drawing/2014/main" val="10001"/>
                  </a:ext>
                </a:extLst>
              </a:tr>
              <a:tr h="713232">
                <a:tc>
                  <a:txBody>
                    <a:bodyPr/>
                    <a:lstStyle/>
                    <a:p>
                      <a:r>
                        <a:rPr sz="1200" b="1" i="0">
                          <a:solidFill>
                            <a:srgbClr val="1B2B4B"/>
                          </a:solidFill>
                          <a:latin typeface="Calibri"/>
                        </a:rPr>
                        <a:t>Cache-Hit Latency &amp; Memory Ceiling</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4F6F9"/>
                    </a:solidFill>
                  </a:tcPr>
                </a:tc>
                <a:tc>
                  <a:txBody>
                    <a:bodyPr/>
                    <a:lstStyle/>
                    <a:p>
                      <a:r>
                        <a:rPr sz="1200" b="1" i="0">
                          <a:solidFill>
                            <a:srgbClr val="1B2B4B"/>
                          </a:solidFill>
                          <a:latin typeface="Calibri"/>
                        </a:rPr>
                        <a:t>Mandatory</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4F6F9"/>
                    </a:solidFill>
                  </a:tcPr>
                </a:tc>
                <a:tc>
                  <a:txBody>
                    <a:bodyPr/>
                    <a:lstStyle/>
                    <a:p>
                      <a:r>
                        <a:rPr sz="1200" b="0" i="0">
                          <a:solidFill>
                            <a:srgbClr val="222222"/>
                          </a:solidFill>
                          <a:latin typeface="Calibri"/>
                        </a:rPr>
                        <a:t>E2: Mehak Sayed Yusuf</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4F6F9"/>
                    </a:solidFill>
                  </a:tcPr>
                </a:tc>
                <a:tc>
                  <a:txBody>
                    <a:bodyPr/>
                    <a:lstStyle/>
                    <a:p>
                      <a:r>
                        <a:rPr sz="1200" b="0" i="0">
                          <a:solidFill>
                            <a:srgbClr val="222222"/>
                          </a:solidFill>
                          <a:latin typeface="Calibri"/>
                        </a:rPr>
                        <a:t>1,000 identical queries (mean, p99); cache filled to 10,000 entries.</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4F6F9"/>
                    </a:solidFill>
                  </a:tcPr>
                </a:tc>
                <a:tc>
                  <a:txBody>
                    <a:bodyPr/>
                    <a:lstStyle/>
                    <a:p>
                      <a:r>
                        <a:rPr sz="1200" b="0" i="0">
                          <a:solidFill>
                            <a:srgbClr val="222222"/>
                          </a:solidFill>
                          <a:latin typeface="Calibri"/>
                        </a:rPr>
                        <a:t>Targets: mean hit latency &lt; 1.0 ms; lookup &lt; 5 µs; resident set ≤ 30 MB.</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4F6F9"/>
                    </a:solidFill>
                  </a:tcPr>
                </a:tc>
                <a:extLst>
                  <a:ext uri="{0D108BD9-81ED-4DB2-BD59-A6C34878D82A}">
                    <a16:rowId xmlns:a16="http://schemas.microsoft.com/office/drawing/2014/main" val="10002"/>
                  </a:ext>
                </a:extLst>
              </a:tr>
              <a:tr h="713232">
                <a:tc>
                  <a:txBody>
                    <a:bodyPr/>
                    <a:lstStyle/>
                    <a:p>
                      <a:r>
                        <a:rPr sz="1200" b="1" i="0">
                          <a:solidFill>
                            <a:srgbClr val="1B2B4B"/>
                          </a:solidFill>
                          <a:latin typeface="Calibri"/>
                        </a:rPr>
                        <a:t>Thread Safety &amp; Snapshot Durability</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tc>
                  <a:txBody>
                    <a:bodyPr/>
                    <a:lstStyle/>
                    <a:p>
                      <a:r>
                        <a:rPr sz="1200" b="1" i="0" dirty="0">
                          <a:solidFill>
                            <a:srgbClr val="1B2B4B"/>
                          </a:solidFill>
                          <a:latin typeface="Calibri"/>
                        </a:rPr>
                        <a:t>Mandatory (NFR-05</a:t>
                      </a:r>
                      <a:r>
                        <a:rPr lang="en-IN" sz="1200" b="1" i="0">
                          <a:solidFill>
                            <a:srgbClr val="1B2B4B"/>
                          </a:solidFill>
                          <a:latin typeface="Calibri"/>
                        </a:rPr>
                        <a:t>, </a:t>
                      </a:r>
                    </a:p>
                    <a:p>
                      <a:r>
                        <a:rPr sz="1200" b="1" i="0">
                          <a:solidFill>
                            <a:srgbClr val="1B2B4B"/>
                          </a:solidFill>
                          <a:latin typeface="Calibri"/>
                        </a:rPr>
                        <a:t>NFR-07</a:t>
                      </a:r>
                      <a:r>
                        <a:rPr sz="1200" b="1" i="0" dirty="0">
                          <a:solidFill>
                            <a:srgbClr val="1B2B4B"/>
                          </a:solidFill>
                          <a:latin typeface="Calibri"/>
                        </a:rPr>
                        <a:t>)</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tc>
                  <a:txBody>
                    <a:bodyPr/>
                    <a:lstStyle/>
                    <a:p>
                      <a:r>
                        <a:rPr sz="1200" b="0" i="0">
                          <a:solidFill>
                            <a:srgbClr val="222222"/>
                          </a:solidFill>
                          <a:latin typeface="Calibri"/>
                        </a:rPr>
                        <a:t>E2: Mehak Sayed Yusuf</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tc>
                  <a:txBody>
                    <a:bodyPr/>
                    <a:lstStyle/>
                    <a:p>
                      <a:r>
                        <a:rPr sz="1200" b="0" i="0">
                          <a:solidFill>
                            <a:srgbClr val="222222"/>
                          </a:solidFill>
                          <a:latin typeface="Calibri"/>
                        </a:rPr>
                        <a:t>100 reader and 10 writer threads under ThreadSanitizer; dump and restore of 10,000 records.</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tc>
                  <a:txBody>
                    <a:bodyPr/>
                    <a:lstStyle/>
                    <a:p>
                      <a:r>
                        <a:rPr sz="1200" b="0" i="0">
                          <a:solidFill>
                            <a:srgbClr val="222222"/>
                          </a:solidFill>
                          <a:latin typeface="Calibri"/>
                        </a:rPr>
                        <a:t>Targets: 0 race conditions; snapshot dump/load &lt; 100 ms.</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extLst>
                  <a:ext uri="{0D108BD9-81ED-4DB2-BD59-A6C34878D82A}">
                    <a16:rowId xmlns:a16="http://schemas.microsoft.com/office/drawing/2014/main" val="10003"/>
                  </a:ext>
                </a:extLst>
              </a:tr>
              <a:tr h="713232">
                <a:tc>
                  <a:txBody>
                    <a:bodyPr/>
                    <a:lstStyle/>
                    <a:p>
                      <a:r>
                        <a:rPr sz="1200" b="1" i="0">
                          <a:solidFill>
                            <a:srgbClr val="1B2B4B"/>
                          </a:solidFill>
                          <a:latin typeface="Calibri"/>
                        </a:rPr>
                        <a:t>Upstream Deadline &amp; Socket Leaks</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4F6F9"/>
                    </a:solidFill>
                  </a:tcPr>
                </a:tc>
                <a:tc>
                  <a:txBody>
                    <a:bodyPr/>
                    <a:lstStyle/>
                    <a:p>
                      <a:r>
                        <a:rPr sz="1200" b="1" i="0">
                          <a:solidFill>
                            <a:srgbClr val="1B2B4B"/>
                          </a:solidFill>
                          <a:latin typeface="Calibri"/>
                        </a:rPr>
                        <a:t>Mandatory</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4F6F9"/>
                    </a:solidFill>
                  </a:tcPr>
                </a:tc>
                <a:tc>
                  <a:txBody>
                    <a:bodyPr/>
                    <a:lstStyle/>
                    <a:p>
                      <a:r>
                        <a:rPr sz="1200" b="0" i="0">
                          <a:solidFill>
                            <a:srgbClr val="222222"/>
                          </a:solidFill>
                          <a:latin typeface="Calibri"/>
                        </a:rPr>
                        <a:t>E3: Ishani G</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4F6F9"/>
                    </a:solidFill>
                  </a:tcPr>
                </a:tc>
                <a:tc>
                  <a:txBody>
                    <a:bodyPr/>
                    <a:lstStyle/>
                    <a:p>
                      <a:r>
                        <a:rPr sz="1200" b="0" i="0">
                          <a:solidFill>
                            <a:srgbClr val="222222"/>
                          </a:solidFill>
                          <a:latin typeface="Calibri"/>
                        </a:rPr>
                        <a:t>Unresponsive primary upstream; simulated packet loss.</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4F6F9"/>
                    </a:solidFill>
                  </a:tcPr>
                </a:tc>
                <a:tc>
                  <a:txBody>
                    <a:bodyPr/>
                    <a:lstStyle/>
                    <a:p>
                      <a:r>
                        <a:rPr sz="1200" b="0" i="0">
                          <a:solidFill>
                            <a:srgbClr val="222222"/>
                          </a:solidFill>
                          <a:latin typeface="Calibri"/>
                        </a:rPr>
                        <a:t>Targets: response or SERVFAIL within 2.0 s; 0 leaked sockets; 100% transaction ID verification.</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4F6F9"/>
                    </a:solidFill>
                  </a:tcPr>
                </a:tc>
                <a:extLst>
                  <a:ext uri="{0D108BD9-81ED-4DB2-BD59-A6C34878D82A}">
                    <a16:rowId xmlns:a16="http://schemas.microsoft.com/office/drawing/2014/main" val="10004"/>
                  </a:ext>
                </a:extLst>
              </a:tr>
              <a:tr h="713232">
                <a:tc>
                  <a:txBody>
                    <a:bodyPr/>
                    <a:lstStyle/>
                    <a:p>
                      <a:r>
                        <a:rPr sz="1200" b="1" i="0">
                          <a:solidFill>
                            <a:srgbClr val="1B2B4B"/>
                          </a:solidFill>
                          <a:latin typeface="Calibri"/>
                        </a:rPr>
                        <a:t>Sustained Throughput Under Load</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tc>
                  <a:txBody>
                    <a:bodyPr/>
                    <a:lstStyle/>
                    <a:p>
                      <a:r>
                        <a:rPr sz="1200" b="1" i="0">
                          <a:solidFill>
                            <a:srgbClr val="B3282D"/>
                          </a:solidFill>
                          <a:latin typeface="Calibri"/>
                        </a:rPr>
                        <a:t>Challenge</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tc>
                  <a:txBody>
                    <a:bodyPr/>
                    <a:lstStyle/>
                    <a:p>
                      <a:r>
                        <a:rPr sz="1200" b="0" i="0">
                          <a:solidFill>
                            <a:srgbClr val="222222"/>
                          </a:solidFill>
                          <a:latin typeface="Calibri"/>
                        </a:rPr>
                        <a:t>E4: Joel Biju</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tc>
                  <a:txBody>
                    <a:bodyPr/>
                    <a:lstStyle/>
                    <a:p>
                      <a:r>
                        <a:rPr sz="1200" b="0" i="0">
                          <a:solidFill>
                            <a:srgbClr val="222222"/>
                          </a:solidFill>
                          <a:latin typeface="Calibri"/>
                        </a:rPr>
                        <a:t>Load test dispatching 1,000 requests/sec.</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tc>
                  <a:txBody>
                    <a:bodyPr/>
                    <a:lstStyle/>
                    <a:p>
                      <a:r>
                        <a:rPr sz="1200" b="0" i="0">
                          <a:solidFill>
                            <a:srgbClr val="222222"/>
                          </a:solidFill>
                          <a:latin typeface="Calibri"/>
                        </a:rPr>
                        <a:t>Targets: ≥ 1,000 QPS with 0% packet drop.</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extLst>
                  <a:ext uri="{0D108BD9-81ED-4DB2-BD59-A6C34878D82A}">
                    <a16:rowId xmlns:a16="http://schemas.microsoft.com/office/drawing/2014/main" val="10005"/>
                  </a:ext>
                </a:extLst>
              </a:tr>
              <a:tr h="713232">
                <a:tc>
                  <a:txBody>
                    <a:bodyPr/>
                    <a:lstStyle/>
                    <a:p>
                      <a:r>
                        <a:rPr sz="1200" b="1" i="0">
                          <a:solidFill>
                            <a:srgbClr val="1B2B4B"/>
                          </a:solidFill>
                          <a:latin typeface="Calibri"/>
                        </a:rPr>
                        <a:t>Telemetry &amp; Condition Accuracy</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tc>
                  <a:txBody>
                    <a:bodyPr/>
                    <a:lstStyle/>
                    <a:p>
                      <a:r>
                        <a:rPr sz="1200" b="1" i="0">
                          <a:solidFill>
                            <a:srgbClr val="1B2B4B"/>
                          </a:solidFill>
                          <a:latin typeface="Calibri"/>
                        </a:rPr>
                        <a:t>Mandatory (FR-08) / Challenge (FR-09)</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tc>
                  <a:txBody>
                    <a:bodyPr/>
                    <a:lstStyle/>
                    <a:p>
                      <a:r>
                        <a:rPr sz="1200" b="0" i="0">
                          <a:solidFill>
                            <a:srgbClr val="222222"/>
                          </a:solidFill>
                          <a:latin typeface="Calibri"/>
                        </a:rPr>
                        <a:t>E4: Joel Biju</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tc>
                  <a:txBody>
                    <a:bodyPr/>
                    <a:lstStyle/>
                    <a:p>
                      <a:r>
                        <a:rPr sz="1200" b="0" i="0">
                          <a:solidFill>
                            <a:srgbClr val="222222"/>
                          </a:solidFill>
                          <a:latin typeface="Calibri"/>
                        </a:rPr>
                        <a:t>100 benchmark queries; NXDOMAIN, SERVFAIL and FORMERR test cases.</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tc>
                  <a:txBody>
                    <a:bodyPr/>
                    <a:lstStyle/>
                    <a:p>
                      <a:r>
                        <a:rPr sz="1200" b="0" i="0" dirty="0">
                          <a:solidFill>
                            <a:srgbClr val="222222"/>
                          </a:solidFill>
                          <a:latin typeface="Calibri"/>
                        </a:rPr>
                        <a:t>Targets: correct RCODEs (3, 2, 1); telemetry matches recorded traffic.</a:t>
                      </a:r>
                    </a:p>
                  </a:txBody>
                  <a:tcPr anchor="ctr">
                    <a:lnL w="0">
                      <a:noFill/>
                    </a:lnL>
                    <a:lnR w="0">
                      <a:noFill/>
                    </a:lnR>
                    <a:lnT w="6350" cap="flat" cmpd="sng" algn="ctr">
                      <a:solidFill>
                        <a:srgbClr val="D5DBE6"/>
                      </a:solidFill>
                      <a:prstDash val="solid"/>
                      <a:round/>
                      <a:headEnd type="none" w="med" len="med"/>
                      <a:tailEnd type="none" w="med" len="med"/>
                    </a:lnT>
                    <a:lnB w="6350">
                      <a:solidFill>
                        <a:srgbClr val="D5DBE6"/>
                      </a:solidFill>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5D76F-524D-367E-C806-7C6CA600743A}"/>
            </a:ext>
          </a:extLst>
        </p:cNvPr>
        <p:cNvGrpSpPr/>
        <p:nvPr/>
      </p:nvGrpSpPr>
      <p:grpSpPr>
        <a:xfrm>
          <a:off x="0" y="0"/>
          <a:ext cx="0" cy="0"/>
          <a:chOff x="0" y="0"/>
          <a:chExt cx="0" cy="0"/>
        </a:xfrm>
      </p:grpSpPr>
      <p:sp>
        <p:nvSpPr>
          <p:cNvPr id="13" name="Text 0">
            <a:extLst>
              <a:ext uri="{FF2B5EF4-FFF2-40B4-BE49-F238E27FC236}">
                <a16:creationId xmlns:a16="http://schemas.microsoft.com/office/drawing/2014/main" id="{C1A6E302-C5B4-A8AC-3104-2A0B74BE613A}"/>
              </a:ext>
            </a:extLst>
          </p:cNvPr>
          <p:cNvSpPr txBox="1"/>
          <p:nvPr/>
        </p:nvSpPr>
        <p:spPr>
          <a:xfrm>
            <a:off x="1706880" y="3031285"/>
            <a:ext cx="8778240" cy="201168"/>
          </a:xfrm>
          <a:prstGeom prst="rect">
            <a:avLst/>
          </a:prstGeom>
          <a:noFill/>
          <a:ln/>
        </p:spPr>
        <p:txBody>
          <a:bodyPr wrap="square" lIns="0" tIns="0" rIns="0" bIns="0" rtlCol="0" anchor="ctr"/>
          <a:lstStyle/>
          <a:p>
            <a:pPr marL="0" indent="0" algn="ctr">
              <a:lnSpc>
                <a:spcPct val="100000"/>
              </a:lnSpc>
              <a:spcBef>
                <a:spcPts val="0"/>
              </a:spcBef>
              <a:spcAft>
                <a:spcPts val="0"/>
              </a:spcAft>
              <a:buNone/>
            </a:pPr>
            <a:r>
              <a:rPr sz="4400" b="1">
                <a:solidFill>
                  <a:srgbClr val="1B2B4B"/>
                </a:solidFill>
                <a:latin typeface="Cambria"/>
              </a:rPr>
              <a:t>THANK YOU</a:t>
            </a:r>
          </a:p>
          <a:p>
            <a:pPr algn="ctr">
              <a:lnSpc>
                <a:spcPct val="100000"/>
              </a:lnSpc>
              <a:spcBef>
                <a:spcPts val="1200"/>
              </a:spcBef>
              <a:spcAft>
                <a:spcPts val="0"/>
              </a:spcAft>
            </a:pPr>
            <a:r>
              <a:rPr sz="1800" b="1">
                <a:solidFill>
                  <a:srgbClr val="1F4E9E"/>
                </a:solidFill>
                <a:latin typeface="Calibri"/>
              </a:rPr>
              <a:t>DNS Resolver and Caching Server — Stage S1: Requirements and Engines</a:t>
            </a:r>
          </a:p>
          <a:p>
            <a:pPr algn="ctr">
              <a:lnSpc>
                <a:spcPct val="100000"/>
              </a:lnSpc>
              <a:spcBef>
                <a:spcPts val="800"/>
              </a:spcBef>
              <a:spcAft>
                <a:spcPts val="0"/>
              </a:spcAft>
            </a:pPr>
            <a:r>
              <a:rPr sz="1400" b="0">
                <a:solidFill>
                  <a:srgbClr val="555555"/>
                </a:solidFill>
                <a:latin typeface="Calibri"/>
              </a:rPr>
              <a:t>Team 11   |   Theme 4: Network Systems and Tools   |   Guide: Mr. Pavankumar S</a:t>
            </a:r>
          </a:p>
        </p:txBody>
      </p:sp>
    </p:spTree>
    <p:extLst>
      <p:ext uri="{BB962C8B-B14F-4D97-AF65-F5344CB8AC3E}">
        <p14:creationId xmlns:p14="http://schemas.microsoft.com/office/powerpoint/2010/main" val="78943954"/>
      </p:ext>
    </p:extLst>
  </p:cSld>
  <p:clrMapOvr>
    <a:masterClrMapping/>
  </p:clrMapOvr>
</p:sld>
</file>

<file path=ppt/theme/theme1.xml><?xml version="1.0" encoding="utf-8"?>
<a:theme xmlns:a="http://schemas.openxmlformats.org/drawingml/2006/main" name="DNS S1">
  <a:themeElements>
    <a:clrScheme name="DNS S1">
      <a:dk1>
        <a:srgbClr val="1F2937"/>
      </a:dk1>
      <a:lt1>
        <a:srgbClr val="FFFFFF"/>
      </a:lt1>
      <a:dk2>
        <a:srgbClr val="1B2B4B"/>
      </a:dk2>
      <a:lt2>
        <a:srgbClr val="F3F5F9"/>
      </a:lt2>
      <a:accent1>
        <a:srgbClr val="1B2B4B"/>
      </a:accent1>
      <a:accent2>
        <a:srgbClr val="B3282D"/>
      </a:accent2>
      <a:accent3>
        <a:srgbClr val="0F7C80"/>
      </a:accent3>
      <a:accent4>
        <a:srgbClr val="B7791F"/>
      </a:accent4>
      <a:accent5>
        <a:srgbClr val="5B6475"/>
      </a:accent5>
      <a:accent6>
        <a:srgbClr val="D5DBE6"/>
      </a:accent6>
      <a:hlink>
        <a:srgbClr val="0F7C80"/>
      </a:hlink>
      <a:folHlink>
        <a:srgbClr val="5B6475"/>
      </a:folHlink>
    </a:clrScheme>
    <a:fontScheme name="DNS S1">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TotalTime>
  <Words>3131</Words>
  <Application>Microsoft Office PowerPoint</Application>
  <PresentationFormat>Widescreen</PresentationFormat>
  <Paragraphs>356</Paragraphs>
  <Slides>14</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Cambria</vt:lpstr>
      <vt:lpstr>DNS S1</vt:lpstr>
      <vt:lpstr>PowerPoint Presentation</vt:lpstr>
      <vt:lpstr>Use Cases and User Stories (1 of 2)</vt:lpstr>
      <vt:lpstr>Use Cases and User Stories (2 of 2)</vt:lpstr>
      <vt:lpstr>PowerPoint Presentation</vt:lpstr>
      <vt:lpstr>Functional Requirements (FR)</vt:lpstr>
      <vt:lpstr>Non-Functional Requirements (NFR)</vt:lpstr>
      <vt:lpstr>Requirement Clustering Sheet</vt:lpstr>
      <vt:lpstr>PowerPoint Presentation</vt:lpstr>
      <vt:lpstr>Protocol Parsing &amp; Wire Message Engine</vt:lpstr>
      <vt:lpstr>In-Memory DNS Storage &amp; Cache Engine</vt:lpstr>
      <vt:lpstr>Upstream Resolution &amp; Network Forwarding Engine</vt:lpstr>
      <vt:lpstr>Query Execution VM &amp; Performance Telemetry Engine</vt:lpstr>
      <vt:lpstr>KPI and Measurement Sheet</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DNS Resolver and Caching Server - S1 Gate 1</dc:title>
  <dc:subject>PptxGenJS Presentation</dc:subject>
  <dc:creator>PptxGenJS</dc:creator>
  <cp:lastModifiedBy>Mehak Sayed Yusuf</cp:lastModifiedBy>
  <cp:revision>3</cp:revision>
  <dcterms:created xsi:type="dcterms:W3CDTF">2026-10-07T08:27:42Z</dcterms:created>
  <dcterms:modified xsi:type="dcterms:W3CDTF">2026-10-10T15:48:41Z</dcterms:modified>
</cp:coreProperties>
</file>